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3196" autoAdjust="0"/>
  </p:normalViewPr>
  <p:slideViewPr>
    <p:cSldViewPr snapToGrid="0">
      <p:cViewPr varScale="1">
        <p:scale>
          <a:sx n="70" d="100"/>
          <a:sy n="70" d="100"/>
        </p:scale>
        <p:origin x="118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frequency</c:v>
          </c:tx>
          <c:spPr>
            <a:solidFill>
              <a:srgbClr val="007C7A"/>
            </a:solidFill>
          </c:spPr>
          <c:invertIfNegative val="1"/>
          <c:cat>
            <c:numLit>
              <c:formatCode>General</c:formatCode>
              <c:ptCount val="5"/>
              <c:pt idx="0">
                <c:v>1</c:v>
              </c:pt>
              <c:pt idx="1">
                <c:v>2</c:v>
              </c:pt>
              <c:pt idx="2">
                <c:v>3</c:v>
              </c:pt>
              <c:pt idx="3">
                <c:v>4</c:v>
              </c:pt>
              <c:pt idx="4">
                <c:v>5</c:v>
              </c:pt>
            </c:numLit>
          </c:cat>
          <c:val>
            <c:numLit>
              <c:formatCode>General</c:formatCode>
              <c:ptCount val="5"/>
              <c:pt idx="0">
                <c:v>2</c:v>
              </c:pt>
              <c:pt idx="1">
                <c:v>5</c:v>
              </c:pt>
              <c:pt idx="2">
                <c:v>8</c:v>
              </c:pt>
              <c:pt idx="3">
                <c:v>5</c:v>
              </c:pt>
              <c:pt idx="4">
                <c:v>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23B-4C3C-AA43-CBA00E72D77E}"/>
            </c:ext>
          </c:extLst>
        </c:ser>
        <c:dLbls>
          <c:showLegendKey val="0"/>
          <c:showVal val="0"/>
          <c:showCatName val="0"/>
          <c:showSerName val="0"/>
          <c:showPercent val="0"/>
          <c:showBubbleSize val="0"/>
        </c:dLbls>
        <c:gapWidth val="12"/>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1"/>
      </c:catAx>
      <c:valAx>
        <c:axId val="48672768"/>
        <c:scaling>
          <c:orientation val="minMax"/>
        </c:scaling>
        <c:delete val="1"/>
        <c:axPos val="l"/>
        <c:numFmt formatCode="General" sourceLinked="1"/>
        <c:majorTickMark val="none"/>
        <c:minorTickMark val="none"/>
        <c:tickLblPos val="nextTo"/>
        <c:crossAx val="48650112"/>
        <c:crosses val="autoZero"/>
        <c:crossBetween val="between"/>
      </c:valAx>
      <c:spPr>
        <a:solidFill>
          <a:srgbClr val="F7F4EC"/>
        </a:solidFill>
        <a:ln w="0">
          <a:solidFill>
            <a:srgbClr val="F7F4EC"/>
          </a:solidFill>
          <a:prstDash val="solid"/>
        </a:ln>
      </c:spPr>
    </c:plotArea>
    <c:plotVisOnly val="1"/>
    <c:dispBlanksAs val="zero"/>
    <c:showDLblsOverMax val="1"/>
  </c:chart>
  <c:spPr>
    <a:solidFill>
      <a:srgbClr val="F7F4EC"/>
    </a:solidFill>
    <a:ln w="0">
      <a:solidFill>
        <a:srgbClr val="F7F4EC"/>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count</c:v>
          </c:tx>
          <c:spPr>
            <a:solidFill>
              <a:srgbClr val="EF6A5B"/>
            </a:solidFill>
          </c:spPr>
          <c:invertIfNegative val="1"/>
          <c:cat>
            <c:strLit>
              <c:ptCount val="3"/>
              <c:pt idx="0">
                <c:v>A</c:v>
              </c:pt>
              <c:pt idx="1">
                <c:v>B</c:v>
              </c:pt>
              <c:pt idx="2">
                <c:v>C</c:v>
              </c:pt>
            </c:strLit>
          </c:cat>
          <c:val>
            <c:numLit>
              <c:formatCode>General</c:formatCode>
              <c:ptCount val="3"/>
              <c:pt idx="0">
                <c:v>7</c:v>
              </c:pt>
              <c:pt idx="1">
                <c:v>4</c:v>
              </c:pt>
              <c:pt idx="2">
                <c:v>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09F-4AF8-863F-273724375B77}"/>
            </c:ext>
          </c:extLst>
        </c:ser>
        <c:dLbls>
          <c:showLegendKey val="0"/>
          <c:showVal val="0"/>
          <c:showCatName val="0"/>
          <c:showSerName val="0"/>
          <c:showPercent val="0"/>
          <c:showBubbleSize val="0"/>
        </c:dLbls>
        <c:gapWidth val="46"/>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one"/>
        <c:spPr>
          <a:ln w="0">
            <a:solidFill>
              <a:srgbClr val="F7F4EC"/>
            </a:solidFill>
            <a:prstDash val="solid"/>
          </a:ln>
        </c:spPr>
        <c:txPr>
          <a:bodyPr anchorCtr="1"/>
          <a:lstStyle/>
          <a:p>
            <a:pPr>
              <a:defRPr>
                <a:solidFill>
                  <a:srgbClr val="666666"/>
                </a:solidFill>
              </a:defRPr>
            </a:pPr>
            <a:endParaRPr lang="en-US"/>
          </a:p>
        </c:txPr>
        <c:crossAx val="48650112"/>
        <c:crosses val="autoZero"/>
        <c:crossBetween val="between"/>
      </c:valAx>
      <c:spPr>
        <a:solidFill>
          <a:srgbClr val="F7F4EC"/>
        </a:solidFill>
        <a:ln w="0">
          <a:solidFill>
            <a:srgbClr val="F7F4EC"/>
          </a:solidFill>
          <a:prstDash val="solid"/>
        </a:ln>
      </c:spPr>
    </c:plotArea>
    <c:plotVisOnly val="1"/>
    <c:dispBlanksAs val="zero"/>
    <c:showDLblsOverMax val="1"/>
  </c:chart>
  <c:spPr>
    <a:solidFill>
      <a:srgbClr val="F7F4EC"/>
    </a:solidFill>
    <a:ln w="0">
      <a:solidFill>
        <a:srgbClr val="F7F4EC"/>
      </a:solid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observations</c:v>
          </c:tx>
          <c:spPr>
            <a:ln w="0">
              <a:solidFill>
                <a:srgbClr val="007C7A"/>
              </a:solidFill>
              <a:prstDash val="solid"/>
            </a:ln>
          </c:spPr>
          <c:marker>
            <c:symbol val="circle"/>
            <c:size val="9"/>
            <c:spPr>
              <a:solidFill>
                <a:srgbClr val="007C7A"/>
              </a:solidFill>
            </c:spPr>
          </c:marker>
          <c:xVal>
            <c:numLit>
              <c:formatCode>General</c:formatCode>
              <c:ptCount val="6"/>
              <c:pt idx="0">
                <c:v>1</c:v>
              </c:pt>
              <c:pt idx="1">
                <c:v>2</c:v>
              </c:pt>
              <c:pt idx="2">
                <c:v>3</c:v>
              </c:pt>
              <c:pt idx="3">
                <c:v>4</c:v>
              </c:pt>
              <c:pt idx="4">
                <c:v>5</c:v>
              </c:pt>
              <c:pt idx="5">
                <c:v>6</c:v>
              </c:pt>
            </c:numLit>
          </c:xVal>
          <c:yVal>
            <c:numLit>
              <c:formatCode>General</c:formatCode>
              <c:ptCount val="6"/>
              <c:pt idx="0">
                <c:v>2</c:v>
              </c:pt>
              <c:pt idx="1">
                <c:v>4</c:v>
              </c:pt>
              <c:pt idx="2">
                <c:v>3</c:v>
              </c:pt>
              <c:pt idx="3">
                <c:v>6</c:v>
              </c:pt>
              <c:pt idx="4">
                <c:v>5</c:v>
              </c:pt>
              <c:pt idx="5">
                <c:v>8</c:v>
              </c:pt>
            </c:numLit>
          </c:yVal>
          <c:smooth val="1"/>
          <c:extLst>
            <c:ext xmlns:c16="http://schemas.microsoft.com/office/drawing/2014/chart" uri="{C3380CC4-5D6E-409C-BE32-E72D297353CC}">
              <c16:uniqueId val="{00000000-DDBF-41E9-BA7D-1B6AF43CED7A}"/>
            </c:ext>
          </c:extLst>
        </c:ser>
        <c:dLbls>
          <c:showLegendKey val="0"/>
          <c:showVal val="0"/>
          <c:showCatName val="0"/>
          <c:showSerName val="0"/>
          <c:showPercent val="0"/>
          <c:showBubbleSize val="0"/>
        </c:dLbls>
        <c:axId val="48650112"/>
        <c:axId val="48672768"/>
      </c:scatterChart>
      <c:valAx>
        <c:axId val="48672768"/>
        <c:scaling>
          <c:orientation val="minMax"/>
        </c:scaling>
        <c:delete val="1"/>
        <c:axPos val="l"/>
        <c:numFmt formatCode="General" sourceLinked="1"/>
        <c:majorTickMark val="none"/>
        <c:minorTickMark val="none"/>
        <c:tickLblPos val="nextTo"/>
        <c:crossAx val="48650112"/>
        <c:crosses val="autoZero"/>
        <c:crossBetween val="midCat"/>
      </c:valAx>
      <c:val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crossBetween val="midCat"/>
      </c:valAx>
      <c:spPr>
        <a:solidFill>
          <a:srgbClr val="F7F4EC"/>
        </a:solidFill>
        <a:ln w="0">
          <a:solidFill>
            <a:srgbClr val="F7F4EC"/>
          </a:solidFill>
          <a:prstDash val="solid"/>
        </a:ln>
      </c:spPr>
    </c:plotArea>
    <c:plotVisOnly val="1"/>
    <c:dispBlanksAs val="zero"/>
    <c:showDLblsOverMax val="1"/>
  </c:chart>
  <c:spPr>
    <a:solidFill>
      <a:srgbClr val="F7F4EC"/>
    </a:solidFill>
    <a:ln w="0">
      <a:solidFill>
        <a:srgbClr val="F7F4EC"/>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3537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Ask students what can go wrong before fitting a single algorithm.</a:t>
            </a:r>
          </a:p>
          <a:p>
            <a:r>
              <a:rPr dirty="0"/>
              <a:t>Explain the S01 → S02 → S03 transition.</a:t>
            </a:r>
          </a:p>
          <a:p>
            <a:r>
              <a:rPr dirty="0"/>
              <a:t>Text alternative: A five-step left-to-right flow moves from data quality through exploratory analysis, split, train-only fitting, and reusable transformations.</a:t>
            </a:r>
            <a:br>
              <a:rPr lang="en-US" dirty="0"/>
            </a:br>
            <a:br>
              <a:rPr lang="en-US" dirty="0"/>
            </a:br>
            <a:r>
              <a:rPr lang="en-US" sz="1200" b="0" i="0" kern="1200" dirty="0">
                <a:solidFill>
                  <a:schemeClr val="tx1"/>
                </a:solidFill>
                <a:effectLst/>
                <a:latin typeface="+mn-lt"/>
                <a:ea typeface="+mn-ea"/>
                <a:cs typeface="+mn-cs"/>
              </a:rPr>
              <a:t>“Welcome back, everyone. Last time, we discussed what machine learning is, how supervised learning differs from unsupervised and reinforcement learning, and why we must distinguish training data from data used to evaluate our work.</a:t>
            </a:r>
          </a:p>
          <a:p>
            <a:r>
              <a:rPr lang="en-US" sz="1200" b="0" i="0" kern="1200" dirty="0">
                <a:solidFill>
                  <a:schemeClr val="tx1"/>
                </a:solidFill>
                <a:effectLst/>
                <a:latin typeface="+mn-lt"/>
                <a:ea typeface="+mn-ea"/>
                <a:cs typeface="+mn-cs"/>
              </a:rPr>
              <a:t>Today we move one step closer to building an actual machine learning system. But instead of jumping into algorithms, we will focus on something that often determines whether an entire project succeeds or fails: the data.</a:t>
            </a:r>
          </a:p>
          <a:p>
            <a:r>
              <a:rPr lang="en-US" sz="1200" b="0" i="0" kern="1200" dirty="0">
                <a:solidFill>
                  <a:schemeClr val="tx1"/>
                </a:solidFill>
                <a:effectLst/>
                <a:latin typeface="+mn-lt"/>
                <a:ea typeface="+mn-ea"/>
                <a:cs typeface="+mn-cs"/>
              </a:rPr>
              <a:t>Imagine you have a perfectly implemented model, but half the numerical values were entered as text, some customers appear twice, and an important feature was only recorded after the event you want to predict. Would a sophisticated model fix those problems? No. It may learn misleading patterns extremely efficiently.</a:t>
            </a:r>
          </a:p>
          <a:p>
            <a:r>
              <a:rPr lang="en-US" sz="1200" b="0" i="0" kern="1200" dirty="0">
                <a:solidFill>
                  <a:schemeClr val="tx1"/>
                </a:solidFill>
                <a:effectLst/>
                <a:latin typeface="+mn-lt"/>
                <a:ea typeface="+mn-ea"/>
                <a:cs typeface="+mn-cs"/>
              </a:rPr>
              <a:t>Our journey today starts with raw data. We will inspect it, document cleaning decisions, explore what it contains, and finally transform it into features that future models can use. The critical rule is that any transformation which learns statistics must learn them from training data only.”</a:t>
            </a:r>
          </a:p>
          <a:p>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“What is one way a dataset can mislead us before we train anything?” Take two or three replies.</a:t>
            </a:r>
          </a:p>
          <a:p>
            <a:r>
              <a:rPr lang="en-US" sz="1200" b="1" i="0"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“Let us define exactly what we want to achieve.”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State the exact LO2 wording from the published module materials.</a:t>
            </a:r>
          </a:p>
          <a:p>
            <a:r>
              <a:rPr dirty="0"/>
              <a:t>Expected artifacts: a documented cleaning policy, a fitted preprocessing pipeline, and transformed train/holdout feature matrices.</a:t>
            </a:r>
          </a:p>
          <a:p>
            <a:r>
              <a:rPr dirty="0"/>
              <a:t>Ask for one prior experience with a messy spreadsheet.</a:t>
            </a:r>
          </a:p>
          <a:p>
            <a:r>
              <a:rPr dirty="0"/>
              <a:t>Text alternative: LO2 is paired with a five-stop route through cleaning, feature engineering, scaling, encoding, and pandas plus scikit-learn.</a:t>
            </a:r>
            <a:br>
              <a:rPr lang="en-US" dirty="0"/>
            </a:br>
            <a:br>
              <a:rPr lang="en-US" dirty="0"/>
            </a:br>
            <a:r>
              <a:rPr lang="en-US" sz="1200" b="0" i="0" kern="1200" dirty="0">
                <a:solidFill>
                  <a:schemeClr val="tx1"/>
                </a:solidFill>
                <a:effectLst/>
                <a:latin typeface="+mn-lt"/>
                <a:ea typeface="+mn-ea"/>
                <a:cs typeface="+mn-cs"/>
              </a:rPr>
              <a:t>“Our learning outcome for this session is: </a:t>
            </a:r>
            <a:r>
              <a:rPr lang="en-US" sz="1200" b="0" i="1" kern="1200" dirty="0">
                <a:solidFill>
                  <a:schemeClr val="tx1"/>
                </a:solidFill>
                <a:effectLst/>
                <a:latin typeface="+mn-lt"/>
                <a:ea typeface="+mn-ea"/>
                <a:cs typeface="+mn-cs"/>
              </a:rPr>
              <a:t>Implement data preprocessing pipelines including cleaning, feature engineering, scaling, and encoding using Python, pandas, and scikit-learn.</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There are four important verbs here. Cleaning </a:t>
            </a:r>
            <a:r>
              <a:rPr lang="en-US" sz="1200" b="1" i="0" kern="1200" dirty="0">
                <a:solidFill>
                  <a:schemeClr val="tx1"/>
                </a:solidFill>
                <a:effectLst/>
                <a:latin typeface="+mn-lt"/>
                <a:ea typeface="+mn-ea"/>
                <a:cs typeface="+mn-cs"/>
              </a:rPr>
              <a:t>means identifying and handling data problems</a:t>
            </a:r>
            <a:r>
              <a:rPr lang="en-US" sz="1200" b="0" i="0" kern="1200" dirty="0">
                <a:solidFill>
                  <a:schemeClr val="tx1"/>
                </a:solidFill>
                <a:effectLst/>
                <a:latin typeface="+mn-lt"/>
                <a:ea typeface="+mn-ea"/>
                <a:cs typeface="+mn-cs"/>
              </a:rPr>
              <a:t>. Feature engineering means </a:t>
            </a:r>
            <a:r>
              <a:rPr lang="en-US" sz="1200" b="1" i="0" kern="1200" dirty="0">
                <a:solidFill>
                  <a:schemeClr val="tx1"/>
                </a:solidFill>
                <a:effectLst/>
                <a:latin typeface="+mn-lt"/>
                <a:ea typeface="+mn-ea"/>
                <a:cs typeface="+mn-cs"/>
              </a:rPr>
              <a:t>constructing useful inputs from information we actually have</a:t>
            </a:r>
            <a:r>
              <a:rPr lang="en-US" sz="1200" b="0" i="0" kern="1200" dirty="0">
                <a:solidFill>
                  <a:schemeClr val="tx1"/>
                </a:solidFill>
                <a:effectLst/>
                <a:latin typeface="+mn-lt"/>
                <a:ea typeface="+mn-ea"/>
                <a:cs typeface="+mn-cs"/>
              </a:rPr>
              <a:t>. Scaling means </a:t>
            </a:r>
            <a:r>
              <a:rPr lang="en-US" sz="1200" b="1" i="0" kern="1200" dirty="0">
                <a:solidFill>
                  <a:schemeClr val="tx1"/>
                </a:solidFill>
                <a:effectLst/>
                <a:latin typeface="+mn-lt"/>
                <a:ea typeface="+mn-ea"/>
                <a:cs typeface="+mn-cs"/>
              </a:rPr>
              <a:t>transforming numerical magnitudes into a representation useful for some algorithms</a:t>
            </a:r>
            <a:r>
              <a:rPr lang="en-US" sz="1200" b="0" i="0" kern="1200" dirty="0">
                <a:solidFill>
                  <a:schemeClr val="tx1"/>
                </a:solidFill>
                <a:effectLst/>
                <a:latin typeface="+mn-lt"/>
                <a:ea typeface="+mn-ea"/>
                <a:cs typeface="+mn-cs"/>
              </a:rPr>
              <a:t>. Encoding means </a:t>
            </a:r>
            <a:r>
              <a:rPr lang="en-US" sz="1200" b="1" i="0" kern="1200" dirty="0">
                <a:solidFill>
                  <a:schemeClr val="tx1"/>
                </a:solidFill>
                <a:effectLst/>
                <a:latin typeface="+mn-lt"/>
                <a:ea typeface="+mn-ea"/>
                <a:cs typeface="+mn-cs"/>
              </a:rPr>
              <a:t>converting categories into a numerical form without inventing a false ordering</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We will use pandas to understand and manipulate tables, Matplotlib to explore distributions and relationships, and scikit-learn to assemble a reliable preprocessing pipeline.</a:t>
            </a:r>
          </a:p>
          <a:p>
            <a:r>
              <a:rPr lang="en-US" sz="1200" b="0" i="0" kern="1200" dirty="0">
                <a:solidFill>
                  <a:schemeClr val="tx1"/>
                </a:solidFill>
                <a:effectLst/>
                <a:latin typeface="+mn-lt"/>
                <a:ea typeface="+mn-ea"/>
                <a:cs typeface="+mn-cs"/>
              </a:rPr>
              <a:t>You do not need to </a:t>
            </a:r>
            <a:r>
              <a:rPr lang="en-US" sz="1200" b="0" i="0" kern="1200" dirty="0" err="1">
                <a:solidFill>
                  <a:schemeClr val="tx1"/>
                </a:solidFill>
                <a:effectLst/>
                <a:latin typeface="+mn-lt"/>
                <a:ea typeface="+mn-ea"/>
                <a:cs typeface="+mn-cs"/>
              </a:rPr>
              <a:t>memorise</a:t>
            </a:r>
            <a:r>
              <a:rPr lang="en-US" sz="1200" b="0" i="0" kern="1200" dirty="0">
                <a:solidFill>
                  <a:schemeClr val="tx1"/>
                </a:solidFill>
                <a:effectLst/>
                <a:latin typeface="+mn-lt"/>
                <a:ea typeface="+mn-ea"/>
                <a:cs typeface="+mn-cs"/>
              </a:rPr>
              <a:t> every method name. What matters is understanding </a:t>
            </a:r>
            <a:r>
              <a:rPr lang="en-US" sz="1200" b="1" i="0" kern="1200" dirty="0">
                <a:solidFill>
                  <a:schemeClr val="tx1"/>
                </a:solidFill>
                <a:effectLst/>
                <a:latin typeface="+mn-lt"/>
                <a:ea typeface="+mn-ea"/>
                <a:cs typeface="+mn-cs"/>
              </a:rPr>
              <a:t>why a transformation is appropriate, what it learns, and when it is allowed to learn it</a:t>
            </a:r>
            <a:r>
              <a:rPr lang="en-US" sz="1200" b="0" i="0" kern="1200" dirty="0">
                <a:solidFill>
                  <a:schemeClr val="tx1"/>
                </a:solidFill>
                <a:effectLst/>
                <a:latin typeface="+mn-lt"/>
                <a:ea typeface="+mn-ea"/>
                <a:cs typeface="+mn-cs"/>
              </a:rPr>
              <a:t>. At the end, you should be able to explain your preprocessing choices, not just show that the code runs.”</a:t>
            </a:r>
          </a:p>
          <a:p>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“Have you ever opened a spreadsheet where one column contained different formats or missing values? What problems did that create?” Invite short examples.</a:t>
            </a:r>
          </a:p>
          <a:p>
            <a:r>
              <a:rPr lang="en-US" sz="1200" b="1" i="0"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“We need a dataset that deliberately contains these problems.”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Discuss time-of-prediction availability, identifiers, units, and provenance.</a:t>
            </a:r>
          </a:p>
          <a:p>
            <a:r>
              <a:rPr dirty="0"/>
              <a:t>Clarify that this is a synthetic example.</a:t>
            </a:r>
          </a:p>
          <a:p>
            <a:r>
              <a:rPr dirty="0"/>
              <a:t>Text alternative: Five inputs—age, </a:t>
            </a:r>
            <a:r>
              <a:rPr dirty="0" err="1"/>
              <a:t>monthly_spend</a:t>
            </a:r>
            <a:r>
              <a:rPr dirty="0"/>
              <a:t>, visits, channel, and region—sit before a boundary; </a:t>
            </a:r>
            <a:r>
              <a:rPr dirty="0" err="1"/>
              <a:t>future_spend</a:t>
            </a:r>
            <a:r>
              <a:rPr dirty="0"/>
              <a:t> is isolated after it as the outcome, not a feature.</a:t>
            </a:r>
            <a:br>
              <a:rPr lang="en-US" dirty="0"/>
            </a:br>
            <a:br>
              <a:rPr lang="en-US" dirty="0"/>
            </a:br>
            <a:r>
              <a:rPr lang="en-US" sz="1200" b="0" i="0" kern="1200" dirty="0">
                <a:solidFill>
                  <a:schemeClr val="tx1"/>
                </a:solidFill>
                <a:effectLst/>
                <a:latin typeface="+mn-lt"/>
                <a:ea typeface="+mn-ea"/>
                <a:cs typeface="+mn-cs"/>
              </a:rPr>
              <a:t>“We will work with a small dataset of fictional service transactions. The records are synthetic, which means we generated them ourselves. They do not describe real people or businesses.</a:t>
            </a:r>
          </a:p>
          <a:p>
            <a:r>
              <a:rPr lang="en-US" sz="1200" b="0" i="0" kern="1200" dirty="0">
                <a:solidFill>
                  <a:schemeClr val="tx1"/>
                </a:solidFill>
                <a:effectLst/>
                <a:latin typeface="+mn-lt"/>
                <a:ea typeface="+mn-ea"/>
                <a:cs typeface="+mn-cs"/>
              </a:rPr>
              <a:t>Each row has fields such as age, monthly spending, number of visits, service channel, and region. We also have a column called future spending. Think carefully about the word </a:t>
            </a:r>
            <a:r>
              <a:rPr lang="en-US" sz="1200" b="0" i="1" kern="1200" dirty="0">
                <a:solidFill>
                  <a:schemeClr val="tx1"/>
                </a:solidFill>
                <a:effectLst/>
                <a:latin typeface="+mn-lt"/>
                <a:ea typeface="+mn-ea"/>
                <a:cs typeface="+mn-cs"/>
              </a:rPr>
              <a:t>future</a:t>
            </a:r>
            <a:r>
              <a:rPr lang="en-US" sz="1200" b="0" i="0" kern="1200" dirty="0">
                <a:solidFill>
                  <a:schemeClr val="tx1"/>
                </a:solidFill>
                <a:effectLst/>
                <a:latin typeface="+mn-lt"/>
                <a:ea typeface="+mn-ea"/>
                <a:cs typeface="+mn-cs"/>
              </a:rPr>
              <a:t>. It represents an outcome we might eventually want to predict, but we do not know it at the time we make today's decision. Therefore, we must not include it as a predictor.</a:t>
            </a:r>
          </a:p>
          <a:p>
            <a:r>
              <a:rPr lang="en-US" sz="1200" b="0" i="0" kern="1200" dirty="0">
                <a:solidFill>
                  <a:schemeClr val="tx1"/>
                </a:solidFill>
                <a:effectLst/>
                <a:latin typeface="+mn-lt"/>
                <a:ea typeface="+mn-ea"/>
                <a:cs typeface="+mn-cs"/>
              </a:rPr>
              <a:t>We also have a record identifier. An identifier helps us track data quality, but it is not automatically a meaningful numerical feature.</a:t>
            </a:r>
          </a:p>
          <a:p>
            <a:r>
              <a:rPr lang="en-US" sz="1200" b="0" i="0" kern="1200" dirty="0">
                <a:solidFill>
                  <a:schemeClr val="tx1"/>
                </a:solidFill>
                <a:effectLst/>
                <a:latin typeface="+mn-lt"/>
                <a:ea typeface="+mn-ea"/>
                <a:cs typeface="+mn-cs"/>
              </a:rPr>
              <a:t>Notice how much we have already decided before selecting an algorithm: which columns exist, what they mean, which can be measured at decision time, and which are outcomes rather than inputs. These choices define the task.”</a:t>
            </a:r>
          </a:p>
          <a:p>
            <a:r>
              <a:rPr lang="en-US" sz="1200" b="1" i="0" kern="1200" dirty="0">
                <a:solidFill>
                  <a:schemeClr val="tx1"/>
                </a:solidFill>
                <a:effectLst/>
                <a:latin typeface="+mn-lt"/>
                <a:ea typeface="+mn-ea"/>
                <a:cs typeface="+mn-cs"/>
              </a:rPr>
              <a:t>[Demo:]</a:t>
            </a:r>
            <a:r>
              <a:rPr lang="en-US" sz="1200" b="0" i="0" kern="1200" dirty="0">
                <a:solidFill>
                  <a:schemeClr val="tx1"/>
                </a:solidFill>
                <a:effectLst/>
                <a:latin typeface="+mn-lt"/>
                <a:ea typeface="+mn-ea"/>
                <a:cs typeface="+mn-cs"/>
              </a:rPr>
              <a:t> Open the synthetic-data generation cell in </a:t>
            </a:r>
            <a:r>
              <a:rPr lang="en-US" sz="1200" b="0" i="0" kern="1200" dirty="0" err="1">
                <a:solidFill>
                  <a:schemeClr val="tx1"/>
                </a:solidFill>
                <a:effectLst/>
                <a:latin typeface="+mn-lt"/>
                <a:ea typeface="+mn-ea"/>
                <a:cs typeface="+mn-cs"/>
              </a:rPr>
              <a:t>Colab</a:t>
            </a:r>
            <a:r>
              <a:rPr lang="en-US" sz="1200" b="0" i="0" kern="1200" dirty="0">
                <a:solidFill>
                  <a:schemeClr val="tx1"/>
                </a:solidFill>
                <a:effectLst/>
                <a:latin typeface="+mn-lt"/>
                <a:ea typeface="+mn-ea"/>
                <a:cs typeface="+mn-cs"/>
              </a:rPr>
              <a:t> and display the first rows.</a:t>
            </a:r>
          </a:p>
          <a:p>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“What would happen if we included future spending as an input to predict future spending?” Discuss target leakage.</a:t>
            </a:r>
          </a:p>
          <a:p>
            <a:r>
              <a:rPr lang="en-US" sz="1200" b="1" i="0"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“Now we will inspect the dataset as if someone else handed it to us.”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Demonstrate the distinction between null, 0, and an invalid string.</a:t>
            </a:r>
          </a:p>
          <a:p>
            <a:r>
              <a:rPr dirty="0"/>
              <a:t>Text alternative: A central audit lens is surrounded by six checks: types, missing values, duplicates, invalid ranges, inconsistent categories, and provenance.</a:t>
            </a:r>
            <a:br>
              <a:rPr lang="en-US" dirty="0"/>
            </a:br>
            <a:br>
              <a:rPr lang="en-US" dirty="0"/>
            </a:br>
            <a:r>
              <a:rPr lang="en-US" sz="1200" b="0" i="0" kern="1200" dirty="0">
                <a:solidFill>
                  <a:schemeClr val="tx1"/>
                </a:solidFill>
                <a:effectLst/>
                <a:latin typeface="+mn-lt"/>
                <a:ea typeface="+mn-ea"/>
                <a:cs typeface="+mn-cs"/>
              </a:rPr>
              <a:t>“When receiving a dataset, do not immediately start replacing missing values. First, perform an audit.</a:t>
            </a:r>
          </a:p>
          <a:p>
            <a:r>
              <a:rPr lang="en-US" sz="1200" b="0" i="0" kern="1200" dirty="0">
                <a:solidFill>
                  <a:schemeClr val="tx1"/>
                </a:solidFill>
                <a:effectLst/>
                <a:latin typeface="+mn-lt"/>
                <a:ea typeface="+mn-ea"/>
                <a:cs typeface="+mn-cs"/>
              </a:rPr>
              <a:t>Check data types. A column containing numbers may actually be stored as text because one record says ‘not recorded’. Check missing values, but remember that missing is not the same as zero. Zero visits is an observed count; an absent visit count is unknown.</a:t>
            </a:r>
          </a:p>
          <a:p>
            <a:r>
              <a:rPr lang="en-US" sz="1200" b="0" i="0" kern="1200" dirty="0">
                <a:solidFill>
                  <a:schemeClr val="tx1"/>
                </a:solidFill>
                <a:effectLst/>
                <a:latin typeface="+mn-lt"/>
                <a:ea typeface="+mn-ea"/>
                <a:cs typeface="+mn-cs"/>
              </a:rPr>
              <a:t>Check duplicates, but ask what a row represents. If each row is a transaction, the same customer may appear several times legitimately. A repeated customer ID is not enough to conclude that two transactions are duplicates.</a:t>
            </a:r>
          </a:p>
          <a:p>
            <a:r>
              <a:rPr lang="en-US" sz="1200" b="0" i="0" kern="1200" dirty="0">
                <a:solidFill>
                  <a:schemeClr val="tx1"/>
                </a:solidFill>
                <a:effectLst/>
                <a:latin typeface="+mn-lt"/>
                <a:ea typeface="+mn-ea"/>
                <a:cs typeface="+mn-cs"/>
              </a:rPr>
              <a:t>Check impossible or suspicious ranges. A negative amount of spending may indicate an error, but in another dataset it might represent a refund. A very high age could be a typo, or could reveal that our assumptions need investigation.</a:t>
            </a:r>
          </a:p>
          <a:p>
            <a:r>
              <a:rPr lang="en-US" sz="1200" b="0" i="0" kern="1200" dirty="0">
                <a:solidFill>
                  <a:schemeClr val="tx1"/>
                </a:solidFill>
                <a:effectLst/>
                <a:latin typeface="+mn-lt"/>
                <a:ea typeface="+mn-ea"/>
                <a:cs typeface="+mn-cs"/>
              </a:rPr>
              <a:t>Finally, check categories and provenance. ‘WEB’, ‘web’, and ‘ web ’ may refer to one channel, but we need a documented reason to merge them.”</a:t>
            </a:r>
          </a:p>
          <a:p>
            <a:r>
              <a:rPr lang="en-US" sz="1200" b="1" i="0" kern="1200" dirty="0">
                <a:solidFill>
                  <a:schemeClr val="tx1"/>
                </a:solidFill>
                <a:effectLst/>
                <a:latin typeface="+mn-lt"/>
                <a:ea typeface="+mn-ea"/>
                <a:cs typeface="+mn-cs"/>
              </a:rPr>
              <a:t>[Demo:]</a:t>
            </a:r>
            <a:r>
              <a:rPr lang="en-US" sz="1200" b="0" i="0" kern="1200" dirty="0">
                <a:solidFill>
                  <a:schemeClr val="tx1"/>
                </a:solidFill>
                <a:effectLst/>
                <a:latin typeface="+mn-lt"/>
                <a:ea typeface="+mn-ea"/>
                <a:cs typeface="+mn-cs"/>
              </a:rPr>
              <a:t> Show the data types, null counts, duplicate-ID count and channel categories.</a:t>
            </a:r>
          </a:p>
          <a:p>
            <a:r>
              <a:rPr lang="en-US" sz="1200" b="1" i="0"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“Missing values are particularly interesting because they can tell us something about how data was collected.”</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Discuss bias that can follow complete-case deletion.</a:t>
            </a:r>
          </a:p>
          <a:p>
            <a:r>
              <a:rPr dirty="0"/>
              <a:t>Do not assert a missingness mechanism from the chart alone.</a:t>
            </a:r>
          </a:p>
          <a:p>
            <a:r>
              <a:rPr dirty="0"/>
              <a:t>Text alternative: A small grid contains observed and missing cells. Beside it, MCAR, MAR, and MNAR are explicitly described as assumptions, not labels inferred from the pattern.</a:t>
            </a:r>
            <a:br>
              <a:rPr lang="en-US" dirty="0"/>
            </a:br>
            <a:br>
              <a:rPr lang="en-US" dirty="0"/>
            </a:br>
            <a:r>
              <a:rPr lang="en-US" sz="1200" b="0" i="0" kern="1200" dirty="0">
                <a:solidFill>
                  <a:schemeClr val="tx1"/>
                </a:solidFill>
                <a:effectLst/>
                <a:latin typeface="+mn-lt"/>
                <a:ea typeface="+mn-ea"/>
                <a:cs typeface="+mn-cs"/>
              </a:rPr>
              <a:t>“When a value is missing, we know it is absent. We usually do not know why it is absent.</a:t>
            </a:r>
          </a:p>
          <a:p>
            <a:r>
              <a:rPr lang="en-US" sz="1200" b="0" i="0" kern="1200" dirty="0">
                <a:solidFill>
                  <a:schemeClr val="tx1"/>
                </a:solidFill>
                <a:effectLst/>
                <a:latin typeface="+mn-lt"/>
                <a:ea typeface="+mn-ea"/>
                <a:cs typeface="+mn-cs"/>
              </a:rPr>
              <a:t>Statistics gives us three common ways to reason about missingness. MCAR means missing completely at random: whether a value is missing is unrelated to the data values. MAR means missingness may depend on information we observed. MNAR means missingness may still depend on an unobserved value itself, even after considering what we observed.</a:t>
            </a:r>
          </a:p>
          <a:p>
            <a:r>
              <a:rPr lang="en-US" sz="1200" b="0" i="0" kern="1200" dirty="0">
                <a:solidFill>
                  <a:schemeClr val="tx1"/>
                </a:solidFill>
                <a:effectLst/>
                <a:latin typeface="+mn-lt"/>
                <a:ea typeface="+mn-ea"/>
                <a:cs typeface="+mn-cs"/>
              </a:rPr>
              <a:t>For example, suppose customers with lower spending are less likely to report their spending. If that missingness depends on the spending amount we never see, simply replacing it with the median can produce a misleading picture.</a:t>
            </a:r>
          </a:p>
          <a:p>
            <a:r>
              <a:rPr lang="en-US" sz="1200" b="0" i="0" kern="1200" dirty="0">
                <a:solidFill>
                  <a:schemeClr val="tx1"/>
                </a:solidFill>
                <a:effectLst/>
                <a:latin typeface="+mn-lt"/>
                <a:ea typeface="+mn-ea"/>
                <a:cs typeface="+mn-cs"/>
              </a:rPr>
              <a:t>These are assumptions about the data collection process, not labels that pandas can discover from a missing-value percentage.</a:t>
            </a:r>
          </a:p>
          <a:p>
            <a:r>
              <a:rPr lang="en-US" sz="1200" b="0" i="0" kern="1200" dirty="0">
                <a:solidFill>
                  <a:schemeClr val="tx1"/>
                </a:solidFill>
                <a:effectLst/>
                <a:latin typeface="+mn-lt"/>
                <a:ea typeface="+mn-ea"/>
                <a:cs typeface="+mn-cs"/>
              </a:rPr>
              <a:t>A common reaction is to delete every incomplete row. But imagine that missingness occurs mainly for one geographic region. Removing those rows could make that region almost disappear from our analysis.</a:t>
            </a:r>
          </a:p>
          <a:p>
            <a:r>
              <a:rPr lang="en-US" sz="1200" b="0" i="0" kern="1200" dirty="0">
                <a:solidFill>
                  <a:schemeClr val="tx1"/>
                </a:solidFill>
                <a:effectLst/>
                <a:latin typeface="+mn-lt"/>
                <a:ea typeface="+mn-ea"/>
                <a:cs typeface="+mn-cs"/>
              </a:rPr>
              <a:t>So the question is not ‘Which command removes nulls?’ It is ‘What information might we lose or distort?’”</a:t>
            </a:r>
          </a:p>
          <a:p>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“Could two datasets both have ten percent missing values, but require different strategies?” Discuss a concrete example.</a:t>
            </a:r>
          </a:p>
          <a:p>
            <a:r>
              <a:rPr lang="en-US" sz="1200" b="1" i="0"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“Let's use pandas to make these issues visible.”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Live-demonstrate the resulting data types.</a:t>
            </a:r>
          </a:p>
          <a:p>
            <a:r>
              <a:rPr dirty="0"/>
              <a:t>Ask students to report which values become null after coercion.</a:t>
            </a:r>
          </a:p>
          <a:p>
            <a:r>
              <a:rPr dirty="0"/>
              <a:t>Text alternative: Four columns pair each pandas operation with the evidence it reveals and a question to ask of the result.</a:t>
            </a:r>
            <a:br>
              <a:rPr lang="en-US" dirty="0"/>
            </a:br>
            <a:br>
              <a:rPr lang="en-US" dirty="0"/>
            </a:br>
            <a:r>
              <a:rPr lang="en-US" sz="1200" b="0" i="0" kern="1200" dirty="0">
                <a:solidFill>
                  <a:schemeClr val="tx1"/>
                </a:solidFill>
                <a:effectLst/>
                <a:latin typeface="+mn-lt"/>
                <a:ea typeface="+mn-ea"/>
                <a:cs typeface="+mn-cs"/>
              </a:rPr>
              <a:t>“Pandas gives us concise tools for a first inspection.</a:t>
            </a:r>
          </a:p>
          <a:p>
            <a:r>
              <a:rPr lang="en-US" sz="1200" b="0" i="0" kern="1200" dirty="0">
                <a:solidFill>
                  <a:schemeClr val="tx1"/>
                </a:solidFill>
                <a:effectLst/>
                <a:latin typeface="+mn-lt"/>
                <a:ea typeface="+mn-ea"/>
                <a:cs typeface="+mn-cs"/>
              </a:rPr>
              <a:t>The first is info(), which reveals column types and non-null counts. The second is </a:t>
            </a:r>
            <a:r>
              <a:rPr lang="en-US" sz="1200" b="0" i="0" kern="1200" dirty="0" err="1">
                <a:solidFill>
                  <a:schemeClr val="tx1"/>
                </a:solidFill>
                <a:effectLst/>
                <a:latin typeface="+mn-lt"/>
                <a:ea typeface="+mn-ea"/>
                <a:cs typeface="+mn-cs"/>
              </a:rPr>
              <a:t>isna</a:t>
            </a:r>
            <a:r>
              <a:rPr lang="en-US" sz="1200" b="0" i="0" kern="1200" dirty="0">
                <a:solidFill>
                  <a:schemeClr val="tx1"/>
                </a:solidFill>
                <a:effectLst/>
                <a:latin typeface="+mn-lt"/>
                <a:ea typeface="+mn-ea"/>
                <a:cs typeface="+mn-cs"/>
              </a:rPr>
              <a:t>().mean(), which shows the proportion of missing values in each column. Third, </a:t>
            </a:r>
            <a:r>
              <a:rPr lang="en-US" sz="1200" b="0" i="0" kern="1200" dirty="0" err="1">
                <a:solidFill>
                  <a:schemeClr val="tx1"/>
                </a:solidFill>
                <a:effectLst/>
                <a:latin typeface="+mn-lt"/>
                <a:ea typeface="+mn-ea"/>
                <a:cs typeface="+mn-cs"/>
              </a:rPr>
              <a:t>value_counts</a:t>
            </a:r>
            <a:r>
              <a:rPr lang="en-US" sz="1200" b="0" i="0" kern="1200" dirty="0">
                <a:solidFill>
                  <a:schemeClr val="tx1"/>
                </a:solidFill>
                <a:effectLst/>
                <a:latin typeface="+mn-lt"/>
                <a:ea typeface="+mn-ea"/>
                <a:cs typeface="+mn-cs"/>
              </a:rPr>
              <a:t>() is excellent for detecting unexpected category spelling and rare categories.</a:t>
            </a:r>
          </a:p>
          <a:p>
            <a:r>
              <a:rPr lang="en-US" sz="1200" b="0" i="0" kern="1200" dirty="0">
                <a:solidFill>
                  <a:schemeClr val="tx1"/>
                </a:solidFill>
                <a:effectLst/>
                <a:latin typeface="+mn-lt"/>
                <a:ea typeface="+mn-ea"/>
                <a:cs typeface="+mn-cs"/>
              </a:rPr>
              <a:t>The fourth operation, </a:t>
            </a:r>
            <a:r>
              <a:rPr lang="en-US" sz="1200" b="0" i="0" kern="1200" dirty="0" err="1">
                <a:solidFill>
                  <a:schemeClr val="tx1"/>
                </a:solidFill>
                <a:effectLst/>
                <a:latin typeface="+mn-lt"/>
                <a:ea typeface="+mn-ea"/>
                <a:cs typeface="+mn-cs"/>
              </a:rPr>
              <a:t>to_numeric</a:t>
            </a:r>
            <a:r>
              <a:rPr lang="en-US" sz="1200" b="0" i="0" kern="1200" dirty="0">
                <a:solidFill>
                  <a:schemeClr val="tx1"/>
                </a:solidFill>
                <a:effectLst/>
                <a:latin typeface="+mn-lt"/>
                <a:ea typeface="+mn-ea"/>
                <a:cs typeface="+mn-cs"/>
              </a:rPr>
              <a:t>(), attempts to turn values into numbers. When we use errors='coerce', values that cannot be interpreted numerically become missing values.</a:t>
            </a:r>
          </a:p>
          <a:p>
            <a:r>
              <a:rPr lang="en-US" sz="1200" b="0" i="0" kern="1200" dirty="0">
                <a:solidFill>
                  <a:schemeClr val="tx1"/>
                </a:solidFill>
                <a:effectLst/>
                <a:latin typeface="+mn-lt"/>
                <a:ea typeface="+mn-ea"/>
                <a:cs typeface="+mn-cs"/>
              </a:rPr>
              <a:t>That last point matters: the conversion did not magically repair the original information. It exposed values that need further investigation. If we only look at missing values before conversion, we may underestimate the problem.</a:t>
            </a:r>
          </a:p>
          <a:p>
            <a:r>
              <a:rPr lang="en-US" sz="1200" b="0" i="0" kern="1200" dirty="0">
                <a:solidFill>
                  <a:schemeClr val="tx1"/>
                </a:solidFill>
                <a:effectLst/>
                <a:latin typeface="+mn-lt"/>
                <a:ea typeface="+mn-ea"/>
                <a:cs typeface="+mn-cs"/>
              </a:rPr>
              <a:t>Watch as we inspect the synthetic spending column. Then compare the missing-value count before and after conversion. Always keep an unmodified version of the raw dataset, so that cleaning decisions are traceable.”</a:t>
            </a:r>
          </a:p>
          <a:p>
            <a:r>
              <a:rPr lang="en-US" sz="1200" b="1" i="0" kern="1200" dirty="0">
                <a:solidFill>
                  <a:schemeClr val="tx1"/>
                </a:solidFill>
                <a:effectLst/>
                <a:latin typeface="+mn-lt"/>
                <a:ea typeface="+mn-ea"/>
                <a:cs typeface="+mn-cs"/>
              </a:rPr>
              <a:t>[Demo:]</a:t>
            </a:r>
            <a:r>
              <a:rPr lang="en-US" sz="1200" b="0" i="0" kern="1200" dirty="0">
                <a:solidFill>
                  <a:schemeClr val="tx1"/>
                </a:solidFill>
                <a:effectLst/>
                <a:latin typeface="+mn-lt"/>
                <a:ea typeface="+mn-ea"/>
                <a:cs typeface="+mn-cs"/>
              </a:rPr>
              <a:t> Run the audit and cleaning cells. Ask students to predict whether the missing count will increase.</a:t>
            </a:r>
          </a:p>
          <a:p>
            <a:r>
              <a:rPr lang="en-US" sz="1200" b="1" i="0"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“We have identified problems, but fixing them requires a policy.”</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Ask students to distinguish a category typo from a legitimate novel category.</a:t>
            </a:r>
          </a:p>
          <a:p>
            <a:r>
              <a:rPr dirty="0"/>
              <a:t>Emphasize that policy records the trigger, action, rationale, and remaining uncertainty.</a:t>
            </a:r>
          </a:p>
          <a:p>
            <a:r>
              <a:rPr dirty="0"/>
              <a:t>Text alternative: Three policy lines distinguish normalizing known formats, flagging dubious ranges, and retaining outliers unless there is evidence of error.</a:t>
            </a:r>
            <a:br>
              <a:rPr lang="en-US" dirty="0"/>
            </a:br>
            <a:br>
              <a:rPr lang="en-US" dirty="0"/>
            </a:br>
            <a:r>
              <a:rPr lang="en-US" sz="1200" b="0" i="0" kern="1200" dirty="0">
                <a:solidFill>
                  <a:schemeClr val="tx1"/>
                </a:solidFill>
                <a:effectLst/>
                <a:latin typeface="+mn-lt"/>
                <a:ea typeface="+mn-ea"/>
                <a:cs typeface="+mn-cs"/>
              </a:rPr>
              <a:t>“Cleaning is a set of decisions, not a single function.</a:t>
            </a:r>
          </a:p>
          <a:p>
            <a:r>
              <a:rPr lang="en-US" sz="1200" b="0" i="0" kern="1200" dirty="0">
                <a:solidFill>
                  <a:schemeClr val="tx1"/>
                </a:solidFill>
                <a:effectLst/>
                <a:latin typeface="+mn-lt"/>
                <a:ea typeface="+mn-ea"/>
                <a:cs typeface="+mn-cs"/>
              </a:rPr>
              <a:t>Suppose channel names contain inconsistent </a:t>
            </a:r>
            <a:r>
              <a:rPr lang="en-US" sz="1200" b="0" i="0" kern="1200" dirty="0" err="1">
                <a:solidFill>
                  <a:schemeClr val="tx1"/>
                </a:solidFill>
                <a:effectLst/>
                <a:latin typeface="+mn-lt"/>
                <a:ea typeface="+mn-ea"/>
                <a:cs typeface="+mn-cs"/>
              </a:rPr>
              <a:t>capitalisation</a:t>
            </a:r>
            <a:r>
              <a:rPr lang="en-US" sz="1200" b="0" i="0" kern="1200" dirty="0">
                <a:solidFill>
                  <a:schemeClr val="tx1"/>
                </a:solidFill>
                <a:effectLst/>
                <a:latin typeface="+mn-lt"/>
                <a:ea typeface="+mn-ea"/>
                <a:cs typeface="+mn-cs"/>
              </a:rPr>
              <a:t> or extra spaces. If our domain definition says they are the same channel, we can </a:t>
            </a:r>
            <a:r>
              <a:rPr lang="en-US" sz="1200" b="0" i="0" kern="1200" dirty="0" err="1">
                <a:solidFill>
                  <a:schemeClr val="tx1"/>
                </a:solidFill>
                <a:effectLst/>
                <a:latin typeface="+mn-lt"/>
                <a:ea typeface="+mn-ea"/>
                <a:cs typeface="+mn-cs"/>
              </a:rPr>
              <a:t>standardise</a:t>
            </a:r>
            <a:r>
              <a:rPr lang="en-US" sz="1200" b="0" i="0" kern="1200" dirty="0">
                <a:solidFill>
                  <a:schemeClr val="tx1"/>
                </a:solidFill>
                <a:effectLst/>
                <a:latin typeface="+mn-lt"/>
                <a:ea typeface="+mn-ea"/>
                <a:cs typeface="+mn-cs"/>
              </a:rPr>
              <a:t> them. That is a clear, rule-based correction.</a:t>
            </a:r>
          </a:p>
          <a:p>
            <a:r>
              <a:rPr lang="en-US" sz="1200" b="0" i="0" kern="1200" dirty="0">
                <a:solidFill>
                  <a:schemeClr val="tx1"/>
                </a:solidFill>
                <a:effectLst/>
                <a:latin typeface="+mn-lt"/>
                <a:ea typeface="+mn-ea"/>
                <a:cs typeface="+mn-cs"/>
              </a:rPr>
              <a:t>Now consider an age of 145. We might decide that ages outside a documented valid range are invalid. In our teaching notebook we flag this value as missing under an illustrative rule, but that range is not a universal rule for all datasets.</a:t>
            </a:r>
          </a:p>
          <a:p>
            <a:r>
              <a:rPr lang="en-US" sz="1200" b="0" i="0" kern="1200" dirty="0">
                <a:solidFill>
                  <a:schemeClr val="tx1"/>
                </a:solidFill>
                <a:effectLst/>
                <a:latin typeface="+mn-lt"/>
                <a:ea typeface="+mn-ea"/>
                <a:cs typeface="+mn-cs"/>
              </a:rPr>
              <a:t>And what about a customer spending much more than everyone else? It may be an error, but it may also be our most important customer. Removing unusual values simply because they are inconvenient can make an analysis look cleaner while making it less truthful.</a:t>
            </a:r>
          </a:p>
          <a:p>
            <a:r>
              <a:rPr lang="en-US" sz="1200" b="0" i="0" kern="1200" dirty="0">
                <a:solidFill>
                  <a:schemeClr val="tx1"/>
                </a:solidFill>
                <a:effectLst/>
                <a:latin typeface="+mn-lt"/>
                <a:ea typeface="+mn-ea"/>
                <a:cs typeface="+mn-cs"/>
              </a:rPr>
              <a:t>A good cleaning policy states what we changed, why we changed it, and what limitation remains.”</a:t>
            </a:r>
          </a:p>
          <a:p>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“If the dataset contains a channel called ‘mobile-app’, should we automatically convert it to ‘web’?” Highlight the need for domain evidence.</a:t>
            </a:r>
          </a:p>
          <a:p>
            <a:r>
              <a:rPr lang="en-US" sz="1200" b="1" i="0"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“Once we have a defined schema, we can start asking exploratory questions.”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Explain units, axis interpretation, selection bias, and bin sensitivity.</a:t>
            </a:r>
          </a:p>
          <a:p>
            <a:r>
              <a:rPr dirty="0"/>
              <a:t>Reinforce that exploratory plots support questions and associations—not causal conclusions.</a:t>
            </a:r>
          </a:p>
          <a:p>
            <a:r>
              <a:rPr dirty="0"/>
              <a:t>Text alternative: Three illustrative charts pair a histogram with shape, a bar chart with frequency, and a scatter plot with association.</a:t>
            </a:r>
            <a:br>
              <a:rPr lang="en-US" dirty="0"/>
            </a:br>
            <a:br>
              <a:rPr lang="en-US" dirty="0"/>
            </a:br>
            <a:r>
              <a:rPr lang="en-US" sz="1200" b="0" i="0" kern="1200" dirty="0">
                <a:solidFill>
                  <a:schemeClr val="tx1"/>
                </a:solidFill>
                <a:effectLst/>
                <a:latin typeface="+mn-lt"/>
                <a:ea typeface="+mn-ea"/>
                <a:cs typeface="+mn-cs"/>
              </a:rPr>
              <a:t>“Exploratory data analysis, or EDA, helps us understand distributions, patterns, and possible data problems.</a:t>
            </a:r>
          </a:p>
          <a:p>
            <a:r>
              <a:rPr lang="en-US" sz="1200" b="0" i="0" kern="1200" dirty="0">
                <a:solidFill>
                  <a:schemeClr val="tx1"/>
                </a:solidFill>
                <a:effectLst/>
                <a:latin typeface="+mn-lt"/>
                <a:ea typeface="+mn-ea"/>
                <a:cs typeface="+mn-cs"/>
              </a:rPr>
              <a:t>A histogram shows how a numerical variable is distributed. Does monthly spending concentrate around a particular range? Are there long tails? Remember that changing the number of bins can change its appearance.</a:t>
            </a:r>
          </a:p>
          <a:p>
            <a:r>
              <a:rPr lang="en-US" sz="1200" b="0" i="0" kern="1200" dirty="0">
                <a:solidFill>
                  <a:schemeClr val="tx1"/>
                </a:solidFill>
                <a:effectLst/>
                <a:latin typeface="+mn-lt"/>
                <a:ea typeface="+mn-ea"/>
                <a:cs typeface="+mn-cs"/>
              </a:rPr>
              <a:t>A bar chart shows how often categories appear. It can reveal rare categories or remaining spelling inconsistencies.</a:t>
            </a:r>
          </a:p>
          <a:p>
            <a:r>
              <a:rPr lang="en-US" sz="1200" b="0" i="0" kern="1200" dirty="0">
                <a:solidFill>
                  <a:schemeClr val="tx1"/>
                </a:solidFill>
                <a:effectLst/>
                <a:latin typeface="+mn-lt"/>
                <a:ea typeface="+mn-ea"/>
                <a:cs typeface="+mn-cs"/>
              </a:rPr>
              <a:t>A scatter plot can reveal an association between visits and spending. But association does not prove causation. More visits may accompany more spending because of customer </a:t>
            </a:r>
            <a:r>
              <a:rPr lang="en-US" sz="1200" b="0" i="0" kern="1200" dirty="0" err="1">
                <a:solidFill>
                  <a:schemeClr val="tx1"/>
                </a:solidFill>
                <a:effectLst/>
                <a:latin typeface="+mn-lt"/>
                <a:ea typeface="+mn-ea"/>
                <a:cs typeface="+mn-cs"/>
              </a:rPr>
              <a:t>behaviour</a:t>
            </a:r>
            <a:r>
              <a:rPr lang="en-US" sz="1200" b="0" i="0" kern="1200" dirty="0">
                <a:solidFill>
                  <a:schemeClr val="tx1"/>
                </a:solidFill>
                <a:effectLst/>
                <a:latin typeface="+mn-lt"/>
                <a:ea typeface="+mn-ea"/>
                <a:cs typeface="+mn-cs"/>
              </a:rPr>
              <a:t>, pricing, or some third factor we have not measured.</a:t>
            </a:r>
          </a:p>
          <a:p>
            <a:r>
              <a:rPr lang="en-US" sz="1200" b="0" i="0" kern="1200" dirty="0">
                <a:solidFill>
                  <a:schemeClr val="tx1"/>
                </a:solidFill>
                <a:effectLst/>
                <a:latin typeface="+mn-lt"/>
                <a:ea typeface="+mn-ea"/>
                <a:cs typeface="+mn-cs"/>
              </a:rPr>
              <a:t>Every useful chart needs meaningful labels, including units, and an explanation of what its evidence cannot establish.”</a:t>
            </a:r>
          </a:p>
          <a:p>
            <a:r>
              <a:rPr lang="en-US" sz="1200" b="1" i="0" kern="1200" dirty="0">
                <a:solidFill>
                  <a:schemeClr val="tx1"/>
                </a:solidFill>
                <a:effectLst/>
                <a:latin typeface="+mn-lt"/>
                <a:ea typeface="+mn-ea"/>
                <a:cs typeface="+mn-cs"/>
              </a:rPr>
              <a:t>[Demo:]</a:t>
            </a:r>
            <a:r>
              <a:rPr lang="en-US" sz="1200" b="0" i="0" kern="1200" dirty="0">
                <a:solidFill>
                  <a:schemeClr val="tx1"/>
                </a:solidFill>
                <a:effectLst/>
                <a:latin typeface="+mn-lt"/>
                <a:ea typeface="+mn-ea"/>
                <a:cs typeface="+mn-cs"/>
              </a:rPr>
              <a:t> Run the training-data EDA cell. Ask students to describe one observation without using causal language.</a:t>
            </a:r>
          </a:p>
          <a:p>
            <a:r>
              <a:rPr lang="en-US" sz="1200" b="1" i="0"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“Now it is your turn to investigate before you modify.”</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Pair students and rotate the driver/reviewer roles.</a:t>
            </a:r>
          </a:p>
          <a:p>
            <a:r>
              <a:rPr dirty="0"/>
              <a:t>Request short rationales rather than unsupported fixes.</a:t>
            </a:r>
          </a:p>
          <a:p>
            <a:r>
              <a:rPr dirty="0"/>
              <a:t>Text alternative: A 3–3–1 challenge asks pairs to identify three quality issues, propose three defensible corrections, and state one uncertainty; driver and reviewer swap roles.</a:t>
            </a:r>
            <a:br>
              <a:rPr lang="en-US" dirty="0"/>
            </a:br>
            <a:br>
              <a:rPr lang="en-US" dirty="0"/>
            </a:br>
            <a:r>
              <a:rPr lang="en-US" sz="1200" b="0" i="0" kern="1200" dirty="0">
                <a:solidFill>
                  <a:schemeClr val="tx1"/>
                </a:solidFill>
                <a:effectLst/>
                <a:latin typeface="+mn-lt"/>
                <a:ea typeface="+mn-ea"/>
                <a:cs typeface="+mn-cs"/>
              </a:rPr>
              <a:t>“For the next activity, work in pairs. One person will be the driver, operating </a:t>
            </a:r>
            <a:r>
              <a:rPr lang="en-US" sz="1200" b="0" i="0" kern="1200" dirty="0" err="1">
                <a:solidFill>
                  <a:schemeClr val="tx1"/>
                </a:solidFill>
                <a:effectLst/>
                <a:latin typeface="+mn-lt"/>
                <a:ea typeface="+mn-ea"/>
                <a:cs typeface="+mn-cs"/>
              </a:rPr>
              <a:t>Colab</a:t>
            </a:r>
            <a:r>
              <a:rPr lang="en-US" sz="1200" b="0" i="0" kern="1200" dirty="0">
                <a:solidFill>
                  <a:schemeClr val="tx1"/>
                </a:solidFill>
                <a:effectLst/>
                <a:latin typeface="+mn-lt"/>
                <a:ea typeface="+mn-ea"/>
                <a:cs typeface="+mn-cs"/>
              </a:rPr>
              <a:t>. The other will be the reviewer, questioning each proposed decision. Halfway through, switch roles.</a:t>
            </a:r>
          </a:p>
          <a:p>
            <a:r>
              <a:rPr lang="en-US" sz="1200" b="0" i="0" kern="1200" dirty="0">
                <a:solidFill>
                  <a:schemeClr val="tx1"/>
                </a:solidFill>
                <a:effectLst/>
                <a:latin typeface="+mn-lt"/>
                <a:ea typeface="+mn-ea"/>
                <a:cs typeface="+mn-cs"/>
              </a:rPr>
              <a:t>Your first task is to identify three data-quality problems in the synthetic dataset. Your second task is to propose three corrections or handling policies, and explain why each is appropriate. Finally, identify one uncertainty you cannot resolve from the dataset alone.</a:t>
            </a:r>
          </a:p>
          <a:p>
            <a:r>
              <a:rPr lang="en-US" sz="1200" b="0" i="0" kern="1200" dirty="0">
                <a:solidFill>
                  <a:schemeClr val="tx1"/>
                </a:solidFill>
                <a:effectLst/>
                <a:latin typeface="+mn-lt"/>
                <a:ea typeface="+mn-ea"/>
                <a:cs typeface="+mn-cs"/>
              </a:rPr>
              <a:t>Do not try to make every number look normal. If you discover an outlier, consider whether it is plausible. If you discover a missing value, consider what replacing it might imply. We care about the reasoning as much as the code.</a:t>
            </a:r>
          </a:p>
          <a:p>
            <a:r>
              <a:rPr lang="en-US" sz="1200" b="0" i="0" kern="1200" dirty="0">
                <a:solidFill>
                  <a:schemeClr val="tx1"/>
                </a:solidFill>
                <a:effectLst/>
                <a:latin typeface="+mn-lt"/>
                <a:ea typeface="+mn-ea"/>
                <a:cs typeface="+mn-cs"/>
              </a:rPr>
              <a:t>You can use the exercises document as a checklist. Near the end, I will ask each pair to explain one decision and one trade-off.”</a:t>
            </a:r>
          </a:p>
          <a:p>
            <a:r>
              <a:rPr lang="en-US" sz="1200" b="1" i="0" kern="1200" dirty="0">
                <a:solidFill>
                  <a:schemeClr val="tx1"/>
                </a:solidFill>
                <a:effectLst/>
                <a:latin typeface="+mn-lt"/>
                <a:ea typeface="+mn-ea"/>
                <a:cs typeface="+mn-cs"/>
              </a:rPr>
              <a:t>[Activity:]</a:t>
            </a:r>
            <a:r>
              <a:rPr lang="en-US" sz="1200" b="0" i="0" kern="1200" dirty="0">
                <a:solidFill>
                  <a:schemeClr val="tx1"/>
                </a:solidFill>
                <a:effectLst/>
                <a:latin typeface="+mn-lt"/>
                <a:ea typeface="+mn-ea"/>
                <a:cs typeface="+mn-cs"/>
              </a:rPr>
              <a:t> Let students work; circulate. After approximately 12 minutes ask them to swap roles. Debrief for the final five minutes, without revealing answers to independent exercises.</a:t>
            </a:r>
          </a:p>
          <a:p>
            <a:r>
              <a:rPr lang="en-US" sz="1200" b="1" i="0"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“After our break, we will examine a subtle mistake that can invalidate later model evaluation.”</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10-minute break.</a:t>
            </a:r>
          </a:p>
          <a:p>
            <a:r>
              <a:rPr dirty="0"/>
              <a:t>Text alternative: A large clock-like circle displays ten minutes; the next topic is avoiding leakage from held-out information.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Emphasize that even target-free summary statistics of the holdout leak information.</a:t>
            </a:r>
          </a:p>
          <a:p>
            <a:r>
              <a:t>Text alternative: The wrong pipeline fits a scaler on all rows before splitting. The right pipeline splits first, fits on training data, then transforms the holdout.</a:t>
            </a:r>
            <a:br>
              <a:rPr lang="en-US"/>
            </a:br>
            <a:br>
              <a:rPr lang="en-US"/>
            </a:b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Explain z = (x − </a:t>
            </a:r>
            <a:r>
              <a:rPr dirty="0" err="1"/>
              <a:t>mean_train</a:t>
            </a:r>
            <a:r>
              <a:rPr dirty="0"/>
              <a:t>) / </a:t>
            </a:r>
            <a:r>
              <a:rPr dirty="0" err="1"/>
              <a:t>std_train</a:t>
            </a:r>
            <a:r>
              <a:rPr dirty="0"/>
              <a:t>.</a:t>
            </a:r>
          </a:p>
          <a:p>
            <a:r>
              <a:rPr dirty="0"/>
              <a:t>Clarify that standardization does not assert normality and does not guarantee values within [−1, 1].</a:t>
            </a:r>
          </a:p>
          <a:p>
            <a:r>
              <a:rPr dirty="0"/>
              <a:t>Text alternative: A central </a:t>
            </a:r>
            <a:r>
              <a:rPr dirty="0" err="1"/>
              <a:t>X_train</a:t>
            </a:r>
            <a:r>
              <a:rPr dirty="0"/>
              <a:t> node supplies fitted parameters to median imputation, mean-and-standard-deviation scaling, and categorical vocabulary learning.</a:t>
            </a:r>
            <a:br>
              <a:rPr lang="en-US" dirty="0"/>
            </a:br>
            <a:br>
              <a:rPr lang="en-US" dirty="0"/>
            </a:br>
            <a:r>
              <a:rPr lang="en-US" sz="1200" b="0" i="0" kern="1200" dirty="0">
                <a:solidFill>
                  <a:schemeClr val="tx1"/>
                </a:solidFill>
                <a:effectLst/>
                <a:latin typeface="+mn-lt"/>
                <a:ea typeface="+mn-ea"/>
                <a:cs typeface="+mn-cs"/>
              </a:rPr>
              <a:t>“Let's look at the parameters learned by transformations.</a:t>
            </a:r>
          </a:p>
          <a:p>
            <a:r>
              <a:rPr lang="en-US" sz="1200" b="0" i="0" kern="1200" dirty="0">
                <a:solidFill>
                  <a:schemeClr val="tx1"/>
                </a:solidFill>
                <a:effectLst/>
                <a:latin typeface="+mn-lt"/>
                <a:ea typeface="+mn-ea"/>
                <a:cs typeface="+mn-cs"/>
              </a:rPr>
              <a:t>A median imputer learns a median from the observed training values. When a later record has a missing value, the imputer uses that training median. It does not recompute a different median using the holdout.</a:t>
            </a:r>
          </a:p>
          <a:p>
            <a:r>
              <a:rPr lang="en-US" sz="1200" b="0" i="0" kern="1200" dirty="0">
                <a:solidFill>
                  <a:schemeClr val="tx1"/>
                </a:solidFill>
                <a:effectLst/>
                <a:latin typeface="+mn-lt"/>
                <a:ea typeface="+mn-ea"/>
                <a:cs typeface="+mn-cs"/>
              </a:rPr>
              <a:t>A standard scaler learns the training mean and standard deviation. It then transforms a value using the formula: value minus training mean, divided by training standard deviation.</a:t>
            </a:r>
          </a:p>
          <a:p>
            <a:r>
              <a:rPr lang="en-US" sz="1200" b="0" i="0" kern="1200" dirty="0">
                <a:solidFill>
                  <a:schemeClr val="tx1"/>
                </a:solidFill>
                <a:effectLst/>
                <a:latin typeface="+mn-lt"/>
                <a:ea typeface="+mn-ea"/>
                <a:cs typeface="+mn-cs"/>
              </a:rPr>
              <a:t>This produces </a:t>
            </a:r>
            <a:r>
              <a:rPr lang="en-US" sz="1200" b="0" i="0" kern="1200" dirty="0" err="1">
                <a:solidFill>
                  <a:schemeClr val="tx1"/>
                </a:solidFill>
                <a:effectLst/>
                <a:latin typeface="+mn-lt"/>
                <a:ea typeface="+mn-ea"/>
                <a:cs typeface="+mn-cs"/>
              </a:rPr>
              <a:t>standardised</a:t>
            </a:r>
            <a:r>
              <a:rPr lang="en-US" sz="1200" b="0" i="0" kern="1200" dirty="0">
                <a:solidFill>
                  <a:schemeClr val="tx1"/>
                </a:solidFill>
                <a:effectLst/>
                <a:latin typeface="+mn-lt"/>
                <a:ea typeface="+mn-ea"/>
                <a:cs typeface="+mn-cs"/>
              </a:rPr>
              <a:t> values. It does not make the distribution normal, and it does not guarantee the results lie between minus one and one.</a:t>
            </a:r>
          </a:p>
          <a:p>
            <a:r>
              <a:rPr lang="en-US" sz="1200" b="0" i="0" kern="1200" dirty="0">
                <a:solidFill>
                  <a:schemeClr val="tx1"/>
                </a:solidFill>
                <a:effectLst/>
                <a:latin typeface="+mn-lt"/>
                <a:ea typeface="+mn-ea"/>
                <a:cs typeface="+mn-cs"/>
              </a:rPr>
              <a:t>A categorical encoder learns which category names were present during fitting. Later, it must have a defined response when it encounters a previously unseen category.</a:t>
            </a:r>
          </a:p>
          <a:p>
            <a:r>
              <a:rPr lang="en-US" sz="1200" b="0" i="0" kern="1200" dirty="0">
                <a:solidFill>
                  <a:schemeClr val="tx1"/>
                </a:solidFill>
                <a:effectLst/>
                <a:latin typeface="+mn-lt"/>
                <a:ea typeface="+mn-ea"/>
                <a:cs typeface="+mn-cs"/>
              </a:rPr>
              <a:t>In all three cases, the transformation has state. Once we have fitted that state on the training set, we should reuse it consistently.”</a:t>
            </a:r>
          </a:p>
          <a:p>
            <a:r>
              <a:rPr lang="en-US" sz="1200" b="1" i="0" kern="1200" dirty="0">
                <a:solidFill>
                  <a:schemeClr val="tx1"/>
                </a:solidFill>
                <a:effectLst/>
                <a:latin typeface="+mn-lt"/>
                <a:ea typeface="+mn-ea"/>
                <a:cs typeface="+mn-cs"/>
              </a:rPr>
              <a:t>[Demo:]</a:t>
            </a:r>
            <a:r>
              <a:rPr lang="en-US" sz="1200" b="0" i="0" kern="1200" dirty="0">
                <a:solidFill>
                  <a:schemeClr val="tx1"/>
                </a:solidFill>
                <a:effectLst/>
                <a:latin typeface="+mn-lt"/>
                <a:ea typeface="+mn-ea"/>
                <a:cs typeface="+mn-cs"/>
              </a:rPr>
              <a:t> Inspect the numeric medians and the transformed column names after fitting.</a:t>
            </a:r>
          </a:p>
          <a:p>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“If the holdout has a larger mean than training, should we update the scaler?” Explain why not during independent evaluation.</a:t>
            </a:r>
          </a:p>
          <a:p>
            <a:r>
              <a:rPr lang="en-US" sz="1200" b="1" i="0"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“Let's package these transformations so they are less likely to be applied inconsistently.”</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Show scikit-learn Pipeline plus </a:t>
            </a:r>
            <a:r>
              <a:rPr dirty="0" err="1"/>
              <a:t>ColumnTransformer</a:t>
            </a:r>
            <a:r>
              <a:rPr dirty="0"/>
              <a:t>.</a:t>
            </a:r>
          </a:p>
          <a:p>
            <a:r>
              <a:rPr dirty="0"/>
              <a:t>Explain why sequential fit and transform steps are crucial.</a:t>
            </a:r>
          </a:p>
          <a:p>
            <a:r>
              <a:rPr dirty="0"/>
              <a:t>Text alternative: Numeric columns flow through median imputation and standardization; categorical columns flow through mode imputation and one-hot encoding; both merge into one feature matrix.</a:t>
            </a:r>
            <a:br>
              <a:rPr lang="en-US" dirty="0"/>
            </a:br>
            <a:br>
              <a:rPr lang="en-US" dirty="0"/>
            </a:br>
            <a:r>
              <a:rPr lang="en-US" sz="1200" b="0" i="0" kern="1200" dirty="0">
                <a:solidFill>
                  <a:schemeClr val="tx1"/>
                </a:solidFill>
                <a:effectLst/>
                <a:latin typeface="+mn-lt"/>
                <a:ea typeface="+mn-ea"/>
                <a:cs typeface="+mn-cs"/>
              </a:rPr>
              <a:t>“Our dataset contains two broad kinds of features: numerical and categorical.</a:t>
            </a:r>
          </a:p>
          <a:p>
            <a:r>
              <a:rPr lang="en-US" sz="1200" b="0" i="0" kern="1200" dirty="0">
                <a:solidFill>
                  <a:schemeClr val="tx1"/>
                </a:solidFill>
                <a:effectLst/>
                <a:latin typeface="+mn-lt"/>
                <a:ea typeface="+mn-ea"/>
                <a:cs typeface="+mn-cs"/>
              </a:rPr>
              <a:t>For numerical columns, we will use a pipeline that first imputes missing values with the training median, then </a:t>
            </a:r>
            <a:r>
              <a:rPr lang="en-US" sz="1200" b="0" i="0" kern="1200" dirty="0" err="1">
                <a:solidFill>
                  <a:schemeClr val="tx1"/>
                </a:solidFill>
                <a:effectLst/>
                <a:latin typeface="+mn-lt"/>
                <a:ea typeface="+mn-ea"/>
                <a:cs typeface="+mn-cs"/>
              </a:rPr>
              <a:t>standardises</a:t>
            </a:r>
            <a:r>
              <a:rPr lang="en-US" sz="1200" b="0" i="0" kern="1200" dirty="0">
                <a:solidFill>
                  <a:schemeClr val="tx1"/>
                </a:solidFill>
                <a:effectLst/>
                <a:latin typeface="+mn-lt"/>
                <a:ea typeface="+mn-ea"/>
                <a:cs typeface="+mn-cs"/>
              </a:rPr>
              <a:t> the numbers. The order matters because a scaler cannot use an unknown numerical value as though it were a valid measurement.</a:t>
            </a:r>
          </a:p>
          <a:p>
            <a:r>
              <a:rPr lang="en-US" sz="1200" b="0" i="0" kern="1200" dirty="0">
                <a:solidFill>
                  <a:schemeClr val="tx1"/>
                </a:solidFill>
                <a:effectLst/>
                <a:latin typeface="+mn-lt"/>
                <a:ea typeface="+mn-ea"/>
                <a:cs typeface="+mn-cs"/>
              </a:rPr>
              <a:t>For categorical columns, we will first replace missing categories with the most frequent category in training. Then we will apply one-hot encoding to represent categories with indicator columns.</a:t>
            </a:r>
          </a:p>
          <a:p>
            <a:r>
              <a:rPr lang="en-US" sz="1200" b="0" i="0" kern="1200" dirty="0">
                <a:solidFill>
                  <a:schemeClr val="tx1"/>
                </a:solidFill>
                <a:effectLst/>
                <a:latin typeface="+mn-lt"/>
                <a:ea typeface="+mn-ea"/>
                <a:cs typeface="+mn-cs"/>
              </a:rPr>
              <a:t>Scikit-learn offers Pipeline for sequencing steps and </a:t>
            </a:r>
            <a:r>
              <a:rPr lang="en-US" sz="1200" b="0" i="0" kern="1200" dirty="0" err="1">
                <a:solidFill>
                  <a:schemeClr val="tx1"/>
                </a:solidFill>
                <a:effectLst/>
                <a:latin typeface="+mn-lt"/>
                <a:ea typeface="+mn-ea"/>
                <a:cs typeface="+mn-cs"/>
              </a:rPr>
              <a:t>ColumnTransformer</a:t>
            </a:r>
            <a:r>
              <a:rPr lang="en-US" sz="1200" b="0" i="0" kern="1200" dirty="0">
                <a:solidFill>
                  <a:schemeClr val="tx1"/>
                </a:solidFill>
                <a:effectLst/>
                <a:latin typeface="+mn-lt"/>
                <a:ea typeface="+mn-ea"/>
                <a:cs typeface="+mn-cs"/>
              </a:rPr>
              <a:t> for applying different steps to different columns. Together they give us a repeatable recipe.</a:t>
            </a:r>
          </a:p>
          <a:p>
            <a:r>
              <a:rPr lang="en-US" sz="1200" b="0" i="0" kern="1200" dirty="0">
                <a:solidFill>
                  <a:schemeClr val="tx1"/>
                </a:solidFill>
                <a:effectLst/>
                <a:latin typeface="+mn-lt"/>
                <a:ea typeface="+mn-ea"/>
                <a:cs typeface="+mn-cs"/>
              </a:rPr>
              <a:t>When we call </a:t>
            </a:r>
            <a:r>
              <a:rPr lang="en-US" sz="1200" b="0" i="0" kern="1200" dirty="0" err="1">
                <a:solidFill>
                  <a:schemeClr val="tx1"/>
                </a:solidFill>
                <a:effectLst/>
                <a:latin typeface="+mn-lt"/>
                <a:ea typeface="+mn-ea"/>
                <a:cs typeface="+mn-cs"/>
              </a:rPr>
              <a:t>fit_transform</a:t>
            </a:r>
            <a:r>
              <a:rPr lang="en-US" sz="1200" b="0" i="0" kern="1200" dirty="0">
                <a:solidFill>
                  <a:schemeClr val="tx1"/>
                </a:solidFill>
                <a:effectLst/>
                <a:latin typeface="+mn-lt"/>
                <a:ea typeface="+mn-ea"/>
                <a:cs typeface="+mn-cs"/>
              </a:rPr>
              <a:t> on training data, the transformations learn their parameters and produce a feature matrix. When we call transform on the holdout, they use those same parameters without learning again.</a:t>
            </a:r>
          </a:p>
          <a:p>
            <a:r>
              <a:rPr lang="en-US" sz="1200" b="0" i="0" kern="1200" dirty="0">
                <a:solidFill>
                  <a:schemeClr val="tx1"/>
                </a:solidFill>
                <a:effectLst/>
                <a:latin typeface="+mn-lt"/>
                <a:ea typeface="+mn-ea"/>
                <a:cs typeface="+mn-cs"/>
              </a:rPr>
              <a:t>We have prepared model-ready features. We have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trained a regression model yet. That comes in S03.”</a:t>
            </a:r>
          </a:p>
          <a:p>
            <a:r>
              <a:rPr lang="en-US" sz="1200" b="1" i="0" kern="1200" dirty="0">
                <a:solidFill>
                  <a:schemeClr val="tx1"/>
                </a:solidFill>
                <a:effectLst/>
                <a:latin typeface="+mn-lt"/>
                <a:ea typeface="+mn-ea"/>
                <a:cs typeface="+mn-cs"/>
              </a:rPr>
              <a:t>[Demo:]</a:t>
            </a:r>
            <a:r>
              <a:rPr lang="en-US" sz="1200" b="0" i="0" kern="1200" dirty="0">
                <a:solidFill>
                  <a:schemeClr val="tx1"/>
                </a:solidFill>
                <a:effectLst/>
                <a:latin typeface="+mn-lt"/>
                <a:ea typeface="+mn-ea"/>
                <a:cs typeface="+mn-cs"/>
              </a:rPr>
              <a:t> Open the </a:t>
            </a:r>
            <a:r>
              <a:rPr lang="en-US" sz="1200" b="0" i="0" kern="1200" dirty="0" err="1">
                <a:solidFill>
                  <a:schemeClr val="tx1"/>
                </a:solidFill>
                <a:effectLst/>
                <a:latin typeface="+mn-lt"/>
                <a:ea typeface="+mn-ea"/>
                <a:cs typeface="+mn-cs"/>
              </a:rPr>
              <a:t>ColumnTransformer</a:t>
            </a:r>
            <a:r>
              <a:rPr lang="en-US" sz="1200" b="0" i="0" kern="1200" dirty="0">
                <a:solidFill>
                  <a:schemeClr val="tx1"/>
                </a:solidFill>
                <a:effectLst/>
                <a:latin typeface="+mn-lt"/>
                <a:ea typeface="+mn-ea"/>
                <a:cs typeface="+mn-cs"/>
              </a:rPr>
              <a:t> cell and explain the numeric and categorical branches before running it.</a:t>
            </a:r>
          </a:p>
          <a:p>
            <a:r>
              <a:rPr lang="en-US" sz="1200" b="1" i="0"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“Categorical encoding changes the number of columns, so let's inspect the result.”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Discuss interpretability and feature names.</a:t>
            </a:r>
          </a:p>
          <a:p>
            <a:r>
              <a:rPr dirty="0"/>
              <a:t>Warn about unique identifiers creating excessive one-hot columns.</a:t>
            </a:r>
          </a:p>
          <a:p>
            <a:r>
              <a:rPr dirty="0"/>
              <a:t>Explain that unseen values require an explicit handling policy.</a:t>
            </a:r>
          </a:p>
          <a:p>
            <a:r>
              <a:rPr dirty="0"/>
              <a:t>Text alternative: One categorical input named channel fans out into three example binary columns. A side note flags unseen values, feature-name interpretation, and high-cardinality identifiers.</a:t>
            </a:r>
            <a:br>
              <a:rPr lang="en-US" dirty="0"/>
            </a:br>
            <a:br>
              <a:rPr lang="en-US" dirty="0"/>
            </a:br>
            <a:r>
              <a:rPr lang="en-US" sz="1200" b="0" i="0" kern="1200" dirty="0">
                <a:solidFill>
                  <a:schemeClr val="tx1"/>
                </a:solidFill>
                <a:effectLst/>
                <a:latin typeface="+mn-lt"/>
                <a:ea typeface="+mn-ea"/>
                <a:cs typeface="+mn-cs"/>
              </a:rPr>
              <a:t>“A categorical feature may look like one column in pandas, but the resulting model-ready representation may contain several columns.</a:t>
            </a:r>
          </a:p>
          <a:p>
            <a:r>
              <a:rPr lang="en-US" sz="1200" b="0" i="0" kern="1200" dirty="0">
                <a:solidFill>
                  <a:schemeClr val="tx1"/>
                </a:solidFill>
                <a:effectLst/>
                <a:latin typeface="+mn-lt"/>
                <a:ea typeface="+mn-ea"/>
                <a:cs typeface="+mn-cs"/>
              </a:rPr>
              <a:t>For example, a channel with the categories web, store and phone may become three indicator columns. The value one marks the observed category; zeros mark the alternatives. This avoids treating category names as if they had a meaningful numerical order.</a:t>
            </a:r>
          </a:p>
          <a:p>
            <a:r>
              <a:rPr lang="en-US" sz="1200" b="0" i="0" kern="1200" dirty="0">
                <a:solidFill>
                  <a:schemeClr val="tx1"/>
                </a:solidFill>
                <a:effectLst/>
                <a:latin typeface="+mn-lt"/>
                <a:ea typeface="+mn-ea"/>
                <a:cs typeface="+mn-cs"/>
              </a:rPr>
              <a:t>But there are trade-offs. If a field has thousands of unique values, one-hot encoding can create many columns. A unique record identifier, for example, is rarely useful as an ordinary categorical predictor.</a:t>
            </a:r>
          </a:p>
          <a:p>
            <a:r>
              <a:rPr lang="en-US" sz="1200" b="0" i="0" kern="1200" dirty="0">
                <a:solidFill>
                  <a:schemeClr val="tx1"/>
                </a:solidFill>
                <a:effectLst/>
                <a:latin typeface="+mn-lt"/>
                <a:ea typeface="+mn-ea"/>
                <a:cs typeface="+mn-cs"/>
              </a:rPr>
              <a:t>We must also handle unseen values. With </a:t>
            </a:r>
            <a:r>
              <a:rPr lang="en-US" sz="1200" b="0" i="0" kern="1200" dirty="0" err="1">
                <a:solidFill>
                  <a:schemeClr val="tx1"/>
                </a:solidFill>
                <a:effectLst/>
                <a:latin typeface="+mn-lt"/>
                <a:ea typeface="+mn-ea"/>
                <a:cs typeface="+mn-cs"/>
              </a:rPr>
              <a:t>handle_unknown</a:t>
            </a:r>
            <a:r>
              <a:rPr lang="en-US" sz="1200" b="0" i="0" kern="1200" dirty="0">
                <a:solidFill>
                  <a:schemeClr val="tx1"/>
                </a:solidFill>
                <a:effectLst/>
                <a:latin typeface="+mn-lt"/>
                <a:ea typeface="+mn-ea"/>
                <a:cs typeface="+mn-cs"/>
              </a:rPr>
              <a:t>='ignore', a category not learned during training does not cause the encoder to fit a new vocabulary. Its encoded block may contain all zeros. That makes the pipeline operationally stable, but we still need to decide whether the unknown category has domain significance.”</a:t>
            </a:r>
          </a:p>
          <a:p>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“Would you one-hot encode a transaction ID?” Invite a justification.</a:t>
            </a:r>
          </a:p>
          <a:p>
            <a:r>
              <a:rPr lang="en-US" sz="1200" b="1" i="0"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“Now run the complete transformation and inspect exactly what it produces.”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Pair students for the lab.</a:t>
            </a:r>
          </a:p>
          <a:p>
            <a:r>
              <a:rPr dirty="0"/>
              <a:t>Fit on </a:t>
            </a:r>
            <a:r>
              <a:rPr dirty="0" err="1"/>
              <a:t>X_train</a:t>
            </a:r>
            <a:r>
              <a:rPr dirty="0"/>
              <a:t> only, transform both datasets, then inspect feature names and matrix shape.</a:t>
            </a:r>
          </a:p>
          <a:p>
            <a:r>
              <a:rPr dirty="0"/>
              <a:t>Debug version-specific API differences as needed; do not train a predictor.</a:t>
            </a:r>
          </a:p>
          <a:p>
            <a:r>
              <a:rPr dirty="0"/>
              <a:t>Text alternative: </a:t>
            </a:r>
            <a:r>
              <a:rPr dirty="0" err="1"/>
              <a:t>X_train</a:t>
            </a:r>
            <a:r>
              <a:rPr dirty="0"/>
              <a:t> alone fits a preprocessing process. The same fitted process transforms both </a:t>
            </a:r>
            <a:r>
              <a:rPr dirty="0" err="1"/>
              <a:t>X_train</a:t>
            </a:r>
            <a:r>
              <a:rPr dirty="0"/>
              <a:t> and </a:t>
            </a:r>
            <a:r>
              <a:rPr dirty="0" err="1"/>
              <a:t>X_holdout</a:t>
            </a:r>
            <a:r>
              <a:rPr dirty="0"/>
              <a:t> into aligned outputs.</a:t>
            </a:r>
            <a:br>
              <a:rPr lang="en-US" dirty="0"/>
            </a:br>
            <a:br>
              <a:rPr lang="en-US" dirty="0"/>
            </a:br>
            <a:r>
              <a:rPr lang="en-US" sz="1200" b="0" i="0" kern="1200" dirty="0">
                <a:solidFill>
                  <a:schemeClr val="tx1"/>
                </a:solidFill>
                <a:effectLst/>
                <a:latin typeface="+mn-lt"/>
                <a:ea typeface="+mn-ea"/>
                <a:cs typeface="+mn-cs"/>
              </a:rPr>
              <a:t>“Please move to the preprocessing cell in the notebook.</a:t>
            </a:r>
          </a:p>
          <a:p>
            <a:r>
              <a:rPr lang="en-US" sz="1200" b="0" i="0" kern="1200" dirty="0">
                <a:solidFill>
                  <a:schemeClr val="tx1"/>
                </a:solidFill>
                <a:effectLst/>
                <a:latin typeface="+mn-lt"/>
                <a:ea typeface="+mn-ea"/>
                <a:cs typeface="+mn-cs"/>
              </a:rPr>
              <a:t>First, look at the list of numeric and categorical columns. Check that the target and record identifier are not included. Next, run the pipeline fit on the training subset only. Then transform the holdout without fitting again.</a:t>
            </a:r>
          </a:p>
          <a:p>
            <a:r>
              <a:rPr lang="en-US" sz="1200" b="0" i="0" kern="1200" dirty="0">
                <a:solidFill>
                  <a:schemeClr val="tx1"/>
                </a:solidFill>
                <a:effectLst/>
                <a:latin typeface="+mn-lt"/>
                <a:ea typeface="+mn-ea"/>
                <a:cs typeface="+mn-cs"/>
              </a:rPr>
              <a:t>Compare the shapes of the two resulting matrices. Their row counts should differ because the two splits contain different observations, but their feature-column counts should match.</a:t>
            </a:r>
          </a:p>
          <a:p>
            <a:r>
              <a:rPr lang="en-US" sz="1200" b="0" i="0" kern="1200" dirty="0">
                <a:solidFill>
                  <a:schemeClr val="tx1"/>
                </a:solidFill>
                <a:effectLst/>
                <a:latin typeface="+mn-lt"/>
                <a:ea typeface="+mn-ea"/>
                <a:cs typeface="+mn-cs"/>
              </a:rPr>
              <a:t>Finally, inspect the feature names. Can you still explain what each output column represents? A model-ready matrix is useful only if we can interpret and reproduce the steps that created it.”</a:t>
            </a:r>
          </a:p>
          <a:p>
            <a:r>
              <a:rPr lang="en-US" sz="1200" b="1" i="0" kern="1200" dirty="0">
                <a:solidFill>
                  <a:schemeClr val="tx1"/>
                </a:solidFill>
                <a:effectLst/>
                <a:latin typeface="+mn-lt"/>
                <a:ea typeface="+mn-ea"/>
                <a:cs typeface="+mn-cs"/>
              </a:rPr>
              <a:t>[Activity:]</a:t>
            </a:r>
            <a:r>
              <a:rPr lang="en-US" sz="1200" b="0" i="0" kern="1200" dirty="0">
                <a:solidFill>
                  <a:schemeClr val="tx1"/>
                </a:solidFill>
                <a:effectLst/>
                <a:latin typeface="+mn-lt"/>
                <a:ea typeface="+mn-ea"/>
                <a:cs typeface="+mn-cs"/>
              </a:rPr>
              <a:t> Help pairs run the cell and inspect medians, feature names and shapes. Do not introduce prediction metrics.</a:t>
            </a:r>
          </a:p>
          <a:p>
            <a:r>
              <a:rPr lang="en-US" sz="1200" b="1" i="0"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“Let's test whether that same pipeline survives a realistic surprise.”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Ask students to edit their private copy.</a:t>
            </a:r>
          </a:p>
          <a:p>
            <a:r>
              <a:rPr dirty="0"/>
              <a:t>Invite alternative policies when the trade-off is stated explicitly.</a:t>
            </a:r>
          </a:p>
          <a:p>
            <a:r>
              <a:rPr dirty="0"/>
              <a:t>Text alternative: Four challenge prompts—missing region, zero visits, unknown category, and justified feature engineering—surround a central instruction to choose an action, rationale, and trade-off.</a:t>
            </a:r>
            <a:br>
              <a:rPr lang="en-US" dirty="0"/>
            </a:br>
            <a:br>
              <a:rPr lang="en-US" dirty="0"/>
            </a:br>
            <a:r>
              <a:rPr lang="en-US" sz="1200" b="0" i="0" kern="1200" dirty="0">
                <a:solidFill>
                  <a:schemeClr val="tx1"/>
                </a:solidFill>
                <a:effectLst/>
                <a:latin typeface="+mn-lt"/>
                <a:ea typeface="+mn-ea"/>
                <a:cs typeface="+mn-cs"/>
              </a:rPr>
              <a:t>“Now you will work independently in your own notebook copy. Imagine that a region is missing, that one record has zero visits, and that a new category appears in data we did not use for fitting.</a:t>
            </a:r>
          </a:p>
          <a:p>
            <a:r>
              <a:rPr lang="en-US" sz="1200" b="0" i="0" kern="1200" dirty="0">
                <a:solidFill>
                  <a:schemeClr val="tx1"/>
                </a:solidFill>
                <a:effectLst/>
                <a:latin typeface="+mn-lt"/>
                <a:ea typeface="+mn-ea"/>
                <a:cs typeface="+mn-cs"/>
              </a:rPr>
              <a:t>Your job is to examine how our pipeline handles each case, not simply to force the code to produce an output.</a:t>
            </a:r>
          </a:p>
          <a:p>
            <a:r>
              <a:rPr lang="en-US" sz="1200" b="0" i="0" kern="1200" dirty="0">
                <a:solidFill>
                  <a:schemeClr val="tx1"/>
                </a:solidFill>
                <a:effectLst/>
                <a:latin typeface="+mn-lt"/>
                <a:ea typeface="+mn-ea"/>
                <a:cs typeface="+mn-cs"/>
              </a:rPr>
              <a:t>For the zero-visits case, consider the engineered feature ‘spending per visit’. Dividing by zero is not a meaningful numerical measurement. What should that feature represent, and how should the subsequent imputer treat it?</a:t>
            </a:r>
          </a:p>
          <a:p>
            <a:r>
              <a:rPr lang="en-US" sz="1200" b="0" i="0" kern="1200" dirty="0">
                <a:solidFill>
                  <a:schemeClr val="tx1"/>
                </a:solidFill>
                <a:effectLst/>
                <a:latin typeface="+mn-lt"/>
                <a:ea typeface="+mn-ea"/>
                <a:cs typeface="+mn-cs"/>
              </a:rPr>
              <a:t>For an unseen category, test whether the already-fitted encoder can transform the record without changing the set of output columns.</a:t>
            </a:r>
          </a:p>
          <a:p>
            <a:r>
              <a:rPr lang="en-US" sz="1200" b="0" i="0" kern="1200" dirty="0">
                <a:solidFill>
                  <a:schemeClr val="tx1"/>
                </a:solidFill>
                <a:effectLst/>
                <a:latin typeface="+mn-lt"/>
                <a:ea typeface="+mn-ea"/>
                <a:cs typeface="+mn-cs"/>
              </a:rPr>
              <a:t>As you work, write a brief explanation of the choices you made, what is learned from training, and what uncertainty remains. You may propose a different policy, as long as you explain its trade-off. There is no single universally correct cleaning strategy.”</a:t>
            </a:r>
          </a:p>
          <a:p>
            <a:r>
              <a:rPr lang="en-US" sz="1200" b="1" i="0" kern="1200" dirty="0">
                <a:solidFill>
                  <a:schemeClr val="tx1"/>
                </a:solidFill>
                <a:effectLst/>
                <a:latin typeface="+mn-lt"/>
                <a:ea typeface="+mn-ea"/>
                <a:cs typeface="+mn-cs"/>
              </a:rPr>
              <a:t>[Activity:]</a:t>
            </a:r>
            <a:r>
              <a:rPr lang="en-US" sz="1200" b="0" i="0" kern="1200" dirty="0">
                <a:solidFill>
                  <a:schemeClr val="tx1"/>
                </a:solidFill>
                <a:effectLst/>
                <a:latin typeface="+mn-lt"/>
                <a:ea typeface="+mn-ea"/>
                <a:cs typeface="+mn-cs"/>
              </a:rPr>
              <a:t> Allow approximately 15 minutes for individual work and five minutes for discussion. Keep student answers in their own copies, not the public repository.</a:t>
            </a:r>
          </a:p>
          <a:p>
            <a:r>
              <a:rPr lang="en-US" sz="1200" b="1" i="0"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“We will end by connecting these decisions to the model-building work ahead.”</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this as an individual exit ticket.</a:t>
            </a:r>
          </a:p>
          <a:p>
            <a:r>
              <a:rPr dirty="0"/>
              <a:t>Preview linear regression in S03.</a:t>
            </a:r>
          </a:p>
          <a:p>
            <a:r>
              <a:rPr dirty="0"/>
              <a:t>Text alternative: Three numbered prompts ask students to define a data error, identify what is fitted, and explain why the holdout should remain untouched.</a:t>
            </a:r>
            <a:br>
              <a:rPr lang="en-US" dirty="0"/>
            </a:br>
            <a:r>
              <a:rPr lang="en-US" sz="1200" b="0" i="0" kern="1200" dirty="0">
                <a:solidFill>
                  <a:schemeClr val="tx1"/>
                </a:solidFill>
                <a:effectLst/>
                <a:latin typeface="+mn-lt"/>
                <a:ea typeface="+mn-ea"/>
                <a:cs typeface="+mn-cs"/>
              </a:rPr>
              <a:t>“Today we learned that preparing data is not just a technical preliminary step. It is part of the scientific reasoning behind a machine learning system.</a:t>
            </a:r>
          </a:p>
          <a:p>
            <a:r>
              <a:rPr lang="en-US" sz="1200" b="0" i="0" kern="1200" dirty="0">
                <a:solidFill>
                  <a:schemeClr val="tx1"/>
                </a:solidFill>
                <a:effectLst/>
                <a:latin typeface="+mn-lt"/>
                <a:ea typeface="+mn-ea"/>
                <a:cs typeface="+mn-cs"/>
              </a:rPr>
              <a:t>Before we finish, I want each of you to answer three questions in your own words.</a:t>
            </a:r>
          </a:p>
          <a:p>
            <a:r>
              <a:rPr lang="en-US" sz="1200" b="0" i="0" kern="1200" dirty="0">
                <a:solidFill>
                  <a:schemeClr val="tx1"/>
                </a:solidFill>
                <a:effectLst/>
                <a:latin typeface="+mn-lt"/>
                <a:ea typeface="+mn-ea"/>
                <a:cs typeface="+mn-cs"/>
              </a:rPr>
              <a:t>First, how do we distinguish a data error from a legitimate unusual observation? Second, which preprocessing steps learn parameters from training data, and why must they not learn from holdout data? Third, what could go wrong if we repeatedly adjust our pipeline based on results from a supposedly untouched test set?</a:t>
            </a:r>
          </a:p>
          <a:p>
            <a:r>
              <a:rPr lang="en-US" sz="1200" b="0" i="0" kern="1200" dirty="0">
                <a:solidFill>
                  <a:schemeClr val="tx1"/>
                </a:solidFill>
                <a:effectLst/>
                <a:latin typeface="+mn-lt"/>
                <a:ea typeface="+mn-ea"/>
                <a:cs typeface="+mn-cs"/>
              </a:rPr>
              <a:t>These questions matter because next session we will start fitting regression models. The quality of those models will depend on the feature preparation and evaluation discipline we established today.</a:t>
            </a:r>
          </a:p>
          <a:p>
            <a:r>
              <a:rPr lang="en-US" sz="1200" b="0" i="0" kern="1200" dirty="0">
                <a:solidFill>
                  <a:schemeClr val="tx1"/>
                </a:solidFill>
                <a:effectLst/>
                <a:latin typeface="+mn-lt"/>
                <a:ea typeface="+mn-ea"/>
                <a:cs typeface="+mn-cs"/>
              </a:rPr>
              <a:t>Please keep your notebook and your written explanations. In S03, we will connect this feature matrix to linear regression, a baseline and an objective function. Thank you, everyone.”</a:t>
            </a:r>
          </a:p>
          <a:p>
            <a:r>
              <a:rPr lang="en-US" sz="1200" b="1" i="0" kern="1200" dirty="0">
                <a:solidFill>
                  <a:schemeClr val="tx1"/>
                </a:solidFill>
                <a:effectLst/>
                <a:latin typeface="+mn-lt"/>
                <a:ea typeface="+mn-ea"/>
                <a:cs typeface="+mn-cs"/>
              </a:rPr>
              <a:t>[Action:]</a:t>
            </a:r>
            <a:r>
              <a:rPr lang="en-US" sz="1200" b="0" i="0" kern="1200" dirty="0">
                <a:solidFill>
                  <a:schemeClr val="tx1"/>
                </a:solidFill>
                <a:effectLst/>
                <a:latin typeface="+mn-lt"/>
                <a:ea typeface="+mn-ea"/>
                <a:cs typeface="+mn-cs"/>
              </a:rPr>
              <a:t> Collect a brief individual exit response through the agreed institutional method. No new graded assessment is implied.</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4103256"/>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00000001-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01-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dirty="0">
                <a:solidFill>
                  <a:srgbClr val="007C7A"/>
                </a:solidFill>
                <a:latin typeface="Aptos Display"/>
                <a:ea typeface="Aptos Display"/>
                <a:cs typeface="Aptos Display"/>
              </a:rPr>
              <a:t>S02 · DATA PREPARATION</a:t>
            </a:r>
          </a:p>
        </p:txBody>
      </p:sp>
      <p:sp>
        <p:nvSpPr>
          <p:cNvPr id="3" name="Rectangle 2">
            <a:extLst>
              <a:ext uri="{FF2B5EF4-FFF2-40B4-BE49-F238E27FC236}">
                <a16:creationId xmlns:a16="http://schemas.microsoft.com/office/drawing/2014/main" id="{00000001-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From raw data to trustworthy features</a:t>
            </a:r>
          </a:p>
        </p:txBody>
      </p:sp>
      <p:sp>
        <p:nvSpPr>
          <p:cNvPr id="4" name="Rectangle 3">
            <a:extLst>
              <a:ext uri="{FF2B5EF4-FFF2-40B4-BE49-F238E27FC236}">
                <a16:creationId xmlns:a16="http://schemas.microsoft.com/office/drawing/2014/main" id="{00000001-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0–5 min</a:t>
            </a:r>
          </a:p>
        </p:txBody>
      </p:sp>
      <p:sp>
        <p:nvSpPr>
          <p:cNvPr id="5" name="Rectangle 4">
            <a:extLst>
              <a:ext uri="{FF2B5EF4-FFF2-40B4-BE49-F238E27FC236}">
                <a16:creationId xmlns:a16="http://schemas.microsoft.com/office/drawing/2014/main" id="{00000001-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01-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01</a:t>
            </a:r>
          </a:p>
        </p:txBody>
      </p:sp>
      <p:sp>
        <p:nvSpPr>
          <p:cNvPr id="7" name="Rectangle 6">
            <a:extLst>
              <a:ext uri="{FF2B5EF4-FFF2-40B4-BE49-F238E27FC236}">
                <a16:creationId xmlns:a16="http://schemas.microsoft.com/office/drawing/2014/main" id="{00000001-0007-4000-8000-000000000000}"/>
              </a:ext>
            </a:extLst>
          </p:cNvPr>
          <p:cNvSpPr>
            <a:spLocks noGrp="1"/>
          </p:cNvSpPr>
          <p:nvPr/>
        </p:nvSpPr>
        <p:spPr>
          <a:xfrm>
            <a:off x="742950" y="1504950"/>
            <a:ext cx="8858250" cy="400050"/>
          </a:xfrm>
          <a:prstGeom prst="rect">
            <a:avLst/>
          </a:prstGeom>
          <a:noFill/>
          <a:ln w="0">
            <a:noFill/>
            <a:prstDash val="solid"/>
          </a:ln>
        </p:spPr>
        <p:txBody>
          <a:bodyPr wrap="square" lIns="0" tIns="0" rIns="0" bIns="0" anchor="ctr">
            <a:normAutofit/>
          </a:bodyPr>
          <a:lstStyle/>
          <a:p>
            <a:pPr algn="l">
              <a:lnSpc>
                <a:spcPct val="100000"/>
              </a:lnSpc>
              <a:buNone/>
              <a:defRPr sz="2250" b="0">
                <a:solidFill>
                  <a:srgbClr val="5E6F72"/>
                </a:solidFill>
                <a:latin typeface="Aptos"/>
                <a:ea typeface="Aptos"/>
                <a:cs typeface="Aptos"/>
              </a:defRPr>
            </a:pPr>
            <a:r>
              <a:rPr sz="2250" b="0">
                <a:solidFill>
                  <a:srgbClr val="5E6F72"/>
                </a:solidFill>
                <a:latin typeface="Aptos"/>
                <a:ea typeface="Aptos"/>
                <a:cs typeface="Aptos"/>
              </a:rPr>
              <a:t>Trust is built before a model sees the data.</a:t>
            </a:r>
          </a:p>
        </p:txBody>
      </p:sp>
      <p:sp>
        <p:nvSpPr>
          <p:cNvPr id="8" name="step-1">
            <a:extLst>
              <a:ext uri="{FF2B5EF4-FFF2-40B4-BE49-F238E27FC236}">
                <a16:creationId xmlns:a16="http://schemas.microsoft.com/office/drawing/2014/main" id="{00000001-0008-4000-8000-000000000000}"/>
              </a:ext>
            </a:extLst>
          </p:cNvPr>
          <p:cNvSpPr>
            <a:spLocks noGrp="1"/>
          </p:cNvSpPr>
          <p:nvPr/>
        </p:nvSpPr>
        <p:spPr>
          <a:xfrm>
            <a:off x="685800" y="2762250"/>
            <a:ext cx="1619250" cy="1162050"/>
          </a:xfrm>
          <a:prstGeom prst="rect">
            <a:avLst/>
          </a:prstGeom>
          <a:solidFill>
            <a:srgbClr val="FFFFFF"/>
          </a:solidFill>
          <a:ln w="19050">
            <a:solidFill>
              <a:srgbClr val="DCEAE4"/>
            </a:solidFill>
            <a:prstDash val="solid"/>
          </a:ln>
        </p:spPr>
        <p:txBody>
          <a:bodyPr lIns="76200" tIns="76200" rIns="76200" bIns="76200" anchor="ctr">
            <a:normAutofit/>
          </a:bodyPr>
          <a:lstStyle/>
          <a:p>
            <a:pPr algn="ctr">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Data</a:t>
            </a:r>
          </a:p>
          <a:p>
            <a:pPr algn="ctr">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quality</a:t>
            </a:r>
          </a:p>
        </p:txBody>
      </p:sp>
      <p:sp>
        <p:nvSpPr>
          <p:cNvPr id="9" name="step-number-1">
            <a:extLst>
              <a:ext uri="{FF2B5EF4-FFF2-40B4-BE49-F238E27FC236}">
                <a16:creationId xmlns:a16="http://schemas.microsoft.com/office/drawing/2014/main" id="{00000001-0009-4000-8000-000000000000}"/>
              </a:ext>
            </a:extLst>
          </p:cNvPr>
          <p:cNvSpPr>
            <a:spLocks noGrp="1"/>
          </p:cNvSpPr>
          <p:nvPr/>
        </p:nvSpPr>
        <p:spPr>
          <a:xfrm>
            <a:off x="1295400" y="2324100"/>
            <a:ext cx="400050" cy="400050"/>
          </a:xfrm>
          <a:prstGeom prst="ellipse">
            <a:avLst/>
          </a:prstGeom>
          <a:solidFill>
            <a:srgbClr val="DCEAE4"/>
          </a:solidFill>
          <a:ln w="0">
            <a:noFill/>
            <a:prstDash val="solid"/>
          </a:ln>
        </p:spPr>
        <p:txBody>
          <a:bodyPr/>
          <a:lstStyle/>
          <a:p>
            <a:endParaRPr lang="en-US"/>
          </a:p>
        </p:txBody>
      </p:sp>
      <p:sp>
        <p:nvSpPr>
          <p:cNvPr id="10" name="Rectangle 9">
            <a:extLst>
              <a:ext uri="{FF2B5EF4-FFF2-40B4-BE49-F238E27FC236}">
                <a16:creationId xmlns:a16="http://schemas.microsoft.com/office/drawing/2014/main" id="{00000001-000A-4000-8000-000000000000}"/>
              </a:ext>
            </a:extLst>
          </p:cNvPr>
          <p:cNvSpPr>
            <a:spLocks noGrp="1"/>
          </p:cNvSpPr>
          <p:nvPr/>
        </p:nvSpPr>
        <p:spPr>
          <a:xfrm>
            <a:off x="1295400" y="2324100"/>
            <a:ext cx="400050" cy="400050"/>
          </a:xfrm>
          <a:prstGeom prst="rect">
            <a:avLst/>
          </a:prstGeom>
          <a:noFill/>
          <a:ln w="0">
            <a:noFill/>
            <a:prstDash val="solid"/>
          </a:ln>
        </p:spPr>
        <p:txBody>
          <a:bodyPr wrap="square" lIns="0" tIns="0" rIns="0" bIns="0" anchor="ctr">
            <a:normAutofit/>
          </a:bodyPr>
          <a:lstStyle/>
          <a:p>
            <a:pPr algn="ctr">
              <a:lnSpc>
                <a:spcPct val="100000"/>
              </a:lnSpc>
              <a:buNone/>
              <a:defRPr sz="1650" b="1">
                <a:solidFill>
                  <a:srgbClr val="17343A"/>
                </a:solidFill>
                <a:latin typeface="Aptos Display"/>
                <a:ea typeface="Aptos Display"/>
                <a:cs typeface="Aptos Display"/>
              </a:defRPr>
            </a:pPr>
            <a:r>
              <a:rPr sz="1650" b="1">
                <a:solidFill>
                  <a:srgbClr val="17343A"/>
                </a:solidFill>
                <a:latin typeface="Aptos Display"/>
                <a:ea typeface="Aptos Display"/>
                <a:cs typeface="Aptos Display"/>
              </a:rPr>
              <a:t>1</a:t>
            </a:r>
          </a:p>
        </p:txBody>
      </p:sp>
      <p:sp>
        <p:nvSpPr>
          <p:cNvPr id="11" name="step-2">
            <a:extLst>
              <a:ext uri="{FF2B5EF4-FFF2-40B4-BE49-F238E27FC236}">
                <a16:creationId xmlns:a16="http://schemas.microsoft.com/office/drawing/2014/main" id="{00000001-000B-4000-8000-000000000000}"/>
              </a:ext>
            </a:extLst>
          </p:cNvPr>
          <p:cNvSpPr>
            <a:spLocks noGrp="1"/>
          </p:cNvSpPr>
          <p:nvPr/>
        </p:nvSpPr>
        <p:spPr>
          <a:xfrm>
            <a:off x="2952750" y="2762250"/>
            <a:ext cx="1619250" cy="1162050"/>
          </a:xfrm>
          <a:prstGeom prst="rect">
            <a:avLst/>
          </a:prstGeom>
          <a:solidFill>
            <a:srgbClr val="FFFFFF"/>
          </a:solidFill>
          <a:ln w="19050">
            <a:solidFill>
              <a:srgbClr val="DCEAE4"/>
            </a:solidFill>
            <a:prstDash val="solid"/>
          </a:ln>
        </p:spPr>
        <p:txBody>
          <a:bodyPr lIns="76200" tIns="76200" rIns="76200" bIns="76200" anchor="ctr">
            <a:normAutofit/>
          </a:bodyPr>
          <a:lstStyle/>
          <a:p>
            <a:pPr algn="ctr">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Exploratory</a:t>
            </a:r>
          </a:p>
          <a:p>
            <a:pPr algn="ctr">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analysis</a:t>
            </a:r>
          </a:p>
        </p:txBody>
      </p:sp>
      <p:sp>
        <p:nvSpPr>
          <p:cNvPr id="12" name="step-number-2">
            <a:extLst>
              <a:ext uri="{FF2B5EF4-FFF2-40B4-BE49-F238E27FC236}">
                <a16:creationId xmlns:a16="http://schemas.microsoft.com/office/drawing/2014/main" id="{00000001-000C-4000-8000-000000000000}"/>
              </a:ext>
            </a:extLst>
          </p:cNvPr>
          <p:cNvSpPr>
            <a:spLocks noGrp="1"/>
          </p:cNvSpPr>
          <p:nvPr/>
        </p:nvSpPr>
        <p:spPr>
          <a:xfrm>
            <a:off x="3562350" y="2324100"/>
            <a:ext cx="400050" cy="400050"/>
          </a:xfrm>
          <a:prstGeom prst="ellipse">
            <a:avLst/>
          </a:prstGeom>
          <a:solidFill>
            <a:srgbClr val="DCEAE4"/>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00000001-000D-4000-8000-000000000000}"/>
              </a:ext>
            </a:extLst>
          </p:cNvPr>
          <p:cNvSpPr>
            <a:spLocks noGrp="1"/>
          </p:cNvSpPr>
          <p:nvPr/>
        </p:nvSpPr>
        <p:spPr>
          <a:xfrm>
            <a:off x="3562350" y="2324100"/>
            <a:ext cx="400050" cy="400050"/>
          </a:xfrm>
          <a:prstGeom prst="rect">
            <a:avLst/>
          </a:prstGeom>
          <a:noFill/>
          <a:ln w="0">
            <a:noFill/>
            <a:prstDash val="solid"/>
          </a:ln>
        </p:spPr>
        <p:txBody>
          <a:bodyPr wrap="square" lIns="0" tIns="0" rIns="0" bIns="0" anchor="ctr">
            <a:normAutofit/>
          </a:bodyPr>
          <a:lstStyle/>
          <a:p>
            <a:pPr algn="ctr">
              <a:lnSpc>
                <a:spcPct val="100000"/>
              </a:lnSpc>
              <a:buNone/>
              <a:defRPr sz="1650" b="1">
                <a:solidFill>
                  <a:srgbClr val="17343A"/>
                </a:solidFill>
                <a:latin typeface="Aptos Display"/>
                <a:ea typeface="Aptos Display"/>
                <a:cs typeface="Aptos Display"/>
              </a:defRPr>
            </a:pPr>
            <a:r>
              <a:rPr sz="1650" b="1">
                <a:solidFill>
                  <a:srgbClr val="17343A"/>
                </a:solidFill>
                <a:latin typeface="Aptos Display"/>
                <a:ea typeface="Aptos Display"/>
                <a:cs typeface="Aptos Display"/>
              </a:rPr>
              <a:t>2</a:t>
            </a:r>
          </a:p>
        </p:txBody>
      </p:sp>
      <p:sp>
        <p:nvSpPr>
          <p:cNvPr id="14" name="step-3">
            <a:extLst>
              <a:ext uri="{FF2B5EF4-FFF2-40B4-BE49-F238E27FC236}">
                <a16:creationId xmlns:a16="http://schemas.microsoft.com/office/drawing/2014/main" id="{00000001-000E-4000-8000-000000000000}"/>
              </a:ext>
            </a:extLst>
          </p:cNvPr>
          <p:cNvSpPr>
            <a:spLocks noGrp="1"/>
          </p:cNvSpPr>
          <p:nvPr/>
        </p:nvSpPr>
        <p:spPr>
          <a:xfrm>
            <a:off x="5219700" y="2762250"/>
            <a:ext cx="1619250" cy="1162050"/>
          </a:xfrm>
          <a:prstGeom prst="rect">
            <a:avLst/>
          </a:prstGeom>
          <a:solidFill>
            <a:srgbClr val="FFFFFF"/>
          </a:solidFill>
          <a:ln w="19050">
            <a:solidFill>
              <a:srgbClr val="DCEAE4"/>
            </a:solidFill>
            <a:prstDash val="solid"/>
          </a:ln>
        </p:spPr>
        <p:txBody>
          <a:bodyPr lIns="76200" tIns="76200" rIns="76200" bIns="76200" anchor="ctr">
            <a:normAutofit/>
          </a:bodyPr>
          <a:lstStyle/>
          <a:p>
            <a:pPr algn="ctr">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Split</a:t>
            </a:r>
          </a:p>
        </p:txBody>
      </p:sp>
      <p:sp>
        <p:nvSpPr>
          <p:cNvPr id="15" name="step-number-3">
            <a:extLst>
              <a:ext uri="{FF2B5EF4-FFF2-40B4-BE49-F238E27FC236}">
                <a16:creationId xmlns:a16="http://schemas.microsoft.com/office/drawing/2014/main" id="{00000001-000F-4000-8000-000000000000}"/>
              </a:ext>
            </a:extLst>
          </p:cNvPr>
          <p:cNvSpPr>
            <a:spLocks noGrp="1"/>
          </p:cNvSpPr>
          <p:nvPr/>
        </p:nvSpPr>
        <p:spPr>
          <a:xfrm>
            <a:off x="5829300" y="2324100"/>
            <a:ext cx="400050" cy="400050"/>
          </a:xfrm>
          <a:prstGeom prst="ellipse">
            <a:avLst/>
          </a:prstGeom>
          <a:solidFill>
            <a:srgbClr val="DCEAE4"/>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00000001-0010-4000-8000-000000000000}"/>
              </a:ext>
            </a:extLst>
          </p:cNvPr>
          <p:cNvSpPr>
            <a:spLocks noGrp="1"/>
          </p:cNvSpPr>
          <p:nvPr/>
        </p:nvSpPr>
        <p:spPr>
          <a:xfrm>
            <a:off x="5829300" y="2324100"/>
            <a:ext cx="400050" cy="400050"/>
          </a:xfrm>
          <a:prstGeom prst="rect">
            <a:avLst/>
          </a:prstGeom>
          <a:noFill/>
          <a:ln w="0">
            <a:noFill/>
            <a:prstDash val="solid"/>
          </a:ln>
        </p:spPr>
        <p:txBody>
          <a:bodyPr wrap="square" lIns="0" tIns="0" rIns="0" bIns="0" anchor="ctr">
            <a:normAutofit/>
          </a:bodyPr>
          <a:lstStyle/>
          <a:p>
            <a:pPr algn="ctr">
              <a:lnSpc>
                <a:spcPct val="100000"/>
              </a:lnSpc>
              <a:buNone/>
              <a:defRPr sz="1650" b="1">
                <a:solidFill>
                  <a:srgbClr val="17343A"/>
                </a:solidFill>
                <a:latin typeface="Aptos Display"/>
                <a:ea typeface="Aptos Display"/>
                <a:cs typeface="Aptos Display"/>
              </a:defRPr>
            </a:pPr>
            <a:r>
              <a:rPr sz="1650" b="1">
                <a:solidFill>
                  <a:srgbClr val="17343A"/>
                </a:solidFill>
                <a:latin typeface="Aptos Display"/>
                <a:ea typeface="Aptos Display"/>
                <a:cs typeface="Aptos Display"/>
              </a:rPr>
              <a:t>3</a:t>
            </a:r>
          </a:p>
        </p:txBody>
      </p:sp>
      <p:sp>
        <p:nvSpPr>
          <p:cNvPr id="17" name="step-4">
            <a:extLst>
              <a:ext uri="{FF2B5EF4-FFF2-40B4-BE49-F238E27FC236}">
                <a16:creationId xmlns:a16="http://schemas.microsoft.com/office/drawing/2014/main" id="{00000001-0011-4000-8000-000000000000}"/>
              </a:ext>
            </a:extLst>
          </p:cNvPr>
          <p:cNvSpPr>
            <a:spLocks noGrp="1"/>
          </p:cNvSpPr>
          <p:nvPr/>
        </p:nvSpPr>
        <p:spPr>
          <a:xfrm>
            <a:off x="7486650" y="2762250"/>
            <a:ext cx="1619250" cy="1162050"/>
          </a:xfrm>
          <a:prstGeom prst="rect">
            <a:avLst/>
          </a:prstGeom>
          <a:solidFill>
            <a:srgbClr val="FFFFFF"/>
          </a:solidFill>
          <a:ln w="19050">
            <a:solidFill>
              <a:srgbClr val="DCEAE4"/>
            </a:solidFill>
            <a:prstDash val="solid"/>
          </a:ln>
        </p:spPr>
        <p:txBody>
          <a:bodyPr lIns="76200" tIns="76200" rIns="76200" bIns="76200" anchor="ctr">
            <a:normAutofit/>
          </a:bodyPr>
          <a:lstStyle/>
          <a:p>
            <a:pPr algn="ctr">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Train-only</a:t>
            </a:r>
          </a:p>
          <a:p>
            <a:pPr algn="ctr">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fit</a:t>
            </a:r>
          </a:p>
        </p:txBody>
      </p:sp>
      <p:sp>
        <p:nvSpPr>
          <p:cNvPr id="18" name="step-number-4">
            <a:extLst>
              <a:ext uri="{FF2B5EF4-FFF2-40B4-BE49-F238E27FC236}">
                <a16:creationId xmlns:a16="http://schemas.microsoft.com/office/drawing/2014/main" id="{00000001-0012-4000-8000-000000000000}"/>
              </a:ext>
            </a:extLst>
          </p:cNvPr>
          <p:cNvSpPr>
            <a:spLocks noGrp="1"/>
          </p:cNvSpPr>
          <p:nvPr/>
        </p:nvSpPr>
        <p:spPr>
          <a:xfrm>
            <a:off x="8096250" y="2324100"/>
            <a:ext cx="400050" cy="400050"/>
          </a:xfrm>
          <a:prstGeom prst="ellipse">
            <a:avLst/>
          </a:prstGeom>
          <a:solidFill>
            <a:srgbClr val="DCEAE4"/>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00000001-0013-4000-8000-000000000000}"/>
              </a:ext>
            </a:extLst>
          </p:cNvPr>
          <p:cNvSpPr>
            <a:spLocks noGrp="1"/>
          </p:cNvSpPr>
          <p:nvPr/>
        </p:nvSpPr>
        <p:spPr>
          <a:xfrm>
            <a:off x="8096250" y="2324100"/>
            <a:ext cx="400050" cy="400050"/>
          </a:xfrm>
          <a:prstGeom prst="rect">
            <a:avLst/>
          </a:prstGeom>
          <a:noFill/>
          <a:ln w="0">
            <a:noFill/>
            <a:prstDash val="solid"/>
          </a:ln>
        </p:spPr>
        <p:txBody>
          <a:bodyPr wrap="square" lIns="0" tIns="0" rIns="0" bIns="0" anchor="ctr">
            <a:normAutofit/>
          </a:bodyPr>
          <a:lstStyle/>
          <a:p>
            <a:pPr algn="ctr">
              <a:lnSpc>
                <a:spcPct val="100000"/>
              </a:lnSpc>
              <a:buNone/>
              <a:defRPr sz="1650" b="1">
                <a:solidFill>
                  <a:srgbClr val="17343A"/>
                </a:solidFill>
                <a:latin typeface="Aptos Display"/>
                <a:ea typeface="Aptos Display"/>
                <a:cs typeface="Aptos Display"/>
              </a:defRPr>
            </a:pPr>
            <a:r>
              <a:rPr sz="1650" b="1">
                <a:solidFill>
                  <a:srgbClr val="17343A"/>
                </a:solidFill>
                <a:latin typeface="Aptos Display"/>
                <a:ea typeface="Aptos Display"/>
                <a:cs typeface="Aptos Display"/>
              </a:rPr>
              <a:t>4</a:t>
            </a:r>
          </a:p>
        </p:txBody>
      </p:sp>
      <p:sp>
        <p:nvSpPr>
          <p:cNvPr id="20" name="step-5">
            <a:extLst>
              <a:ext uri="{FF2B5EF4-FFF2-40B4-BE49-F238E27FC236}">
                <a16:creationId xmlns:a16="http://schemas.microsoft.com/office/drawing/2014/main" id="{00000001-0014-4000-8000-000000000000}"/>
              </a:ext>
            </a:extLst>
          </p:cNvPr>
          <p:cNvSpPr>
            <a:spLocks noGrp="1"/>
          </p:cNvSpPr>
          <p:nvPr/>
        </p:nvSpPr>
        <p:spPr>
          <a:xfrm>
            <a:off x="9753600" y="2762250"/>
            <a:ext cx="1619250" cy="1162050"/>
          </a:xfrm>
          <a:prstGeom prst="rect">
            <a:avLst/>
          </a:prstGeom>
          <a:solidFill>
            <a:srgbClr val="007C7A"/>
          </a:solidFill>
          <a:ln w="19050">
            <a:solidFill>
              <a:srgbClr val="007C7A"/>
            </a:solidFill>
            <a:prstDash val="solid"/>
          </a:ln>
        </p:spPr>
        <p:txBody>
          <a:bodyPr lIns="76200" tIns="76200" rIns="76200" bIns="76200" anchor="ctr">
            <a:normAutofit/>
          </a:bodyPr>
          <a:lstStyle/>
          <a:p>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Reusable</a:t>
            </a:r>
          </a:p>
          <a:p>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transformations</a:t>
            </a:r>
          </a:p>
        </p:txBody>
      </p:sp>
      <p:sp>
        <p:nvSpPr>
          <p:cNvPr id="21" name="step-number-5">
            <a:extLst>
              <a:ext uri="{FF2B5EF4-FFF2-40B4-BE49-F238E27FC236}">
                <a16:creationId xmlns:a16="http://schemas.microsoft.com/office/drawing/2014/main" id="{00000001-0015-4000-8000-000000000000}"/>
              </a:ext>
            </a:extLst>
          </p:cNvPr>
          <p:cNvSpPr>
            <a:spLocks noGrp="1"/>
          </p:cNvSpPr>
          <p:nvPr/>
        </p:nvSpPr>
        <p:spPr>
          <a:xfrm>
            <a:off x="10363200" y="2324100"/>
            <a:ext cx="400050" cy="400050"/>
          </a:xfrm>
          <a:prstGeom prst="ellipse">
            <a:avLst/>
          </a:prstGeom>
          <a:solidFill>
            <a:srgbClr val="EF6A5B"/>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00000001-0016-4000-8000-000000000000}"/>
              </a:ext>
            </a:extLst>
          </p:cNvPr>
          <p:cNvSpPr>
            <a:spLocks noGrp="1"/>
          </p:cNvSpPr>
          <p:nvPr/>
        </p:nvSpPr>
        <p:spPr>
          <a:xfrm>
            <a:off x="10363200" y="2324100"/>
            <a:ext cx="400050" cy="400050"/>
          </a:xfrm>
          <a:prstGeom prst="rect">
            <a:avLst/>
          </a:prstGeom>
          <a:noFill/>
          <a:ln w="0">
            <a:noFill/>
            <a:prstDash val="solid"/>
          </a:ln>
        </p:spPr>
        <p:txBody>
          <a:bodyPr wrap="square" lIns="0" tIns="0" rIns="0" bIns="0" anchor="ctr">
            <a:normAutofit/>
          </a:bodyPr>
          <a:lstStyle/>
          <a:p>
            <a:pPr algn="ctr">
              <a:lnSpc>
                <a:spcPct val="100000"/>
              </a:lnSpc>
              <a:buNone/>
              <a:defRPr sz="1650" b="1">
                <a:solidFill>
                  <a:srgbClr val="17343A"/>
                </a:solidFill>
                <a:latin typeface="Aptos Display"/>
                <a:ea typeface="Aptos Display"/>
                <a:cs typeface="Aptos Display"/>
              </a:defRPr>
            </a:pPr>
            <a:r>
              <a:rPr sz="1650" b="1">
                <a:solidFill>
                  <a:srgbClr val="17343A"/>
                </a:solidFill>
                <a:latin typeface="Aptos Display"/>
                <a:ea typeface="Aptos Display"/>
                <a:cs typeface="Aptos Display"/>
              </a:rPr>
              <a:t>5</a:t>
            </a:r>
          </a:p>
        </p:txBody>
      </p:sp>
      <p:cxnSp>
        <p:nvCxnSpPr>
          <p:cNvPr id="53" name="Straight Arrow Connector 52"/>
          <p:cNvCxnSpPr>
            <a:stCxn id="8" idx="3"/>
            <a:endCxn id="11" idx="1"/>
          </p:cNvCxnSpPr>
          <p:nvPr/>
        </p:nvCxnSpPr>
        <p:spPr>
          <a:xfrm>
            <a:off x="2305050" y="3343275"/>
            <a:ext cx="647700" cy="0"/>
          </a:xfrm>
          <a:prstGeom prst="straightConnector1">
            <a:avLst/>
          </a:prstGeom>
          <a:ln w="28575">
            <a:solidFill>
              <a:srgbClr val="007C7A"/>
            </a:solidFill>
            <a:prstDash val="solid"/>
            <a:tailEnd type="arrow" w="med" len="med"/>
          </a:ln>
        </p:spPr>
      </p:cxnSp>
      <p:cxnSp>
        <p:nvCxnSpPr>
          <p:cNvPr id="54" name="Straight Arrow Connector 53"/>
          <p:cNvCxnSpPr>
            <a:stCxn id="11" idx="3"/>
            <a:endCxn id="14" idx="1"/>
          </p:cNvCxnSpPr>
          <p:nvPr/>
        </p:nvCxnSpPr>
        <p:spPr>
          <a:xfrm>
            <a:off x="4572000" y="3343275"/>
            <a:ext cx="647700" cy="0"/>
          </a:xfrm>
          <a:prstGeom prst="straightConnector1">
            <a:avLst/>
          </a:prstGeom>
          <a:ln w="28575">
            <a:solidFill>
              <a:srgbClr val="007C7A"/>
            </a:solidFill>
            <a:prstDash val="solid"/>
            <a:tailEnd type="arrow" w="med" len="med"/>
          </a:ln>
        </p:spPr>
      </p:cxnSp>
      <p:cxnSp>
        <p:nvCxnSpPr>
          <p:cNvPr id="55" name="Straight Arrow Connector 54"/>
          <p:cNvCxnSpPr>
            <a:stCxn id="14" idx="3"/>
            <a:endCxn id="17" idx="1"/>
          </p:cNvCxnSpPr>
          <p:nvPr/>
        </p:nvCxnSpPr>
        <p:spPr>
          <a:xfrm>
            <a:off x="6838950" y="3343275"/>
            <a:ext cx="647700" cy="0"/>
          </a:xfrm>
          <a:prstGeom prst="straightConnector1">
            <a:avLst/>
          </a:prstGeom>
          <a:ln w="28575">
            <a:solidFill>
              <a:srgbClr val="007C7A"/>
            </a:solidFill>
            <a:prstDash val="solid"/>
            <a:tailEnd type="arrow" w="med" len="med"/>
          </a:ln>
        </p:spPr>
      </p:cxnSp>
      <p:cxnSp>
        <p:nvCxnSpPr>
          <p:cNvPr id="56" name="Straight Arrow Connector 55"/>
          <p:cNvCxnSpPr>
            <a:stCxn id="17" idx="3"/>
            <a:endCxn id="20" idx="1"/>
          </p:cNvCxnSpPr>
          <p:nvPr/>
        </p:nvCxnSpPr>
        <p:spPr>
          <a:xfrm>
            <a:off x="9105900" y="3343275"/>
            <a:ext cx="647700" cy="0"/>
          </a:xfrm>
          <a:prstGeom prst="straightConnector1">
            <a:avLst/>
          </a:prstGeom>
          <a:ln w="28575">
            <a:solidFill>
              <a:srgbClr val="007C7A"/>
            </a:solidFill>
            <a:prstDash val="solid"/>
            <a:tailEnd type="arrow" w="med" len="med"/>
          </a:ln>
        </p:spPr>
      </p:cxnSp>
      <p:sp>
        <p:nvSpPr>
          <p:cNvPr id="27" name="Rectangle 26">
            <a:extLst>
              <a:ext uri="{FF2B5EF4-FFF2-40B4-BE49-F238E27FC236}">
                <a16:creationId xmlns:a16="http://schemas.microsoft.com/office/drawing/2014/main" id="{00000001-0017-4000-8000-000000000000}"/>
              </a:ext>
            </a:extLst>
          </p:cNvPr>
          <p:cNvSpPr>
            <a:spLocks noGrp="1"/>
          </p:cNvSpPr>
          <p:nvPr/>
        </p:nvSpPr>
        <p:spPr>
          <a:xfrm>
            <a:off x="685800" y="4152900"/>
            <a:ext cx="1619250" cy="285750"/>
          </a:xfrm>
          <a:prstGeom prst="rect">
            <a:avLst/>
          </a:prstGeom>
          <a:noFill/>
          <a:ln w="0">
            <a:noFill/>
            <a:prstDash val="solid"/>
          </a:ln>
        </p:spPr>
        <p:txBody>
          <a:bodyPr wrap="square" lIns="0" tIns="0" rIns="0" bIns="0" anchor="ctr">
            <a:normAutofit/>
          </a:bodyPr>
          <a:lstStyle/>
          <a:p>
            <a:pPr algn="ctr">
              <a:lnSpc>
                <a:spcPct val="100000"/>
              </a:lnSpc>
              <a:buNone/>
              <a:defRPr sz="1500" b="0">
                <a:solidFill>
                  <a:srgbClr val="5E6F72"/>
                </a:solidFill>
                <a:latin typeface="Aptos"/>
                <a:ea typeface="Aptos"/>
                <a:cs typeface="Aptos"/>
              </a:defRPr>
            </a:pPr>
            <a:r>
              <a:rPr sz="1500" b="0">
                <a:solidFill>
                  <a:srgbClr val="5E6F72"/>
                </a:solidFill>
                <a:latin typeface="Aptos"/>
                <a:ea typeface="Aptos"/>
                <a:cs typeface="Aptos"/>
              </a:rPr>
              <a:t>raw rows</a:t>
            </a:r>
          </a:p>
        </p:txBody>
      </p:sp>
      <p:sp>
        <p:nvSpPr>
          <p:cNvPr id="28" name="Rectangle 27">
            <a:extLst>
              <a:ext uri="{FF2B5EF4-FFF2-40B4-BE49-F238E27FC236}">
                <a16:creationId xmlns:a16="http://schemas.microsoft.com/office/drawing/2014/main" id="{00000001-0018-4000-8000-000000000000}"/>
              </a:ext>
            </a:extLst>
          </p:cNvPr>
          <p:cNvSpPr>
            <a:spLocks noGrp="1"/>
          </p:cNvSpPr>
          <p:nvPr/>
        </p:nvSpPr>
        <p:spPr>
          <a:xfrm>
            <a:off x="9753600" y="4152900"/>
            <a:ext cx="1619250" cy="285750"/>
          </a:xfrm>
          <a:prstGeom prst="rect">
            <a:avLst/>
          </a:prstGeom>
          <a:noFill/>
          <a:ln w="0">
            <a:noFill/>
            <a:prstDash val="solid"/>
          </a:ln>
        </p:spPr>
        <p:txBody>
          <a:bodyPr wrap="square" lIns="0" tIns="0" rIns="0" bIns="0" anchor="ctr">
            <a:normAutofit fontScale="84762" lnSpcReduction="10000"/>
          </a:bodyPr>
          <a:lstStyle/>
          <a:p>
            <a:pPr algn="ctr">
              <a:lnSpc>
                <a:spcPct val="100000"/>
              </a:lnSpc>
              <a:buNone/>
              <a:defRPr sz="1500" b="1">
                <a:solidFill>
                  <a:srgbClr val="007C7A"/>
                </a:solidFill>
                <a:latin typeface="Aptos Display"/>
                <a:ea typeface="Aptos Display"/>
                <a:cs typeface="Aptos Display"/>
              </a:defRPr>
            </a:pPr>
            <a:r>
              <a:rPr sz="1500" b="1">
                <a:solidFill>
                  <a:srgbClr val="007C7A"/>
                </a:solidFill>
                <a:latin typeface="Aptos Display"/>
                <a:ea typeface="Aptos Display"/>
                <a:cs typeface="Aptos Display"/>
              </a:rPr>
              <a:t>model-ready features</a:t>
            </a:r>
          </a:p>
        </p:txBody>
      </p:sp>
      <p:sp>
        <p:nvSpPr>
          <p:cNvPr id="29" name="Rectangle 28">
            <a:extLst>
              <a:ext uri="{FF2B5EF4-FFF2-40B4-BE49-F238E27FC236}">
                <a16:creationId xmlns:a16="http://schemas.microsoft.com/office/drawing/2014/main" id="{00000001-0019-4000-8000-000000000000}"/>
              </a:ext>
            </a:extLst>
          </p:cNvPr>
          <p:cNvSpPr>
            <a:spLocks noGrp="1"/>
          </p:cNvSpPr>
          <p:nvPr/>
        </p:nvSpPr>
        <p:spPr>
          <a:xfrm>
            <a:off x="685800" y="4781550"/>
            <a:ext cx="10687050" cy="19050"/>
          </a:xfrm>
          <a:prstGeom prst="rect">
            <a:avLst/>
          </a:prstGeom>
          <a:solidFill>
            <a:srgbClr val="EEE9DE"/>
          </a:solidFill>
          <a:ln w="0">
            <a:solidFill>
              <a:srgbClr val="EEE9DE"/>
            </a:solidFill>
            <a:prstDash val="solid"/>
          </a:ln>
        </p:spPr>
        <p:txBody>
          <a:bodyPr/>
          <a:lstStyle/>
          <a:p>
            <a:endParaRPr lang="en-US"/>
          </a:p>
        </p:txBody>
      </p:sp>
      <p:sp>
        <p:nvSpPr>
          <p:cNvPr id="30" name="Rectangle 29">
            <a:extLst>
              <a:ext uri="{FF2B5EF4-FFF2-40B4-BE49-F238E27FC236}">
                <a16:creationId xmlns:a16="http://schemas.microsoft.com/office/drawing/2014/main" id="{00000001-001A-4000-8000-000000000000}"/>
              </a:ext>
            </a:extLst>
          </p:cNvPr>
          <p:cNvSpPr>
            <a:spLocks noGrp="1"/>
          </p:cNvSpPr>
          <p:nvPr/>
        </p:nvSpPr>
        <p:spPr>
          <a:xfrm>
            <a:off x="1123950" y="5048250"/>
            <a:ext cx="9810750" cy="514350"/>
          </a:xfrm>
          <a:prstGeom prst="rect">
            <a:avLst/>
          </a:prstGeom>
          <a:noFill/>
          <a:ln w="0">
            <a:noFill/>
            <a:prstDash val="solid"/>
          </a:ln>
        </p:spPr>
        <p:txBody>
          <a:bodyPr wrap="square" lIns="0" tIns="0" rIns="0" bIns="0" anchor="ctr">
            <a:normAutofit fontScale="94738"/>
          </a:bodyPr>
          <a:lstStyle/>
          <a:p>
            <a:pPr algn="ctr">
              <a:lnSpc>
                <a:spcPct val="100000"/>
              </a:lnSpc>
              <a:buNone/>
              <a:defRPr sz="2250" b="1">
                <a:solidFill>
                  <a:srgbClr val="EF6A5B"/>
                </a:solidFill>
                <a:latin typeface="Aptos Display"/>
                <a:ea typeface="Aptos Display"/>
                <a:cs typeface="Aptos Display"/>
              </a:defRPr>
            </a:pPr>
            <a:r>
              <a:rPr sz="2250" b="1">
                <a:solidFill>
                  <a:srgbClr val="EF6A5B"/>
                </a:solidFill>
                <a:latin typeface="Aptos Display"/>
                <a:ea typeface="Aptos Display"/>
                <a:cs typeface="Aptos Display"/>
              </a:rPr>
              <a:t>Ask first: what could go wrong before fitting a single algorithm?</a:t>
            </a:r>
          </a:p>
        </p:txBody>
      </p:sp>
    </p:spTree>
    <p:extLst>
      <p:ext uri="{BB962C8B-B14F-4D97-AF65-F5344CB8AC3E}">
        <p14:creationId xmlns:p14="http://schemas.microsoft.com/office/powerpoint/2010/main" val="100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00000002-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a:solidFill>
                  <a:srgbClr val="007C7A"/>
                </a:solidFill>
                <a:latin typeface="Aptos Display"/>
                <a:ea typeface="Aptos Display"/>
                <a:cs typeface="Aptos Display"/>
              </a:rPr>
              <a:t>LEARNING OUTCOME</a:t>
            </a:r>
          </a:p>
        </p:txBody>
      </p:sp>
      <p:sp>
        <p:nvSpPr>
          <p:cNvPr id="3" name="Rectangle 2">
            <a:extLst>
              <a:ext uri="{FF2B5EF4-FFF2-40B4-BE49-F238E27FC236}">
                <a16:creationId xmlns:a16="http://schemas.microsoft.com/office/drawing/2014/main" id="{00000002-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LO2 and the route through today’s lab</a:t>
            </a:r>
          </a:p>
        </p:txBody>
      </p:sp>
      <p:sp>
        <p:nvSpPr>
          <p:cNvPr id="4" name="Rectangle 3">
            <a:extLst>
              <a:ext uri="{FF2B5EF4-FFF2-40B4-BE49-F238E27FC236}">
                <a16:creationId xmlns:a16="http://schemas.microsoft.com/office/drawing/2014/main" id="{00000002-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fontScale="99609"/>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5–15 min</a:t>
            </a:r>
          </a:p>
        </p:txBody>
      </p:sp>
      <p:sp>
        <p:nvSpPr>
          <p:cNvPr id="5" name="Rectangle 4">
            <a:extLst>
              <a:ext uri="{FF2B5EF4-FFF2-40B4-BE49-F238E27FC236}">
                <a16:creationId xmlns:a16="http://schemas.microsoft.com/office/drawing/2014/main" id="{00000002-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02-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02</a:t>
            </a:r>
          </a:p>
        </p:txBody>
      </p:sp>
      <p:sp>
        <p:nvSpPr>
          <p:cNvPr id="7" name="Rectangle 6">
            <a:extLst>
              <a:ext uri="{FF2B5EF4-FFF2-40B4-BE49-F238E27FC236}">
                <a16:creationId xmlns:a16="http://schemas.microsoft.com/office/drawing/2014/main" id="{00000002-0007-4000-8000-000000000000}"/>
              </a:ext>
            </a:extLst>
          </p:cNvPr>
          <p:cNvSpPr>
            <a:spLocks noGrp="1"/>
          </p:cNvSpPr>
          <p:nvPr/>
        </p:nvSpPr>
        <p:spPr>
          <a:xfrm>
            <a:off x="742950" y="1752600"/>
            <a:ext cx="2381250" cy="876300"/>
          </a:xfrm>
          <a:prstGeom prst="rect">
            <a:avLst/>
          </a:prstGeom>
          <a:noFill/>
          <a:ln w="0">
            <a:noFill/>
            <a:prstDash val="solid"/>
          </a:ln>
        </p:spPr>
        <p:txBody>
          <a:bodyPr wrap="square" lIns="0" tIns="0" rIns="0" bIns="0" anchor="ctr">
            <a:normAutofit/>
          </a:bodyPr>
          <a:lstStyle/>
          <a:p>
            <a:pPr algn="l">
              <a:lnSpc>
                <a:spcPct val="100000"/>
              </a:lnSpc>
              <a:buNone/>
              <a:defRPr sz="5700" b="1">
                <a:solidFill>
                  <a:srgbClr val="007C7A"/>
                </a:solidFill>
                <a:latin typeface="Aptos Display"/>
                <a:ea typeface="Aptos Display"/>
                <a:cs typeface="Aptos Display"/>
              </a:defRPr>
            </a:pPr>
            <a:r>
              <a:rPr sz="5700" b="1">
                <a:solidFill>
                  <a:srgbClr val="007C7A"/>
                </a:solidFill>
                <a:latin typeface="Aptos Display"/>
                <a:ea typeface="Aptos Display"/>
                <a:cs typeface="Aptos Display"/>
              </a:rPr>
              <a:t>LO2</a:t>
            </a:r>
          </a:p>
        </p:txBody>
      </p:sp>
      <p:sp>
        <p:nvSpPr>
          <p:cNvPr id="8" name="Rectangle 7">
            <a:extLst>
              <a:ext uri="{FF2B5EF4-FFF2-40B4-BE49-F238E27FC236}">
                <a16:creationId xmlns:a16="http://schemas.microsoft.com/office/drawing/2014/main" id="{00000002-0008-4000-8000-000000000000}"/>
              </a:ext>
            </a:extLst>
          </p:cNvPr>
          <p:cNvSpPr>
            <a:spLocks noGrp="1"/>
          </p:cNvSpPr>
          <p:nvPr/>
        </p:nvSpPr>
        <p:spPr>
          <a:xfrm>
            <a:off x="742950" y="2667000"/>
            <a:ext cx="3905250" cy="1428750"/>
          </a:xfrm>
          <a:prstGeom prst="rect">
            <a:avLst/>
          </a:prstGeom>
          <a:noFill/>
          <a:ln w="0">
            <a:noFill/>
            <a:prstDash val="solid"/>
          </a:ln>
        </p:spPr>
        <p:txBody>
          <a:bodyPr wrap="square" lIns="0" tIns="0" rIns="0" bIns="0" anchor="ctr">
            <a:normAutofit fontScale="89737"/>
          </a:bodyPr>
          <a:lstStyle/>
          <a:p>
            <a:pPr algn="l">
              <a:lnSpc>
                <a:spcPct val="100000"/>
              </a:lnSpc>
              <a:buNone/>
              <a:defRPr sz="2850" b="1">
                <a:solidFill>
                  <a:srgbClr val="17343A"/>
                </a:solidFill>
                <a:latin typeface="Aptos Display"/>
                <a:ea typeface="Aptos Display"/>
                <a:cs typeface="Aptos Display"/>
              </a:defRPr>
            </a:pPr>
            <a:r>
              <a:rPr sz="2850" b="1">
                <a:solidFill>
                  <a:srgbClr val="17343A"/>
                </a:solidFill>
                <a:latin typeface="Aptos Display"/>
                <a:ea typeface="Aptos Display"/>
                <a:cs typeface="Aptos Display"/>
              </a:rPr>
              <a:t>Prepare data for modelling with a defensible, reusable process.</a:t>
            </a:r>
          </a:p>
        </p:txBody>
      </p:sp>
      <p:sp>
        <p:nvSpPr>
          <p:cNvPr id="9" name="Rectangle 8">
            <a:extLst>
              <a:ext uri="{FF2B5EF4-FFF2-40B4-BE49-F238E27FC236}">
                <a16:creationId xmlns:a16="http://schemas.microsoft.com/office/drawing/2014/main" id="{00000002-0009-4000-8000-000000000000}"/>
              </a:ext>
            </a:extLst>
          </p:cNvPr>
          <p:cNvSpPr>
            <a:spLocks noGrp="1"/>
          </p:cNvSpPr>
          <p:nvPr/>
        </p:nvSpPr>
        <p:spPr>
          <a:xfrm>
            <a:off x="742950" y="4305300"/>
            <a:ext cx="3714750" cy="857250"/>
          </a:xfrm>
          <a:prstGeom prst="rect">
            <a:avLst/>
          </a:prstGeom>
          <a:noFill/>
          <a:ln w="0">
            <a:noFill/>
            <a:prstDash val="solid"/>
          </a:ln>
        </p:spPr>
        <p:txBody>
          <a:bodyPr wrap="square" lIns="0" tIns="0" rIns="0" bIns="0" anchor="ctr">
            <a:normAutofit fontScale="96154"/>
          </a:bodyPr>
          <a:lstStyle/>
          <a:p>
            <a:pPr algn="l">
              <a:lnSpc>
                <a:spcPct val="100000"/>
              </a:lnSpc>
              <a:buNone/>
              <a:defRPr sz="1950" b="0">
                <a:solidFill>
                  <a:srgbClr val="5E6F72"/>
                </a:solidFill>
                <a:latin typeface="Aptos"/>
                <a:ea typeface="Aptos"/>
                <a:cs typeface="Aptos"/>
              </a:defRPr>
            </a:pPr>
            <a:r>
              <a:rPr sz="1950" b="0">
                <a:solidFill>
                  <a:srgbClr val="5E6F72"/>
                </a:solidFill>
                <a:latin typeface="Aptos"/>
                <a:ea typeface="Aptos"/>
                <a:cs typeface="Aptos"/>
              </a:rPr>
              <a:t>Leave with a documented policy and a train-fitted transformer.</a:t>
            </a:r>
          </a:p>
        </p:txBody>
      </p:sp>
      <p:sp>
        <p:nvSpPr>
          <p:cNvPr id="10" name="Rectangle 9">
            <a:extLst>
              <a:ext uri="{FF2B5EF4-FFF2-40B4-BE49-F238E27FC236}">
                <a16:creationId xmlns:a16="http://schemas.microsoft.com/office/drawing/2014/main" id="{00000002-000A-4000-8000-000000000000}"/>
              </a:ext>
            </a:extLst>
          </p:cNvPr>
          <p:cNvSpPr>
            <a:spLocks noGrp="1"/>
          </p:cNvSpPr>
          <p:nvPr/>
        </p:nvSpPr>
        <p:spPr>
          <a:xfrm>
            <a:off x="5257800" y="1695450"/>
            <a:ext cx="28575" cy="3714750"/>
          </a:xfrm>
          <a:prstGeom prst="rect">
            <a:avLst/>
          </a:prstGeom>
          <a:solidFill>
            <a:srgbClr val="DCEAE4"/>
          </a:solidFill>
          <a:ln w="0">
            <a:solidFill>
              <a:srgbClr val="DCEAE4"/>
            </a:solidFill>
            <a:prstDash val="solid"/>
          </a:ln>
        </p:spPr>
        <p:txBody>
          <a:bodyPr/>
          <a:lstStyle/>
          <a:p>
            <a:endParaRPr lang="en-US"/>
          </a:p>
        </p:txBody>
      </p:sp>
      <p:sp>
        <p:nvSpPr>
          <p:cNvPr id="11" name="route-dot-1">
            <a:extLst>
              <a:ext uri="{FF2B5EF4-FFF2-40B4-BE49-F238E27FC236}">
                <a16:creationId xmlns:a16="http://schemas.microsoft.com/office/drawing/2014/main" id="{00000002-000B-4000-8000-000000000000}"/>
              </a:ext>
            </a:extLst>
          </p:cNvPr>
          <p:cNvSpPr>
            <a:spLocks noGrp="1"/>
          </p:cNvSpPr>
          <p:nvPr/>
        </p:nvSpPr>
        <p:spPr>
          <a:xfrm>
            <a:off x="5095875" y="1847850"/>
            <a:ext cx="342900" cy="342900"/>
          </a:xfrm>
          <a:prstGeom prst="ellipse">
            <a:avLst/>
          </a:prstGeom>
          <a:solidFill>
            <a:srgbClr val="007C7A"/>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00000002-000C-4000-8000-000000000000}"/>
              </a:ext>
            </a:extLst>
          </p:cNvPr>
          <p:cNvSpPr>
            <a:spLocks noGrp="1"/>
          </p:cNvSpPr>
          <p:nvPr/>
        </p:nvSpPr>
        <p:spPr>
          <a:xfrm>
            <a:off x="5095875" y="1847850"/>
            <a:ext cx="342900" cy="342900"/>
          </a:xfrm>
          <a:prstGeom prst="rect">
            <a:avLst/>
          </a:prstGeom>
          <a:noFill/>
          <a:ln w="0">
            <a:noFill/>
            <a:prstDash val="solid"/>
          </a:ln>
        </p:spPr>
        <p:txBody>
          <a:bodyPr wrap="square" lIns="0" tIns="0" rIns="0" bIns="0" anchor="ctr">
            <a:normAutofit/>
          </a:bodyPr>
          <a:lstStyle/>
          <a:p>
            <a:pPr algn="ctr">
              <a:lnSpc>
                <a:spcPct val="100000"/>
              </a:lnSpc>
              <a:buNone/>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1</a:t>
            </a:r>
          </a:p>
        </p:txBody>
      </p:sp>
      <p:sp>
        <p:nvSpPr>
          <p:cNvPr id="13" name="Rectangle 12">
            <a:extLst>
              <a:ext uri="{FF2B5EF4-FFF2-40B4-BE49-F238E27FC236}">
                <a16:creationId xmlns:a16="http://schemas.microsoft.com/office/drawing/2014/main" id="{00000002-000D-4000-8000-000000000000}"/>
              </a:ext>
            </a:extLst>
          </p:cNvPr>
          <p:cNvSpPr>
            <a:spLocks noGrp="1"/>
          </p:cNvSpPr>
          <p:nvPr/>
        </p:nvSpPr>
        <p:spPr>
          <a:xfrm>
            <a:off x="5676900" y="1714500"/>
            <a:ext cx="5238750" cy="609600"/>
          </a:xfrm>
          <a:prstGeom prst="rect">
            <a:avLst/>
          </a:prstGeom>
          <a:noFill/>
          <a:ln w="0">
            <a:noFill/>
            <a:prstDash val="solid"/>
          </a:ln>
        </p:spPr>
        <p:txBody>
          <a:bodyPr wrap="square" lIns="0" tIns="0" rIns="0" bIns="0" anchor="ctr">
            <a:normAutofit/>
          </a:bodyPr>
          <a:lstStyle/>
          <a:p>
            <a:pPr algn="l">
              <a:lnSpc>
                <a:spcPct val="100000"/>
              </a:lnSpc>
              <a:buNone/>
              <a:defRPr sz="2400" b="0">
                <a:solidFill>
                  <a:srgbClr val="17343A"/>
                </a:solidFill>
                <a:latin typeface="Aptos"/>
                <a:ea typeface="Aptos"/>
                <a:cs typeface="Aptos"/>
              </a:defRPr>
            </a:pPr>
            <a:r>
              <a:rPr sz="2400" b="0">
                <a:solidFill>
                  <a:srgbClr val="17343A"/>
                </a:solidFill>
                <a:latin typeface="Aptos"/>
                <a:ea typeface="Aptos"/>
                <a:cs typeface="Aptos"/>
              </a:rPr>
              <a:t>Cleaning</a:t>
            </a:r>
          </a:p>
        </p:txBody>
      </p:sp>
      <p:sp>
        <p:nvSpPr>
          <p:cNvPr id="14" name="Rectangle 13">
            <a:extLst>
              <a:ext uri="{FF2B5EF4-FFF2-40B4-BE49-F238E27FC236}">
                <a16:creationId xmlns:a16="http://schemas.microsoft.com/office/drawing/2014/main" id="{00000002-000E-4000-8000-000000000000}"/>
              </a:ext>
            </a:extLst>
          </p:cNvPr>
          <p:cNvSpPr>
            <a:spLocks noGrp="1"/>
          </p:cNvSpPr>
          <p:nvPr/>
        </p:nvSpPr>
        <p:spPr>
          <a:xfrm>
            <a:off x="5257800" y="2190750"/>
            <a:ext cx="28575" cy="438150"/>
          </a:xfrm>
          <a:prstGeom prst="rect">
            <a:avLst/>
          </a:prstGeom>
          <a:solidFill>
            <a:srgbClr val="DCEAE4"/>
          </a:solidFill>
          <a:ln w="0">
            <a:solidFill>
              <a:srgbClr val="DCEAE4"/>
            </a:solidFill>
            <a:prstDash val="solid"/>
          </a:ln>
        </p:spPr>
        <p:txBody>
          <a:bodyPr/>
          <a:lstStyle/>
          <a:p>
            <a:endParaRPr lang="en-US"/>
          </a:p>
        </p:txBody>
      </p:sp>
      <p:sp>
        <p:nvSpPr>
          <p:cNvPr id="15" name="route-dot-2">
            <a:extLst>
              <a:ext uri="{FF2B5EF4-FFF2-40B4-BE49-F238E27FC236}">
                <a16:creationId xmlns:a16="http://schemas.microsoft.com/office/drawing/2014/main" id="{00000002-000F-4000-8000-000000000000}"/>
              </a:ext>
            </a:extLst>
          </p:cNvPr>
          <p:cNvSpPr>
            <a:spLocks noGrp="1"/>
          </p:cNvSpPr>
          <p:nvPr/>
        </p:nvSpPr>
        <p:spPr>
          <a:xfrm>
            <a:off x="5095875" y="2628900"/>
            <a:ext cx="342900" cy="342900"/>
          </a:xfrm>
          <a:prstGeom prst="ellipse">
            <a:avLst/>
          </a:prstGeom>
          <a:solidFill>
            <a:srgbClr val="007C7A"/>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00000002-0010-4000-8000-000000000000}"/>
              </a:ext>
            </a:extLst>
          </p:cNvPr>
          <p:cNvSpPr>
            <a:spLocks noGrp="1"/>
          </p:cNvSpPr>
          <p:nvPr/>
        </p:nvSpPr>
        <p:spPr>
          <a:xfrm>
            <a:off x="5095875" y="2628900"/>
            <a:ext cx="342900" cy="342900"/>
          </a:xfrm>
          <a:prstGeom prst="rect">
            <a:avLst/>
          </a:prstGeom>
          <a:noFill/>
          <a:ln w="0">
            <a:noFill/>
            <a:prstDash val="solid"/>
          </a:ln>
        </p:spPr>
        <p:txBody>
          <a:bodyPr wrap="square" lIns="0" tIns="0" rIns="0" bIns="0" anchor="ctr">
            <a:normAutofit/>
          </a:bodyPr>
          <a:lstStyle/>
          <a:p>
            <a:pPr algn="ctr">
              <a:lnSpc>
                <a:spcPct val="100000"/>
              </a:lnSpc>
              <a:buNone/>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2</a:t>
            </a:r>
          </a:p>
        </p:txBody>
      </p:sp>
      <p:sp>
        <p:nvSpPr>
          <p:cNvPr id="17" name="Rectangle 16">
            <a:extLst>
              <a:ext uri="{FF2B5EF4-FFF2-40B4-BE49-F238E27FC236}">
                <a16:creationId xmlns:a16="http://schemas.microsoft.com/office/drawing/2014/main" id="{00000002-0011-4000-8000-000000000000}"/>
              </a:ext>
            </a:extLst>
          </p:cNvPr>
          <p:cNvSpPr>
            <a:spLocks noGrp="1"/>
          </p:cNvSpPr>
          <p:nvPr/>
        </p:nvSpPr>
        <p:spPr>
          <a:xfrm>
            <a:off x="5676900" y="2495550"/>
            <a:ext cx="5238750" cy="609600"/>
          </a:xfrm>
          <a:prstGeom prst="rect">
            <a:avLst/>
          </a:prstGeom>
          <a:noFill/>
          <a:ln w="0">
            <a:noFill/>
            <a:prstDash val="solid"/>
          </a:ln>
        </p:spPr>
        <p:txBody>
          <a:bodyPr wrap="square" lIns="0" tIns="0" rIns="0" bIns="0" anchor="ctr">
            <a:normAutofit/>
          </a:bodyPr>
          <a:lstStyle/>
          <a:p>
            <a:pPr algn="l">
              <a:lnSpc>
                <a:spcPct val="100000"/>
              </a:lnSpc>
              <a:buNone/>
              <a:defRPr sz="2400" b="0">
                <a:solidFill>
                  <a:srgbClr val="17343A"/>
                </a:solidFill>
                <a:latin typeface="Aptos"/>
                <a:ea typeface="Aptos"/>
                <a:cs typeface="Aptos"/>
              </a:defRPr>
            </a:pPr>
            <a:r>
              <a:rPr sz="2400" b="0">
                <a:solidFill>
                  <a:srgbClr val="17343A"/>
                </a:solidFill>
                <a:latin typeface="Aptos"/>
                <a:ea typeface="Aptos"/>
                <a:cs typeface="Aptos"/>
              </a:rPr>
              <a:t>Feature engineering</a:t>
            </a:r>
          </a:p>
        </p:txBody>
      </p:sp>
      <p:sp>
        <p:nvSpPr>
          <p:cNvPr id="18" name="Rectangle 17">
            <a:extLst>
              <a:ext uri="{FF2B5EF4-FFF2-40B4-BE49-F238E27FC236}">
                <a16:creationId xmlns:a16="http://schemas.microsoft.com/office/drawing/2014/main" id="{00000002-0012-4000-8000-000000000000}"/>
              </a:ext>
            </a:extLst>
          </p:cNvPr>
          <p:cNvSpPr>
            <a:spLocks noGrp="1"/>
          </p:cNvSpPr>
          <p:nvPr/>
        </p:nvSpPr>
        <p:spPr>
          <a:xfrm>
            <a:off x="5257800" y="2971800"/>
            <a:ext cx="28575" cy="438150"/>
          </a:xfrm>
          <a:prstGeom prst="rect">
            <a:avLst/>
          </a:prstGeom>
          <a:solidFill>
            <a:srgbClr val="DCEAE4"/>
          </a:solidFill>
          <a:ln w="0">
            <a:solidFill>
              <a:srgbClr val="DCEAE4"/>
            </a:solidFill>
            <a:prstDash val="solid"/>
          </a:ln>
        </p:spPr>
        <p:txBody>
          <a:bodyPr/>
          <a:lstStyle/>
          <a:p>
            <a:endParaRPr lang="en-US"/>
          </a:p>
        </p:txBody>
      </p:sp>
      <p:sp>
        <p:nvSpPr>
          <p:cNvPr id="19" name="route-dot-3">
            <a:extLst>
              <a:ext uri="{FF2B5EF4-FFF2-40B4-BE49-F238E27FC236}">
                <a16:creationId xmlns:a16="http://schemas.microsoft.com/office/drawing/2014/main" id="{00000002-0013-4000-8000-000000000000}"/>
              </a:ext>
            </a:extLst>
          </p:cNvPr>
          <p:cNvSpPr>
            <a:spLocks noGrp="1"/>
          </p:cNvSpPr>
          <p:nvPr/>
        </p:nvSpPr>
        <p:spPr>
          <a:xfrm>
            <a:off x="5095875" y="3409950"/>
            <a:ext cx="342900" cy="342900"/>
          </a:xfrm>
          <a:prstGeom prst="ellipse">
            <a:avLst/>
          </a:prstGeom>
          <a:solidFill>
            <a:srgbClr val="007C7A"/>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00000002-0014-4000-8000-000000000000}"/>
              </a:ext>
            </a:extLst>
          </p:cNvPr>
          <p:cNvSpPr>
            <a:spLocks noGrp="1"/>
          </p:cNvSpPr>
          <p:nvPr/>
        </p:nvSpPr>
        <p:spPr>
          <a:xfrm>
            <a:off x="5095875" y="3409950"/>
            <a:ext cx="342900" cy="342900"/>
          </a:xfrm>
          <a:prstGeom prst="rect">
            <a:avLst/>
          </a:prstGeom>
          <a:noFill/>
          <a:ln w="0">
            <a:noFill/>
            <a:prstDash val="solid"/>
          </a:ln>
        </p:spPr>
        <p:txBody>
          <a:bodyPr wrap="square" lIns="0" tIns="0" rIns="0" bIns="0" anchor="ctr">
            <a:normAutofit/>
          </a:bodyPr>
          <a:lstStyle/>
          <a:p>
            <a:pPr algn="ctr">
              <a:lnSpc>
                <a:spcPct val="100000"/>
              </a:lnSpc>
              <a:buNone/>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3</a:t>
            </a:r>
          </a:p>
        </p:txBody>
      </p:sp>
      <p:sp>
        <p:nvSpPr>
          <p:cNvPr id="21" name="Rectangle 20">
            <a:extLst>
              <a:ext uri="{FF2B5EF4-FFF2-40B4-BE49-F238E27FC236}">
                <a16:creationId xmlns:a16="http://schemas.microsoft.com/office/drawing/2014/main" id="{00000002-0015-4000-8000-000000000000}"/>
              </a:ext>
            </a:extLst>
          </p:cNvPr>
          <p:cNvSpPr>
            <a:spLocks noGrp="1"/>
          </p:cNvSpPr>
          <p:nvPr/>
        </p:nvSpPr>
        <p:spPr>
          <a:xfrm>
            <a:off x="5676900" y="3276600"/>
            <a:ext cx="5238750" cy="609600"/>
          </a:xfrm>
          <a:prstGeom prst="rect">
            <a:avLst/>
          </a:prstGeom>
          <a:noFill/>
          <a:ln w="0">
            <a:noFill/>
            <a:prstDash val="solid"/>
          </a:ln>
        </p:spPr>
        <p:txBody>
          <a:bodyPr wrap="square" lIns="0" tIns="0" rIns="0" bIns="0" anchor="ctr">
            <a:normAutofit/>
          </a:bodyPr>
          <a:lstStyle/>
          <a:p>
            <a:pPr algn="l">
              <a:lnSpc>
                <a:spcPct val="100000"/>
              </a:lnSpc>
              <a:buNone/>
              <a:defRPr sz="2400" b="0">
                <a:solidFill>
                  <a:srgbClr val="17343A"/>
                </a:solidFill>
                <a:latin typeface="Aptos"/>
                <a:ea typeface="Aptos"/>
                <a:cs typeface="Aptos"/>
              </a:defRPr>
            </a:pPr>
            <a:r>
              <a:rPr sz="2400" b="0">
                <a:solidFill>
                  <a:srgbClr val="17343A"/>
                </a:solidFill>
                <a:latin typeface="Aptos"/>
                <a:ea typeface="Aptos"/>
                <a:cs typeface="Aptos"/>
              </a:rPr>
              <a:t>Scaling</a:t>
            </a:r>
          </a:p>
        </p:txBody>
      </p:sp>
      <p:sp>
        <p:nvSpPr>
          <p:cNvPr id="22" name="Rectangle 21">
            <a:extLst>
              <a:ext uri="{FF2B5EF4-FFF2-40B4-BE49-F238E27FC236}">
                <a16:creationId xmlns:a16="http://schemas.microsoft.com/office/drawing/2014/main" id="{00000002-0016-4000-8000-000000000000}"/>
              </a:ext>
            </a:extLst>
          </p:cNvPr>
          <p:cNvSpPr>
            <a:spLocks noGrp="1"/>
          </p:cNvSpPr>
          <p:nvPr/>
        </p:nvSpPr>
        <p:spPr>
          <a:xfrm>
            <a:off x="5257800" y="3752850"/>
            <a:ext cx="28575" cy="438150"/>
          </a:xfrm>
          <a:prstGeom prst="rect">
            <a:avLst/>
          </a:prstGeom>
          <a:solidFill>
            <a:srgbClr val="DCEAE4"/>
          </a:solidFill>
          <a:ln w="0">
            <a:solidFill>
              <a:srgbClr val="DCEAE4"/>
            </a:solidFill>
            <a:prstDash val="solid"/>
          </a:ln>
        </p:spPr>
        <p:txBody>
          <a:bodyPr/>
          <a:lstStyle/>
          <a:p>
            <a:endParaRPr lang="en-US"/>
          </a:p>
        </p:txBody>
      </p:sp>
      <p:sp>
        <p:nvSpPr>
          <p:cNvPr id="23" name="route-dot-4">
            <a:extLst>
              <a:ext uri="{FF2B5EF4-FFF2-40B4-BE49-F238E27FC236}">
                <a16:creationId xmlns:a16="http://schemas.microsoft.com/office/drawing/2014/main" id="{00000002-0017-4000-8000-000000000000}"/>
              </a:ext>
            </a:extLst>
          </p:cNvPr>
          <p:cNvSpPr>
            <a:spLocks noGrp="1"/>
          </p:cNvSpPr>
          <p:nvPr/>
        </p:nvSpPr>
        <p:spPr>
          <a:xfrm>
            <a:off x="5095875" y="4191000"/>
            <a:ext cx="342900" cy="342900"/>
          </a:xfrm>
          <a:prstGeom prst="ellipse">
            <a:avLst/>
          </a:prstGeom>
          <a:solidFill>
            <a:srgbClr val="007C7A"/>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00000002-0018-4000-8000-000000000000}"/>
              </a:ext>
            </a:extLst>
          </p:cNvPr>
          <p:cNvSpPr>
            <a:spLocks noGrp="1"/>
          </p:cNvSpPr>
          <p:nvPr/>
        </p:nvSpPr>
        <p:spPr>
          <a:xfrm>
            <a:off x="5095875" y="4191000"/>
            <a:ext cx="342900" cy="342900"/>
          </a:xfrm>
          <a:prstGeom prst="rect">
            <a:avLst/>
          </a:prstGeom>
          <a:noFill/>
          <a:ln w="0">
            <a:noFill/>
            <a:prstDash val="solid"/>
          </a:ln>
        </p:spPr>
        <p:txBody>
          <a:bodyPr wrap="square" lIns="0" tIns="0" rIns="0" bIns="0" anchor="ctr">
            <a:normAutofit/>
          </a:bodyPr>
          <a:lstStyle/>
          <a:p>
            <a:pPr algn="ctr">
              <a:lnSpc>
                <a:spcPct val="100000"/>
              </a:lnSpc>
              <a:buNone/>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4</a:t>
            </a:r>
          </a:p>
        </p:txBody>
      </p:sp>
      <p:sp>
        <p:nvSpPr>
          <p:cNvPr id="25" name="Rectangle 24">
            <a:extLst>
              <a:ext uri="{FF2B5EF4-FFF2-40B4-BE49-F238E27FC236}">
                <a16:creationId xmlns:a16="http://schemas.microsoft.com/office/drawing/2014/main" id="{00000002-0019-4000-8000-000000000000}"/>
              </a:ext>
            </a:extLst>
          </p:cNvPr>
          <p:cNvSpPr>
            <a:spLocks noGrp="1"/>
          </p:cNvSpPr>
          <p:nvPr/>
        </p:nvSpPr>
        <p:spPr>
          <a:xfrm>
            <a:off x="5676900" y="4057650"/>
            <a:ext cx="5238750" cy="609600"/>
          </a:xfrm>
          <a:prstGeom prst="rect">
            <a:avLst/>
          </a:prstGeom>
          <a:noFill/>
          <a:ln w="0">
            <a:noFill/>
            <a:prstDash val="solid"/>
          </a:ln>
        </p:spPr>
        <p:txBody>
          <a:bodyPr wrap="square" lIns="0" tIns="0" rIns="0" bIns="0" anchor="ctr">
            <a:normAutofit/>
          </a:bodyPr>
          <a:lstStyle/>
          <a:p>
            <a:pPr algn="l">
              <a:lnSpc>
                <a:spcPct val="100000"/>
              </a:lnSpc>
              <a:buNone/>
              <a:defRPr sz="2400" b="0">
                <a:solidFill>
                  <a:srgbClr val="17343A"/>
                </a:solidFill>
                <a:latin typeface="Aptos"/>
                <a:ea typeface="Aptos"/>
                <a:cs typeface="Aptos"/>
              </a:defRPr>
            </a:pPr>
            <a:r>
              <a:rPr sz="2400" b="0">
                <a:solidFill>
                  <a:srgbClr val="17343A"/>
                </a:solidFill>
                <a:latin typeface="Aptos"/>
                <a:ea typeface="Aptos"/>
                <a:cs typeface="Aptos"/>
              </a:rPr>
              <a:t>Encoding</a:t>
            </a:r>
          </a:p>
        </p:txBody>
      </p:sp>
      <p:sp>
        <p:nvSpPr>
          <p:cNvPr id="26" name="Rectangle 25">
            <a:extLst>
              <a:ext uri="{FF2B5EF4-FFF2-40B4-BE49-F238E27FC236}">
                <a16:creationId xmlns:a16="http://schemas.microsoft.com/office/drawing/2014/main" id="{00000002-001A-4000-8000-000000000000}"/>
              </a:ext>
            </a:extLst>
          </p:cNvPr>
          <p:cNvSpPr>
            <a:spLocks noGrp="1"/>
          </p:cNvSpPr>
          <p:nvPr/>
        </p:nvSpPr>
        <p:spPr>
          <a:xfrm>
            <a:off x="5257800" y="4533900"/>
            <a:ext cx="28575" cy="438150"/>
          </a:xfrm>
          <a:prstGeom prst="rect">
            <a:avLst/>
          </a:prstGeom>
          <a:solidFill>
            <a:srgbClr val="DCEAE4"/>
          </a:solidFill>
          <a:ln w="0">
            <a:solidFill>
              <a:srgbClr val="DCEAE4"/>
            </a:solidFill>
            <a:prstDash val="solid"/>
          </a:ln>
        </p:spPr>
        <p:txBody>
          <a:bodyPr/>
          <a:lstStyle/>
          <a:p>
            <a:endParaRPr lang="en-US"/>
          </a:p>
        </p:txBody>
      </p:sp>
      <p:sp>
        <p:nvSpPr>
          <p:cNvPr id="27" name="route-dot-5">
            <a:extLst>
              <a:ext uri="{FF2B5EF4-FFF2-40B4-BE49-F238E27FC236}">
                <a16:creationId xmlns:a16="http://schemas.microsoft.com/office/drawing/2014/main" id="{00000002-001B-4000-8000-000000000000}"/>
              </a:ext>
            </a:extLst>
          </p:cNvPr>
          <p:cNvSpPr>
            <a:spLocks noGrp="1"/>
          </p:cNvSpPr>
          <p:nvPr/>
        </p:nvSpPr>
        <p:spPr>
          <a:xfrm>
            <a:off x="5095875" y="4972050"/>
            <a:ext cx="342900" cy="342900"/>
          </a:xfrm>
          <a:prstGeom prst="ellipse">
            <a:avLst/>
          </a:prstGeom>
          <a:solidFill>
            <a:srgbClr val="EF6A5B"/>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00000002-001C-4000-8000-000000000000}"/>
              </a:ext>
            </a:extLst>
          </p:cNvPr>
          <p:cNvSpPr>
            <a:spLocks noGrp="1"/>
          </p:cNvSpPr>
          <p:nvPr/>
        </p:nvSpPr>
        <p:spPr>
          <a:xfrm>
            <a:off x="5095875" y="4972050"/>
            <a:ext cx="342900" cy="342900"/>
          </a:xfrm>
          <a:prstGeom prst="rect">
            <a:avLst/>
          </a:prstGeom>
          <a:noFill/>
          <a:ln w="0">
            <a:noFill/>
            <a:prstDash val="solid"/>
          </a:ln>
        </p:spPr>
        <p:txBody>
          <a:bodyPr wrap="square" lIns="0" tIns="0" rIns="0" bIns="0" anchor="ctr">
            <a:normAutofit/>
          </a:bodyPr>
          <a:lstStyle/>
          <a:p>
            <a:pPr algn="ctr">
              <a:lnSpc>
                <a:spcPct val="100000"/>
              </a:lnSpc>
              <a:buNone/>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5</a:t>
            </a:r>
          </a:p>
        </p:txBody>
      </p:sp>
      <p:sp>
        <p:nvSpPr>
          <p:cNvPr id="29" name="Rectangle 28">
            <a:extLst>
              <a:ext uri="{FF2B5EF4-FFF2-40B4-BE49-F238E27FC236}">
                <a16:creationId xmlns:a16="http://schemas.microsoft.com/office/drawing/2014/main" id="{00000002-001D-4000-8000-000000000000}"/>
              </a:ext>
            </a:extLst>
          </p:cNvPr>
          <p:cNvSpPr>
            <a:spLocks noGrp="1"/>
          </p:cNvSpPr>
          <p:nvPr/>
        </p:nvSpPr>
        <p:spPr>
          <a:xfrm>
            <a:off x="5676900" y="4838700"/>
            <a:ext cx="5238750" cy="609600"/>
          </a:xfrm>
          <a:prstGeom prst="rect">
            <a:avLst/>
          </a:prstGeom>
          <a:noFill/>
          <a:ln w="0">
            <a:noFill/>
            <a:prstDash val="solid"/>
          </a:ln>
        </p:spPr>
        <p:txBody>
          <a:bodyPr wrap="square" lIns="0" tIns="0" rIns="0" bIns="0" anchor="ctr">
            <a:normAutofit/>
          </a:bodyPr>
          <a:lstStyle/>
          <a:p>
            <a:pPr algn="l">
              <a:lnSpc>
                <a:spcPct val="100000"/>
              </a:lnSpc>
              <a:buNone/>
              <a:defRPr sz="2400" b="1">
                <a:solidFill>
                  <a:srgbClr val="17343A"/>
                </a:solidFill>
                <a:latin typeface="Aptos Display"/>
                <a:ea typeface="Aptos Display"/>
                <a:cs typeface="Aptos Display"/>
              </a:defRPr>
            </a:pPr>
            <a:r>
              <a:rPr sz="2400" b="1">
                <a:solidFill>
                  <a:srgbClr val="17343A"/>
                </a:solidFill>
                <a:latin typeface="Aptos Display"/>
                <a:ea typeface="Aptos Display"/>
                <a:cs typeface="Aptos Display"/>
              </a:rPr>
              <a:t>pandas + scikit-learn</a:t>
            </a:r>
          </a:p>
        </p:txBody>
      </p:sp>
      <p:sp>
        <p:nvSpPr>
          <p:cNvPr id="30" name="Rectangle 29">
            <a:extLst>
              <a:ext uri="{FF2B5EF4-FFF2-40B4-BE49-F238E27FC236}">
                <a16:creationId xmlns:a16="http://schemas.microsoft.com/office/drawing/2014/main" id="{00000002-001E-4000-8000-000000000000}"/>
              </a:ext>
            </a:extLst>
          </p:cNvPr>
          <p:cNvSpPr>
            <a:spLocks noGrp="1"/>
          </p:cNvSpPr>
          <p:nvPr/>
        </p:nvSpPr>
        <p:spPr>
          <a:xfrm>
            <a:off x="5676900" y="5676900"/>
            <a:ext cx="5238750" cy="342900"/>
          </a:xfrm>
          <a:prstGeom prst="rect">
            <a:avLst/>
          </a:prstGeom>
          <a:noFill/>
          <a:ln w="0">
            <a:noFill/>
            <a:prstDash val="solid"/>
          </a:ln>
        </p:spPr>
        <p:txBody>
          <a:bodyPr wrap="square" lIns="0" tIns="0" rIns="0" bIns="0" anchor="ctr">
            <a:normAutofit/>
          </a:bodyPr>
          <a:lstStyle/>
          <a:p>
            <a:pPr algn="l">
              <a:lnSpc>
                <a:spcPct val="100000"/>
              </a:lnSpc>
              <a:buNone/>
              <a:defRPr sz="1800" b="1">
                <a:solidFill>
                  <a:srgbClr val="007C7A"/>
                </a:solidFill>
                <a:latin typeface="Aptos Display"/>
                <a:ea typeface="Aptos Display"/>
                <a:cs typeface="Aptos Display"/>
              </a:defRPr>
            </a:pPr>
            <a:r>
              <a:rPr sz="1800" b="1">
                <a:solidFill>
                  <a:srgbClr val="007C7A"/>
                </a:solidFill>
                <a:latin typeface="Aptos Display"/>
                <a:ea typeface="Aptos Display"/>
                <a:cs typeface="Aptos Display"/>
              </a:rPr>
              <a:t>Route: inspect → decide → fit → reuse</a:t>
            </a:r>
          </a:p>
        </p:txBody>
      </p:sp>
    </p:spTree>
    <p:extLst>
      <p:ext uri="{BB962C8B-B14F-4D97-AF65-F5344CB8AC3E}">
        <p14:creationId xmlns:p14="http://schemas.microsoft.com/office/powerpoint/2010/main" val="20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00000003-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03-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a:solidFill>
                  <a:srgbClr val="007C7A"/>
                </a:solidFill>
                <a:latin typeface="Aptos Display"/>
                <a:ea typeface="Aptos Display"/>
                <a:cs typeface="Aptos Display"/>
              </a:rPr>
              <a:t>DATASET</a:t>
            </a:r>
          </a:p>
        </p:txBody>
      </p:sp>
      <p:sp>
        <p:nvSpPr>
          <p:cNvPr id="3" name="Rectangle 2">
            <a:extLst>
              <a:ext uri="{FF2B5EF4-FFF2-40B4-BE49-F238E27FC236}">
                <a16:creationId xmlns:a16="http://schemas.microsoft.com/office/drawing/2014/main" id="{00000003-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A fictional service transaction dataset</a:t>
            </a:r>
          </a:p>
        </p:txBody>
      </p:sp>
      <p:sp>
        <p:nvSpPr>
          <p:cNvPr id="4" name="Rectangle 3">
            <a:extLst>
              <a:ext uri="{FF2B5EF4-FFF2-40B4-BE49-F238E27FC236}">
                <a16:creationId xmlns:a16="http://schemas.microsoft.com/office/drawing/2014/main" id="{00000003-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fontScale="95003"/>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15–22 min</a:t>
            </a:r>
          </a:p>
        </p:txBody>
      </p:sp>
      <p:sp>
        <p:nvSpPr>
          <p:cNvPr id="5" name="Rectangle 4">
            <a:extLst>
              <a:ext uri="{FF2B5EF4-FFF2-40B4-BE49-F238E27FC236}">
                <a16:creationId xmlns:a16="http://schemas.microsoft.com/office/drawing/2014/main" id="{00000003-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03-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03</a:t>
            </a:r>
          </a:p>
        </p:txBody>
      </p:sp>
      <p:sp>
        <p:nvSpPr>
          <p:cNvPr id="7" name="Rectangle 6">
            <a:extLst>
              <a:ext uri="{FF2B5EF4-FFF2-40B4-BE49-F238E27FC236}">
                <a16:creationId xmlns:a16="http://schemas.microsoft.com/office/drawing/2014/main" id="{00000003-0007-4000-8000-000000000000}"/>
              </a:ext>
            </a:extLst>
          </p:cNvPr>
          <p:cNvSpPr>
            <a:spLocks noGrp="1"/>
          </p:cNvSpPr>
          <p:nvPr/>
        </p:nvSpPr>
        <p:spPr>
          <a:xfrm>
            <a:off x="742950" y="1676400"/>
            <a:ext cx="7429500" cy="342900"/>
          </a:xfrm>
          <a:prstGeom prst="rect">
            <a:avLst/>
          </a:prstGeom>
          <a:noFill/>
          <a:ln w="0">
            <a:noFill/>
            <a:prstDash val="solid"/>
          </a:ln>
        </p:spPr>
        <p:txBody>
          <a:bodyPr wrap="square" lIns="0" tIns="0" rIns="0" bIns="0" anchor="ctr">
            <a:normAutofit/>
          </a:bodyPr>
          <a:lstStyle/>
          <a:p>
            <a:pPr algn="l">
              <a:lnSpc>
                <a:spcPct val="100000"/>
              </a:lnSpc>
              <a:buNone/>
              <a:defRPr sz="1950" b="1">
                <a:solidFill>
                  <a:srgbClr val="007C7A"/>
                </a:solidFill>
                <a:latin typeface="Aptos Display"/>
                <a:ea typeface="Aptos Display"/>
                <a:cs typeface="Aptos Display"/>
              </a:defRPr>
            </a:pPr>
            <a:r>
              <a:rPr sz="1950" b="1">
                <a:solidFill>
                  <a:srgbClr val="007C7A"/>
                </a:solidFill>
                <a:latin typeface="Aptos Display"/>
                <a:ea typeface="Aptos Display"/>
                <a:cs typeface="Aptos Display"/>
              </a:rPr>
              <a:t>Available at prediction time</a:t>
            </a:r>
          </a:p>
        </p:txBody>
      </p:sp>
      <p:sp>
        <p:nvSpPr>
          <p:cNvPr id="8" name="Rectangle 7">
            <a:extLst>
              <a:ext uri="{FF2B5EF4-FFF2-40B4-BE49-F238E27FC236}">
                <a16:creationId xmlns:a16="http://schemas.microsoft.com/office/drawing/2014/main" id="{00000003-0008-4000-8000-000000000000}"/>
              </a:ext>
            </a:extLst>
          </p:cNvPr>
          <p:cNvSpPr>
            <a:spLocks noGrp="1"/>
          </p:cNvSpPr>
          <p:nvPr/>
        </p:nvSpPr>
        <p:spPr>
          <a:xfrm>
            <a:off x="742950" y="2247900"/>
            <a:ext cx="7524750" cy="28575"/>
          </a:xfrm>
          <a:prstGeom prst="rect">
            <a:avLst/>
          </a:prstGeom>
          <a:solidFill>
            <a:srgbClr val="007C7A"/>
          </a:solidFill>
          <a:ln w="0">
            <a:solidFill>
              <a:srgbClr val="007C7A"/>
            </a:solidFill>
            <a:prstDash val="solid"/>
          </a:ln>
        </p:spPr>
        <p:txBody>
          <a:bodyPr/>
          <a:lstStyle/>
          <a:p>
            <a:endParaRPr lang="en-US"/>
          </a:p>
        </p:txBody>
      </p:sp>
      <p:sp>
        <p:nvSpPr>
          <p:cNvPr id="9" name="Rectangle 8">
            <a:extLst>
              <a:ext uri="{FF2B5EF4-FFF2-40B4-BE49-F238E27FC236}">
                <a16:creationId xmlns:a16="http://schemas.microsoft.com/office/drawing/2014/main" id="{00000003-0009-4000-8000-000000000000}"/>
              </a:ext>
            </a:extLst>
          </p:cNvPr>
          <p:cNvSpPr>
            <a:spLocks noGrp="1"/>
          </p:cNvSpPr>
          <p:nvPr/>
        </p:nvSpPr>
        <p:spPr>
          <a:xfrm>
            <a:off x="742950" y="3676650"/>
            <a:ext cx="7524750" cy="28575"/>
          </a:xfrm>
          <a:prstGeom prst="rect">
            <a:avLst/>
          </a:prstGeom>
          <a:solidFill>
            <a:srgbClr val="007C7A"/>
          </a:solidFill>
          <a:ln w="0">
            <a:solidFill>
              <a:srgbClr val="007C7A"/>
            </a:solidFill>
            <a:prstDash val="solid"/>
          </a:ln>
        </p:spPr>
        <p:txBody>
          <a:bodyPr/>
          <a:lstStyle/>
          <a:p>
            <a:endParaRPr lang="en-US"/>
          </a:p>
        </p:txBody>
      </p:sp>
      <p:sp>
        <p:nvSpPr>
          <p:cNvPr id="10" name="Rectangle 9">
            <a:extLst>
              <a:ext uri="{FF2B5EF4-FFF2-40B4-BE49-F238E27FC236}">
                <a16:creationId xmlns:a16="http://schemas.microsoft.com/office/drawing/2014/main" id="{00000003-000A-4000-8000-000000000000}"/>
              </a:ext>
            </a:extLst>
          </p:cNvPr>
          <p:cNvSpPr>
            <a:spLocks noGrp="1"/>
          </p:cNvSpPr>
          <p:nvPr/>
        </p:nvSpPr>
        <p:spPr>
          <a:xfrm>
            <a:off x="819150" y="2343150"/>
            <a:ext cx="1352550" cy="590550"/>
          </a:xfrm>
          <a:prstGeom prst="rect">
            <a:avLst/>
          </a:prstGeom>
          <a:noFill/>
          <a:ln w="0">
            <a:noFill/>
            <a:prstDash val="solid"/>
          </a:ln>
        </p:spPr>
        <p:txBody>
          <a:bodyPr wrap="square" lIns="0" tIns="0" rIns="0" bIns="0" anchor="ctr">
            <a:normAutofit/>
          </a:bodyPr>
          <a:lstStyle/>
          <a:p>
            <a:pPr algn="ctr">
              <a:lnSpc>
                <a:spcPct val="100000"/>
              </a:lnSpc>
              <a:buNone/>
              <a:defRPr sz="1800" b="1">
                <a:solidFill>
                  <a:srgbClr val="17343A"/>
                </a:solidFill>
                <a:latin typeface="Aptos Mono"/>
                <a:ea typeface="Aptos Mono"/>
                <a:cs typeface="Aptos Mono"/>
              </a:defRPr>
            </a:pPr>
            <a:r>
              <a:rPr sz="1800" b="1">
                <a:solidFill>
                  <a:srgbClr val="17343A"/>
                </a:solidFill>
                <a:latin typeface="Aptos Mono"/>
                <a:ea typeface="Aptos Mono"/>
                <a:cs typeface="Aptos Mono"/>
              </a:rPr>
              <a:t>age</a:t>
            </a:r>
          </a:p>
        </p:txBody>
      </p:sp>
      <p:sp>
        <p:nvSpPr>
          <p:cNvPr id="11" name="Rectangle 10">
            <a:extLst>
              <a:ext uri="{FF2B5EF4-FFF2-40B4-BE49-F238E27FC236}">
                <a16:creationId xmlns:a16="http://schemas.microsoft.com/office/drawing/2014/main" id="{00000003-000B-4000-8000-000000000000}"/>
              </a:ext>
            </a:extLst>
          </p:cNvPr>
          <p:cNvSpPr>
            <a:spLocks noGrp="1"/>
          </p:cNvSpPr>
          <p:nvPr/>
        </p:nvSpPr>
        <p:spPr>
          <a:xfrm>
            <a:off x="819150" y="3009900"/>
            <a:ext cx="1352550" cy="323850"/>
          </a:xfrm>
          <a:prstGeom prst="rect">
            <a:avLst/>
          </a:prstGeom>
          <a:noFill/>
          <a:ln w="0">
            <a:noFill/>
            <a:prstDash val="solid"/>
          </a:ln>
        </p:spPr>
        <p:txBody>
          <a:bodyPr wrap="square" lIns="0" tIns="0" rIns="0" bIns="0" anchor="ctr">
            <a:normAutofit/>
          </a:bodyPr>
          <a:lstStyle/>
          <a:p>
            <a:pPr algn="ctr">
              <a:lnSpc>
                <a:spcPct val="100000"/>
              </a:lnSpc>
              <a:buNone/>
              <a:defRPr sz="1500" b="0">
                <a:solidFill>
                  <a:srgbClr val="5E6F72"/>
                </a:solidFill>
                <a:latin typeface="Aptos"/>
                <a:ea typeface="Aptos"/>
                <a:cs typeface="Aptos"/>
              </a:defRPr>
            </a:pPr>
            <a:r>
              <a:rPr sz="1500" b="0">
                <a:solidFill>
                  <a:srgbClr val="5E6F72"/>
                </a:solidFill>
                <a:latin typeface="Aptos"/>
                <a:ea typeface="Aptos"/>
                <a:cs typeface="Aptos"/>
              </a:rPr>
              <a:t>numeric</a:t>
            </a:r>
          </a:p>
        </p:txBody>
      </p:sp>
      <p:sp>
        <p:nvSpPr>
          <p:cNvPr id="12" name="Oval 11">
            <a:extLst>
              <a:ext uri="{FF2B5EF4-FFF2-40B4-BE49-F238E27FC236}">
                <a16:creationId xmlns:a16="http://schemas.microsoft.com/office/drawing/2014/main" id="{00000003-000C-4000-8000-000000000000}"/>
              </a:ext>
            </a:extLst>
          </p:cNvPr>
          <p:cNvSpPr>
            <a:spLocks noGrp="1"/>
          </p:cNvSpPr>
          <p:nvPr/>
        </p:nvSpPr>
        <p:spPr>
          <a:xfrm>
            <a:off x="1438275" y="3467100"/>
            <a:ext cx="114300" cy="114300"/>
          </a:xfrm>
          <a:prstGeom prst="ellipse">
            <a:avLst/>
          </a:prstGeom>
          <a:solidFill>
            <a:srgbClr val="007C7A"/>
          </a:solidFill>
          <a:ln w="0">
            <a:solidFill>
              <a:srgbClr val="007C7A"/>
            </a:solidFill>
            <a:prstDash val="solid"/>
          </a:ln>
        </p:spPr>
        <p:txBody>
          <a:bodyPr/>
          <a:lstStyle/>
          <a:p>
            <a:endParaRPr lang="en-US"/>
          </a:p>
        </p:txBody>
      </p:sp>
      <p:sp>
        <p:nvSpPr>
          <p:cNvPr id="13" name="Rectangle 12">
            <a:extLst>
              <a:ext uri="{FF2B5EF4-FFF2-40B4-BE49-F238E27FC236}">
                <a16:creationId xmlns:a16="http://schemas.microsoft.com/office/drawing/2014/main" id="{00000003-000D-4000-8000-000000000000}"/>
              </a:ext>
            </a:extLst>
          </p:cNvPr>
          <p:cNvSpPr>
            <a:spLocks noGrp="1"/>
          </p:cNvSpPr>
          <p:nvPr/>
        </p:nvSpPr>
        <p:spPr>
          <a:xfrm>
            <a:off x="2247900" y="2247900"/>
            <a:ext cx="19050" cy="1457325"/>
          </a:xfrm>
          <a:prstGeom prst="rect">
            <a:avLst/>
          </a:prstGeom>
          <a:solidFill>
            <a:srgbClr val="DCEAE4"/>
          </a:solidFill>
          <a:ln w="0">
            <a:solidFill>
              <a:srgbClr val="DCEAE4"/>
            </a:solidFill>
            <a:prstDash val="solid"/>
          </a:ln>
        </p:spPr>
        <p:txBody>
          <a:bodyPr/>
          <a:lstStyle/>
          <a:p>
            <a:endParaRPr lang="en-US"/>
          </a:p>
        </p:txBody>
      </p:sp>
      <p:sp>
        <p:nvSpPr>
          <p:cNvPr id="14" name="Rectangle 13">
            <a:extLst>
              <a:ext uri="{FF2B5EF4-FFF2-40B4-BE49-F238E27FC236}">
                <a16:creationId xmlns:a16="http://schemas.microsoft.com/office/drawing/2014/main" id="{00000003-000E-4000-8000-000000000000}"/>
              </a:ext>
            </a:extLst>
          </p:cNvPr>
          <p:cNvSpPr>
            <a:spLocks noGrp="1"/>
          </p:cNvSpPr>
          <p:nvPr/>
        </p:nvSpPr>
        <p:spPr>
          <a:xfrm>
            <a:off x="2324100" y="2343150"/>
            <a:ext cx="1352550" cy="590550"/>
          </a:xfrm>
          <a:prstGeom prst="rect">
            <a:avLst/>
          </a:prstGeom>
          <a:noFill/>
          <a:ln w="0">
            <a:noFill/>
            <a:prstDash val="solid"/>
          </a:ln>
        </p:spPr>
        <p:txBody>
          <a:bodyPr wrap="square" lIns="0" tIns="0" rIns="0" bIns="0" anchor="ctr">
            <a:normAutofit/>
          </a:bodyPr>
          <a:lstStyle/>
          <a:p>
            <a:pPr algn="ctr">
              <a:lnSpc>
                <a:spcPct val="100000"/>
              </a:lnSpc>
              <a:buNone/>
              <a:defRPr sz="1800" b="1">
                <a:solidFill>
                  <a:srgbClr val="17343A"/>
                </a:solidFill>
                <a:latin typeface="Aptos Mono"/>
                <a:ea typeface="Aptos Mono"/>
                <a:cs typeface="Aptos Mono"/>
              </a:defRPr>
            </a:pPr>
            <a:r>
              <a:rPr sz="1800" b="1">
                <a:solidFill>
                  <a:srgbClr val="17343A"/>
                </a:solidFill>
                <a:latin typeface="Aptos Mono"/>
                <a:ea typeface="Aptos Mono"/>
                <a:cs typeface="Aptos Mono"/>
              </a:rPr>
              <a:t>monthly_spend</a:t>
            </a:r>
          </a:p>
        </p:txBody>
      </p:sp>
      <p:sp>
        <p:nvSpPr>
          <p:cNvPr id="15" name="Rectangle 14">
            <a:extLst>
              <a:ext uri="{FF2B5EF4-FFF2-40B4-BE49-F238E27FC236}">
                <a16:creationId xmlns:a16="http://schemas.microsoft.com/office/drawing/2014/main" id="{00000003-000F-4000-8000-000000000000}"/>
              </a:ext>
            </a:extLst>
          </p:cNvPr>
          <p:cNvSpPr>
            <a:spLocks noGrp="1"/>
          </p:cNvSpPr>
          <p:nvPr/>
        </p:nvSpPr>
        <p:spPr>
          <a:xfrm>
            <a:off x="2324100" y="3009900"/>
            <a:ext cx="1352550" cy="323850"/>
          </a:xfrm>
          <a:prstGeom prst="rect">
            <a:avLst/>
          </a:prstGeom>
          <a:noFill/>
          <a:ln w="0">
            <a:noFill/>
            <a:prstDash val="solid"/>
          </a:ln>
        </p:spPr>
        <p:txBody>
          <a:bodyPr wrap="square" lIns="0" tIns="0" rIns="0" bIns="0" anchor="ctr">
            <a:normAutofit/>
          </a:bodyPr>
          <a:lstStyle/>
          <a:p>
            <a:pPr algn="ctr">
              <a:lnSpc>
                <a:spcPct val="100000"/>
              </a:lnSpc>
              <a:buNone/>
              <a:defRPr sz="1500" b="0">
                <a:solidFill>
                  <a:srgbClr val="5E6F72"/>
                </a:solidFill>
                <a:latin typeface="Aptos"/>
                <a:ea typeface="Aptos"/>
                <a:cs typeface="Aptos"/>
              </a:defRPr>
            </a:pPr>
            <a:r>
              <a:rPr sz="1500" b="0">
                <a:solidFill>
                  <a:srgbClr val="5E6F72"/>
                </a:solidFill>
                <a:latin typeface="Aptos"/>
                <a:ea typeface="Aptos"/>
                <a:cs typeface="Aptos"/>
              </a:rPr>
              <a:t>numeric</a:t>
            </a:r>
          </a:p>
        </p:txBody>
      </p:sp>
      <p:sp>
        <p:nvSpPr>
          <p:cNvPr id="16" name="Oval 15">
            <a:extLst>
              <a:ext uri="{FF2B5EF4-FFF2-40B4-BE49-F238E27FC236}">
                <a16:creationId xmlns:a16="http://schemas.microsoft.com/office/drawing/2014/main" id="{00000003-0010-4000-8000-000000000000}"/>
              </a:ext>
            </a:extLst>
          </p:cNvPr>
          <p:cNvSpPr>
            <a:spLocks noGrp="1"/>
          </p:cNvSpPr>
          <p:nvPr/>
        </p:nvSpPr>
        <p:spPr>
          <a:xfrm>
            <a:off x="2943225" y="3467100"/>
            <a:ext cx="114300" cy="114300"/>
          </a:xfrm>
          <a:prstGeom prst="ellipse">
            <a:avLst/>
          </a:prstGeom>
          <a:solidFill>
            <a:srgbClr val="007C7A"/>
          </a:solidFill>
          <a:ln w="0">
            <a:solidFill>
              <a:srgbClr val="007C7A"/>
            </a:solidFill>
            <a:prstDash val="solid"/>
          </a:ln>
        </p:spPr>
        <p:txBody>
          <a:bodyPr/>
          <a:lstStyle/>
          <a:p>
            <a:endParaRPr lang="en-US"/>
          </a:p>
        </p:txBody>
      </p:sp>
      <p:sp>
        <p:nvSpPr>
          <p:cNvPr id="17" name="Rectangle 16">
            <a:extLst>
              <a:ext uri="{FF2B5EF4-FFF2-40B4-BE49-F238E27FC236}">
                <a16:creationId xmlns:a16="http://schemas.microsoft.com/office/drawing/2014/main" id="{00000003-0011-4000-8000-000000000000}"/>
              </a:ext>
            </a:extLst>
          </p:cNvPr>
          <p:cNvSpPr>
            <a:spLocks noGrp="1"/>
          </p:cNvSpPr>
          <p:nvPr/>
        </p:nvSpPr>
        <p:spPr>
          <a:xfrm>
            <a:off x="3752850" y="2247900"/>
            <a:ext cx="19050" cy="1457325"/>
          </a:xfrm>
          <a:prstGeom prst="rect">
            <a:avLst/>
          </a:prstGeom>
          <a:solidFill>
            <a:srgbClr val="DCEAE4"/>
          </a:solidFill>
          <a:ln w="0">
            <a:solidFill>
              <a:srgbClr val="DCEAE4"/>
            </a:solidFill>
            <a:prstDash val="solid"/>
          </a:ln>
        </p:spPr>
        <p:txBody>
          <a:bodyPr/>
          <a:lstStyle/>
          <a:p>
            <a:endParaRPr lang="en-US"/>
          </a:p>
        </p:txBody>
      </p:sp>
      <p:sp>
        <p:nvSpPr>
          <p:cNvPr id="18" name="Rectangle 17">
            <a:extLst>
              <a:ext uri="{FF2B5EF4-FFF2-40B4-BE49-F238E27FC236}">
                <a16:creationId xmlns:a16="http://schemas.microsoft.com/office/drawing/2014/main" id="{00000003-0012-4000-8000-000000000000}"/>
              </a:ext>
            </a:extLst>
          </p:cNvPr>
          <p:cNvSpPr>
            <a:spLocks noGrp="1"/>
          </p:cNvSpPr>
          <p:nvPr/>
        </p:nvSpPr>
        <p:spPr>
          <a:xfrm>
            <a:off x="3829050" y="2343150"/>
            <a:ext cx="1352550" cy="590550"/>
          </a:xfrm>
          <a:prstGeom prst="rect">
            <a:avLst/>
          </a:prstGeom>
          <a:noFill/>
          <a:ln w="0">
            <a:noFill/>
            <a:prstDash val="solid"/>
          </a:ln>
        </p:spPr>
        <p:txBody>
          <a:bodyPr wrap="square" lIns="0" tIns="0" rIns="0" bIns="0" anchor="ctr">
            <a:normAutofit/>
          </a:bodyPr>
          <a:lstStyle/>
          <a:p>
            <a:pPr algn="ctr">
              <a:lnSpc>
                <a:spcPct val="100000"/>
              </a:lnSpc>
              <a:buNone/>
              <a:defRPr sz="1800" b="1">
                <a:solidFill>
                  <a:srgbClr val="17343A"/>
                </a:solidFill>
                <a:latin typeface="Aptos Mono"/>
                <a:ea typeface="Aptos Mono"/>
                <a:cs typeface="Aptos Mono"/>
              </a:defRPr>
            </a:pPr>
            <a:r>
              <a:rPr sz="1800" b="1">
                <a:solidFill>
                  <a:srgbClr val="17343A"/>
                </a:solidFill>
                <a:latin typeface="Aptos Mono"/>
                <a:ea typeface="Aptos Mono"/>
                <a:cs typeface="Aptos Mono"/>
              </a:rPr>
              <a:t>visits</a:t>
            </a:r>
          </a:p>
        </p:txBody>
      </p:sp>
      <p:sp>
        <p:nvSpPr>
          <p:cNvPr id="19" name="Rectangle 18">
            <a:extLst>
              <a:ext uri="{FF2B5EF4-FFF2-40B4-BE49-F238E27FC236}">
                <a16:creationId xmlns:a16="http://schemas.microsoft.com/office/drawing/2014/main" id="{00000003-0013-4000-8000-000000000000}"/>
              </a:ext>
            </a:extLst>
          </p:cNvPr>
          <p:cNvSpPr>
            <a:spLocks noGrp="1"/>
          </p:cNvSpPr>
          <p:nvPr/>
        </p:nvSpPr>
        <p:spPr>
          <a:xfrm>
            <a:off x="3829050" y="3009900"/>
            <a:ext cx="1352550" cy="323850"/>
          </a:xfrm>
          <a:prstGeom prst="rect">
            <a:avLst/>
          </a:prstGeom>
          <a:noFill/>
          <a:ln w="0">
            <a:noFill/>
            <a:prstDash val="solid"/>
          </a:ln>
        </p:spPr>
        <p:txBody>
          <a:bodyPr wrap="square" lIns="0" tIns="0" rIns="0" bIns="0" anchor="ctr">
            <a:normAutofit/>
          </a:bodyPr>
          <a:lstStyle/>
          <a:p>
            <a:pPr algn="ctr">
              <a:lnSpc>
                <a:spcPct val="100000"/>
              </a:lnSpc>
              <a:buNone/>
              <a:defRPr sz="1500" b="0">
                <a:solidFill>
                  <a:srgbClr val="5E6F72"/>
                </a:solidFill>
                <a:latin typeface="Aptos"/>
                <a:ea typeface="Aptos"/>
                <a:cs typeface="Aptos"/>
              </a:defRPr>
            </a:pPr>
            <a:r>
              <a:rPr sz="1500" b="0">
                <a:solidFill>
                  <a:srgbClr val="5E6F72"/>
                </a:solidFill>
                <a:latin typeface="Aptos"/>
                <a:ea typeface="Aptos"/>
                <a:cs typeface="Aptos"/>
              </a:rPr>
              <a:t>numeric</a:t>
            </a:r>
          </a:p>
        </p:txBody>
      </p:sp>
      <p:sp>
        <p:nvSpPr>
          <p:cNvPr id="20" name="Oval 19">
            <a:extLst>
              <a:ext uri="{FF2B5EF4-FFF2-40B4-BE49-F238E27FC236}">
                <a16:creationId xmlns:a16="http://schemas.microsoft.com/office/drawing/2014/main" id="{00000003-0014-4000-8000-000000000000}"/>
              </a:ext>
            </a:extLst>
          </p:cNvPr>
          <p:cNvSpPr>
            <a:spLocks noGrp="1"/>
          </p:cNvSpPr>
          <p:nvPr/>
        </p:nvSpPr>
        <p:spPr>
          <a:xfrm>
            <a:off x="4448175" y="3467100"/>
            <a:ext cx="114300" cy="114300"/>
          </a:xfrm>
          <a:prstGeom prst="ellipse">
            <a:avLst/>
          </a:prstGeom>
          <a:solidFill>
            <a:srgbClr val="007C7A"/>
          </a:solidFill>
          <a:ln w="0">
            <a:solidFill>
              <a:srgbClr val="007C7A"/>
            </a:solidFill>
            <a:prstDash val="solid"/>
          </a:ln>
        </p:spPr>
        <p:txBody>
          <a:bodyPr/>
          <a:lstStyle/>
          <a:p>
            <a:endParaRPr lang="en-US"/>
          </a:p>
        </p:txBody>
      </p:sp>
      <p:sp>
        <p:nvSpPr>
          <p:cNvPr id="21" name="Rectangle 20">
            <a:extLst>
              <a:ext uri="{FF2B5EF4-FFF2-40B4-BE49-F238E27FC236}">
                <a16:creationId xmlns:a16="http://schemas.microsoft.com/office/drawing/2014/main" id="{00000003-0015-4000-8000-000000000000}"/>
              </a:ext>
            </a:extLst>
          </p:cNvPr>
          <p:cNvSpPr>
            <a:spLocks noGrp="1"/>
          </p:cNvSpPr>
          <p:nvPr/>
        </p:nvSpPr>
        <p:spPr>
          <a:xfrm>
            <a:off x="5257800" y="2247900"/>
            <a:ext cx="19050" cy="1457325"/>
          </a:xfrm>
          <a:prstGeom prst="rect">
            <a:avLst/>
          </a:prstGeom>
          <a:solidFill>
            <a:srgbClr val="DCEAE4"/>
          </a:solidFill>
          <a:ln w="0">
            <a:solidFill>
              <a:srgbClr val="DCEAE4"/>
            </a:solidFill>
            <a:prstDash val="solid"/>
          </a:ln>
        </p:spPr>
        <p:txBody>
          <a:bodyPr/>
          <a:lstStyle/>
          <a:p>
            <a:endParaRPr lang="en-US"/>
          </a:p>
        </p:txBody>
      </p:sp>
      <p:sp>
        <p:nvSpPr>
          <p:cNvPr id="22" name="Rectangle 21">
            <a:extLst>
              <a:ext uri="{FF2B5EF4-FFF2-40B4-BE49-F238E27FC236}">
                <a16:creationId xmlns:a16="http://schemas.microsoft.com/office/drawing/2014/main" id="{00000003-0016-4000-8000-000000000000}"/>
              </a:ext>
            </a:extLst>
          </p:cNvPr>
          <p:cNvSpPr>
            <a:spLocks noGrp="1"/>
          </p:cNvSpPr>
          <p:nvPr/>
        </p:nvSpPr>
        <p:spPr>
          <a:xfrm>
            <a:off x="5334000" y="2343150"/>
            <a:ext cx="1352550" cy="590550"/>
          </a:xfrm>
          <a:prstGeom prst="rect">
            <a:avLst/>
          </a:prstGeom>
          <a:noFill/>
          <a:ln w="0">
            <a:noFill/>
            <a:prstDash val="solid"/>
          </a:ln>
        </p:spPr>
        <p:txBody>
          <a:bodyPr wrap="square" lIns="0" tIns="0" rIns="0" bIns="0" anchor="ctr">
            <a:normAutofit/>
          </a:bodyPr>
          <a:lstStyle/>
          <a:p>
            <a:pPr algn="ctr">
              <a:lnSpc>
                <a:spcPct val="100000"/>
              </a:lnSpc>
              <a:buNone/>
              <a:defRPr sz="1800" b="1">
                <a:solidFill>
                  <a:srgbClr val="17343A"/>
                </a:solidFill>
                <a:latin typeface="Aptos Mono"/>
                <a:ea typeface="Aptos Mono"/>
                <a:cs typeface="Aptos Mono"/>
              </a:defRPr>
            </a:pPr>
            <a:r>
              <a:rPr sz="1800" b="1">
                <a:solidFill>
                  <a:srgbClr val="17343A"/>
                </a:solidFill>
                <a:latin typeface="Aptos Mono"/>
                <a:ea typeface="Aptos Mono"/>
                <a:cs typeface="Aptos Mono"/>
              </a:rPr>
              <a:t>channel</a:t>
            </a:r>
          </a:p>
        </p:txBody>
      </p:sp>
      <p:sp>
        <p:nvSpPr>
          <p:cNvPr id="23" name="Rectangle 22">
            <a:extLst>
              <a:ext uri="{FF2B5EF4-FFF2-40B4-BE49-F238E27FC236}">
                <a16:creationId xmlns:a16="http://schemas.microsoft.com/office/drawing/2014/main" id="{00000003-0017-4000-8000-000000000000}"/>
              </a:ext>
            </a:extLst>
          </p:cNvPr>
          <p:cNvSpPr>
            <a:spLocks noGrp="1"/>
          </p:cNvSpPr>
          <p:nvPr/>
        </p:nvSpPr>
        <p:spPr>
          <a:xfrm>
            <a:off x="5334000" y="3009900"/>
            <a:ext cx="1352550" cy="323850"/>
          </a:xfrm>
          <a:prstGeom prst="rect">
            <a:avLst/>
          </a:prstGeom>
          <a:noFill/>
          <a:ln w="0">
            <a:noFill/>
            <a:prstDash val="solid"/>
          </a:ln>
        </p:spPr>
        <p:txBody>
          <a:bodyPr wrap="square" lIns="0" tIns="0" rIns="0" bIns="0" anchor="ctr">
            <a:normAutofit/>
          </a:bodyPr>
          <a:lstStyle/>
          <a:p>
            <a:pPr algn="ctr">
              <a:lnSpc>
                <a:spcPct val="100000"/>
              </a:lnSpc>
              <a:buNone/>
              <a:defRPr sz="1500" b="0">
                <a:solidFill>
                  <a:srgbClr val="5E6F72"/>
                </a:solidFill>
                <a:latin typeface="Aptos"/>
                <a:ea typeface="Aptos"/>
                <a:cs typeface="Aptos"/>
              </a:defRPr>
            </a:pPr>
            <a:r>
              <a:rPr sz="1500" b="0">
                <a:solidFill>
                  <a:srgbClr val="5E6F72"/>
                </a:solidFill>
                <a:latin typeface="Aptos"/>
                <a:ea typeface="Aptos"/>
                <a:cs typeface="Aptos"/>
              </a:rPr>
              <a:t>category</a:t>
            </a:r>
          </a:p>
        </p:txBody>
      </p:sp>
      <p:sp>
        <p:nvSpPr>
          <p:cNvPr id="24" name="Oval 23">
            <a:extLst>
              <a:ext uri="{FF2B5EF4-FFF2-40B4-BE49-F238E27FC236}">
                <a16:creationId xmlns:a16="http://schemas.microsoft.com/office/drawing/2014/main" id="{00000003-0018-4000-8000-000000000000}"/>
              </a:ext>
            </a:extLst>
          </p:cNvPr>
          <p:cNvSpPr>
            <a:spLocks noGrp="1"/>
          </p:cNvSpPr>
          <p:nvPr/>
        </p:nvSpPr>
        <p:spPr>
          <a:xfrm>
            <a:off x="5953125" y="3467100"/>
            <a:ext cx="114300" cy="114300"/>
          </a:xfrm>
          <a:prstGeom prst="ellipse">
            <a:avLst/>
          </a:prstGeom>
          <a:solidFill>
            <a:srgbClr val="EF6A5B"/>
          </a:solidFill>
          <a:ln w="0">
            <a:solidFill>
              <a:srgbClr val="EF6A5B"/>
            </a:solidFill>
            <a:prstDash val="solid"/>
          </a:ln>
        </p:spPr>
        <p:txBody>
          <a:bodyPr/>
          <a:lstStyle/>
          <a:p>
            <a:endParaRPr lang="en-US"/>
          </a:p>
        </p:txBody>
      </p:sp>
      <p:sp>
        <p:nvSpPr>
          <p:cNvPr id="25" name="Rectangle 24">
            <a:extLst>
              <a:ext uri="{FF2B5EF4-FFF2-40B4-BE49-F238E27FC236}">
                <a16:creationId xmlns:a16="http://schemas.microsoft.com/office/drawing/2014/main" id="{00000003-0019-4000-8000-000000000000}"/>
              </a:ext>
            </a:extLst>
          </p:cNvPr>
          <p:cNvSpPr>
            <a:spLocks noGrp="1"/>
          </p:cNvSpPr>
          <p:nvPr/>
        </p:nvSpPr>
        <p:spPr>
          <a:xfrm>
            <a:off x="6762750" y="2247900"/>
            <a:ext cx="19050" cy="1457325"/>
          </a:xfrm>
          <a:prstGeom prst="rect">
            <a:avLst/>
          </a:prstGeom>
          <a:solidFill>
            <a:srgbClr val="DCEAE4"/>
          </a:solidFill>
          <a:ln w="0">
            <a:solidFill>
              <a:srgbClr val="DCEAE4"/>
            </a:solidFill>
            <a:prstDash val="solid"/>
          </a:ln>
        </p:spPr>
        <p:txBody>
          <a:bodyPr/>
          <a:lstStyle/>
          <a:p>
            <a:endParaRPr lang="en-US"/>
          </a:p>
        </p:txBody>
      </p:sp>
      <p:sp>
        <p:nvSpPr>
          <p:cNvPr id="26" name="Rectangle 25">
            <a:extLst>
              <a:ext uri="{FF2B5EF4-FFF2-40B4-BE49-F238E27FC236}">
                <a16:creationId xmlns:a16="http://schemas.microsoft.com/office/drawing/2014/main" id="{00000003-001A-4000-8000-000000000000}"/>
              </a:ext>
            </a:extLst>
          </p:cNvPr>
          <p:cNvSpPr>
            <a:spLocks noGrp="1"/>
          </p:cNvSpPr>
          <p:nvPr/>
        </p:nvSpPr>
        <p:spPr>
          <a:xfrm>
            <a:off x="6838950" y="2343150"/>
            <a:ext cx="1352550" cy="590550"/>
          </a:xfrm>
          <a:prstGeom prst="rect">
            <a:avLst/>
          </a:prstGeom>
          <a:noFill/>
          <a:ln w="0">
            <a:noFill/>
            <a:prstDash val="solid"/>
          </a:ln>
        </p:spPr>
        <p:txBody>
          <a:bodyPr wrap="square" lIns="0" tIns="0" rIns="0" bIns="0" anchor="ctr">
            <a:normAutofit/>
          </a:bodyPr>
          <a:lstStyle/>
          <a:p>
            <a:pPr algn="ctr">
              <a:lnSpc>
                <a:spcPct val="100000"/>
              </a:lnSpc>
              <a:buNone/>
              <a:defRPr sz="1800" b="1">
                <a:solidFill>
                  <a:srgbClr val="17343A"/>
                </a:solidFill>
                <a:latin typeface="Aptos Mono"/>
                <a:ea typeface="Aptos Mono"/>
                <a:cs typeface="Aptos Mono"/>
              </a:defRPr>
            </a:pPr>
            <a:r>
              <a:rPr sz="1800" b="1">
                <a:solidFill>
                  <a:srgbClr val="17343A"/>
                </a:solidFill>
                <a:latin typeface="Aptos Mono"/>
                <a:ea typeface="Aptos Mono"/>
                <a:cs typeface="Aptos Mono"/>
              </a:rPr>
              <a:t>region</a:t>
            </a:r>
          </a:p>
        </p:txBody>
      </p:sp>
      <p:sp>
        <p:nvSpPr>
          <p:cNvPr id="27" name="Rectangle 26">
            <a:extLst>
              <a:ext uri="{FF2B5EF4-FFF2-40B4-BE49-F238E27FC236}">
                <a16:creationId xmlns:a16="http://schemas.microsoft.com/office/drawing/2014/main" id="{00000003-001B-4000-8000-000000000000}"/>
              </a:ext>
            </a:extLst>
          </p:cNvPr>
          <p:cNvSpPr>
            <a:spLocks noGrp="1"/>
          </p:cNvSpPr>
          <p:nvPr/>
        </p:nvSpPr>
        <p:spPr>
          <a:xfrm>
            <a:off x="6838950" y="3009900"/>
            <a:ext cx="1352550" cy="323850"/>
          </a:xfrm>
          <a:prstGeom prst="rect">
            <a:avLst/>
          </a:prstGeom>
          <a:noFill/>
          <a:ln w="0">
            <a:noFill/>
            <a:prstDash val="solid"/>
          </a:ln>
        </p:spPr>
        <p:txBody>
          <a:bodyPr wrap="square" lIns="0" tIns="0" rIns="0" bIns="0" anchor="ctr">
            <a:normAutofit/>
          </a:bodyPr>
          <a:lstStyle/>
          <a:p>
            <a:pPr algn="ctr">
              <a:lnSpc>
                <a:spcPct val="100000"/>
              </a:lnSpc>
              <a:buNone/>
              <a:defRPr sz="1500" b="0">
                <a:solidFill>
                  <a:srgbClr val="5E6F72"/>
                </a:solidFill>
                <a:latin typeface="Aptos"/>
                <a:ea typeface="Aptos"/>
                <a:cs typeface="Aptos"/>
              </a:defRPr>
            </a:pPr>
            <a:r>
              <a:rPr sz="1500" b="0">
                <a:solidFill>
                  <a:srgbClr val="5E6F72"/>
                </a:solidFill>
                <a:latin typeface="Aptos"/>
                <a:ea typeface="Aptos"/>
                <a:cs typeface="Aptos"/>
              </a:rPr>
              <a:t>category</a:t>
            </a:r>
          </a:p>
        </p:txBody>
      </p:sp>
      <p:sp>
        <p:nvSpPr>
          <p:cNvPr id="28" name="Oval 27">
            <a:extLst>
              <a:ext uri="{FF2B5EF4-FFF2-40B4-BE49-F238E27FC236}">
                <a16:creationId xmlns:a16="http://schemas.microsoft.com/office/drawing/2014/main" id="{00000003-001C-4000-8000-000000000000}"/>
              </a:ext>
            </a:extLst>
          </p:cNvPr>
          <p:cNvSpPr>
            <a:spLocks noGrp="1"/>
          </p:cNvSpPr>
          <p:nvPr/>
        </p:nvSpPr>
        <p:spPr>
          <a:xfrm>
            <a:off x="7458075" y="3467100"/>
            <a:ext cx="114300" cy="114300"/>
          </a:xfrm>
          <a:prstGeom prst="ellipse">
            <a:avLst/>
          </a:prstGeom>
          <a:solidFill>
            <a:srgbClr val="EF6A5B"/>
          </a:solidFill>
          <a:ln w="0">
            <a:solidFill>
              <a:srgbClr val="EF6A5B"/>
            </a:solidFill>
            <a:prstDash val="solid"/>
          </a:ln>
        </p:spPr>
        <p:txBody>
          <a:bodyPr/>
          <a:lstStyle/>
          <a:p>
            <a:endParaRPr lang="en-US"/>
          </a:p>
        </p:txBody>
      </p:sp>
      <p:sp>
        <p:nvSpPr>
          <p:cNvPr id="29" name="Rectangle 28">
            <a:extLst>
              <a:ext uri="{FF2B5EF4-FFF2-40B4-BE49-F238E27FC236}">
                <a16:creationId xmlns:a16="http://schemas.microsoft.com/office/drawing/2014/main" id="{00000003-001D-4000-8000-000000000000}"/>
              </a:ext>
            </a:extLst>
          </p:cNvPr>
          <p:cNvSpPr>
            <a:spLocks noGrp="1"/>
          </p:cNvSpPr>
          <p:nvPr/>
        </p:nvSpPr>
        <p:spPr>
          <a:xfrm>
            <a:off x="742950" y="4038600"/>
            <a:ext cx="7524750" cy="323850"/>
          </a:xfrm>
          <a:prstGeom prst="rect">
            <a:avLst/>
          </a:prstGeom>
          <a:noFill/>
          <a:ln w="0">
            <a:noFill/>
            <a:prstDash val="solid"/>
          </a:ln>
        </p:spPr>
        <p:txBody>
          <a:bodyPr wrap="square" lIns="0" tIns="0" rIns="0" bIns="0" anchor="ctr">
            <a:normAutofit/>
          </a:bodyPr>
          <a:lstStyle/>
          <a:p>
            <a:pPr algn="ctr">
              <a:lnSpc>
                <a:spcPct val="100000"/>
              </a:lnSpc>
              <a:buNone/>
              <a:defRPr sz="1500" b="1">
                <a:solidFill>
                  <a:srgbClr val="007C7A"/>
                </a:solidFill>
                <a:latin typeface="Aptos Display"/>
                <a:ea typeface="Aptos Display"/>
                <a:cs typeface="Aptos Display"/>
              </a:defRPr>
            </a:pPr>
            <a:r>
              <a:rPr sz="1500" b="1">
                <a:solidFill>
                  <a:srgbClr val="007C7A"/>
                </a:solidFill>
                <a:latin typeface="Aptos Display"/>
                <a:ea typeface="Aptos Display"/>
                <a:cs typeface="Aptos Display"/>
              </a:rPr>
              <a:t>FEATURES</a:t>
            </a:r>
          </a:p>
        </p:txBody>
      </p:sp>
      <p:sp>
        <p:nvSpPr>
          <p:cNvPr id="30" name="Rectangle 29">
            <a:extLst>
              <a:ext uri="{FF2B5EF4-FFF2-40B4-BE49-F238E27FC236}">
                <a16:creationId xmlns:a16="http://schemas.microsoft.com/office/drawing/2014/main" id="{00000003-001E-4000-8000-000000000000}"/>
              </a:ext>
            </a:extLst>
          </p:cNvPr>
          <p:cNvSpPr>
            <a:spLocks noGrp="1"/>
          </p:cNvSpPr>
          <p:nvPr/>
        </p:nvSpPr>
        <p:spPr>
          <a:xfrm>
            <a:off x="8629650" y="1943100"/>
            <a:ext cx="28575" cy="3009900"/>
          </a:xfrm>
          <a:prstGeom prst="rect">
            <a:avLst/>
          </a:prstGeom>
          <a:solidFill>
            <a:srgbClr val="EF6A5B"/>
          </a:solidFill>
          <a:ln w="0">
            <a:solidFill>
              <a:srgbClr val="EF6A5B"/>
            </a:solidFill>
            <a:prstDash val="solid"/>
          </a:ln>
        </p:spPr>
        <p:txBody>
          <a:bodyPr/>
          <a:lstStyle/>
          <a:p>
            <a:endParaRPr lang="en-US"/>
          </a:p>
        </p:txBody>
      </p:sp>
      <p:sp>
        <p:nvSpPr>
          <p:cNvPr id="31" name="Rectangle 30">
            <a:extLst>
              <a:ext uri="{FF2B5EF4-FFF2-40B4-BE49-F238E27FC236}">
                <a16:creationId xmlns:a16="http://schemas.microsoft.com/office/drawing/2014/main" id="{00000003-001F-4000-8000-000000000000}"/>
              </a:ext>
            </a:extLst>
          </p:cNvPr>
          <p:cNvSpPr>
            <a:spLocks noGrp="1"/>
          </p:cNvSpPr>
          <p:nvPr/>
        </p:nvSpPr>
        <p:spPr>
          <a:xfrm>
            <a:off x="8972550" y="2609850"/>
            <a:ext cx="2381250" cy="552450"/>
          </a:xfrm>
          <a:prstGeom prst="rect">
            <a:avLst/>
          </a:prstGeom>
          <a:noFill/>
          <a:ln w="0">
            <a:noFill/>
            <a:prstDash val="solid"/>
          </a:ln>
        </p:spPr>
        <p:txBody>
          <a:bodyPr wrap="square" lIns="0" tIns="0" rIns="0" bIns="0" anchor="ctr">
            <a:normAutofit/>
          </a:bodyPr>
          <a:lstStyle/>
          <a:p>
            <a:pPr algn="ctr">
              <a:lnSpc>
                <a:spcPct val="100000"/>
              </a:lnSpc>
              <a:buNone/>
              <a:defRPr sz="2100" b="1">
                <a:solidFill>
                  <a:srgbClr val="EF6A5B"/>
                </a:solidFill>
                <a:latin typeface="Aptos Mono"/>
                <a:ea typeface="Aptos Mono"/>
                <a:cs typeface="Aptos Mono"/>
              </a:defRPr>
            </a:pPr>
            <a:r>
              <a:rPr sz="2100" b="1">
                <a:solidFill>
                  <a:srgbClr val="EF6A5B"/>
                </a:solidFill>
                <a:latin typeface="Aptos Mono"/>
                <a:ea typeface="Aptos Mono"/>
                <a:cs typeface="Aptos Mono"/>
              </a:rPr>
              <a:t>future_spend</a:t>
            </a:r>
          </a:p>
        </p:txBody>
      </p:sp>
      <p:sp>
        <p:nvSpPr>
          <p:cNvPr id="32" name="Rectangle 31">
            <a:extLst>
              <a:ext uri="{FF2B5EF4-FFF2-40B4-BE49-F238E27FC236}">
                <a16:creationId xmlns:a16="http://schemas.microsoft.com/office/drawing/2014/main" id="{00000003-0020-4000-8000-000000000000}"/>
              </a:ext>
            </a:extLst>
          </p:cNvPr>
          <p:cNvSpPr>
            <a:spLocks noGrp="1"/>
          </p:cNvSpPr>
          <p:nvPr/>
        </p:nvSpPr>
        <p:spPr>
          <a:xfrm>
            <a:off x="8972550" y="3257550"/>
            <a:ext cx="2381250" cy="323850"/>
          </a:xfrm>
          <a:prstGeom prst="rect">
            <a:avLst/>
          </a:prstGeom>
          <a:noFill/>
          <a:ln w="0">
            <a:noFill/>
            <a:prstDash val="solid"/>
          </a:ln>
        </p:spPr>
        <p:txBody>
          <a:bodyPr wrap="square" lIns="0" tIns="0" rIns="0" bIns="0" anchor="ctr">
            <a:normAutofit/>
          </a:bodyPr>
          <a:lstStyle/>
          <a:p>
            <a:pPr algn="ctr">
              <a:lnSpc>
                <a:spcPct val="100000"/>
              </a:lnSpc>
              <a:buNone/>
              <a:defRPr sz="1500" b="1">
                <a:solidFill>
                  <a:srgbClr val="EF6A5B"/>
                </a:solidFill>
                <a:latin typeface="Aptos Display"/>
                <a:ea typeface="Aptos Display"/>
                <a:cs typeface="Aptos Display"/>
              </a:defRPr>
            </a:pPr>
            <a:r>
              <a:rPr sz="1500" b="1">
                <a:solidFill>
                  <a:srgbClr val="EF6A5B"/>
                </a:solidFill>
                <a:latin typeface="Aptos Display"/>
                <a:ea typeface="Aptos Display"/>
                <a:cs typeface="Aptos Display"/>
              </a:rPr>
              <a:t>OUTCOME</a:t>
            </a:r>
          </a:p>
        </p:txBody>
      </p:sp>
      <p:sp>
        <p:nvSpPr>
          <p:cNvPr id="33" name="Rectangle 32">
            <a:extLst>
              <a:ext uri="{FF2B5EF4-FFF2-40B4-BE49-F238E27FC236}">
                <a16:creationId xmlns:a16="http://schemas.microsoft.com/office/drawing/2014/main" id="{00000003-0021-4000-8000-000000000000}"/>
              </a:ext>
            </a:extLst>
          </p:cNvPr>
          <p:cNvSpPr>
            <a:spLocks noGrp="1"/>
          </p:cNvSpPr>
          <p:nvPr/>
        </p:nvSpPr>
        <p:spPr>
          <a:xfrm>
            <a:off x="8972550" y="3771900"/>
            <a:ext cx="2381250" cy="419100"/>
          </a:xfrm>
          <a:prstGeom prst="rect">
            <a:avLst/>
          </a:prstGeom>
          <a:noFill/>
          <a:ln w="0">
            <a:noFill/>
            <a:prstDash val="solid"/>
          </a:ln>
        </p:spPr>
        <p:txBody>
          <a:bodyPr wrap="square" lIns="0" tIns="0" rIns="0" bIns="0" anchor="ctr">
            <a:normAutofit/>
          </a:bodyPr>
          <a:lstStyle/>
          <a:p>
            <a:pPr algn="ctr">
              <a:lnSpc>
                <a:spcPct val="100000"/>
              </a:lnSpc>
              <a:buNone/>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Not a feature</a:t>
            </a:r>
          </a:p>
        </p:txBody>
      </p:sp>
      <p:sp>
        <p:nvSpPr>
          <p:cNvPr id="34" name="Rectangle 33">
            <a:extLst>
              <a:ext uri="{FF2B5EF4-FFF2-40B4-BE49-F238E27FC236}">
                <a16:creationId xmlns:a16="http://schemas.microsoft.com/office/drawing/2014/main" id="{00000003-0022-4000-8000-000000000000}"/>
              </a:ext>
            </a:extLst>
          </p:cNvPr>
          <p:cNvSpPr>
            <a:spLocks noGrp="1"/>
          </p:cNvSpPr>
          <p:nvPr/>
        </p:nvSpPr>
        <p:spPr>
          <a:xfrm>
            <a:off x="1143000" y="5257800"/>
            <a:ext cx="9906000" cy="457200"/>
          </a:xfrm>
          <a:prstGeom prst="rect">
            <a:avLst/>
          </a:prstGeom>
          <a:noFill/>
          <a:ln w="0">
            <a:noFill/>
            <a:prstDash val="solid"/>
          </a:ln>
        </p:spPr>
        <p:txBody>
          <a:bodyPr wrap="square" lIns="0" tIns="0" rIns="0" bIns="0" anchor="ctr">
            <a:normAutofit/>
          </a:bodyPr>
          <a:lstStyle/>
          <a:p>
            <a:pPr algn="ctr">
              <a:lnSpc>
                <a:spcPct val="100000"/>
              </a:lnSpc>
              <a:buNone/>
              <a:defRPr sz="2100" b="0">
                <a:solidFill>
                  <a:srgbClr val="5E6F72"/>
                </a:solidFill>
                <a:latin typeface="Aptos"/>
                <a:ea typeface="Aptos"/>
                <a:cs typeface="Aptos"/>
              </a:defRPr>
            </a:pPr>
            <a:r>
              <a:rPr sz="2100" b="0">
                <a:solidFill>
                  <a:srgbClr val="5E6F72"/>
                </a:solidFill>
                <a:latin typeface="Aptos"/>
                <a:ea typeface="Aptos"/>
                <a:cs typeface="Aptos"/>
              </a:rPr>
              <a:t>Check: availability · ID · units · provenance</a:t>
            </a:r>
          </a:p>
        </p:txBody>
      </p:sp>
    </p:spTree>
    <p:extLst>
      <p:ext uri="{BB962C8B-B14F-4D97-AF65-F5344CB8AC3E}">
        <p14:creationId xmlns:p14="http://schemas.microsoft.com/office/powerpoint/2010/main" val="300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00000004-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04-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a:solidFill>
                  <a:srgbClr val="007C7A"/>
                </a:solidFill>
                <a:latin typeface="Aptos Display"/>
                <a:ea typeface="Aptos Display"/>
                <a:cs typeface="Aptos Display"/>
              </a:rPr>
              <a:t>AUDIT</a:t>
            </a:r>
          </a:p>
        </p:txBody>
      </p:sp>
      <p:sp>
        <p:nvSpPr>
          <p:cNvPr id="3" name="Rectangle 2">
            <a:extLst>
              <a:ext uri="{FF2B5EF4-FFF2-40B4-BE49-F238E27FC236}">
                <a16:creationId xmlns:a16="http://schemas.microsoft.com/office/drawing/2014/main" id="{00000004-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Data-quality audit checklist</a:t>
            </a:r>
          </a:p>
        </p:txBody>
      </p:sp>
      <p:sp>
        <p:nvSpPr>
          <p:cNvPr id="4" name="Rectangle 3">
            <a:extLst>
              <a:ext uri="{FF2B5EF4-FFF2-40B4-BE49-F238E27FC236}">
                <a16:creationId xmlns:a16="http://schemas.microsoft.com/office/drawing/2014/main" id="{00000004-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fontScale="95003"/>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22–30 min</a:t>
            </a:r>
          </a:p>
        </p:txBody>
      </p:sp>
      <p:sp>
        <p:nvSpPr>
          <p:cNvPr id="5" name="Rectangle 4">
            <a:extLst>
              <a:ext uri="{FF2B5EF4-FFF2-40B4-BE49-F238E27FC236}">
                <a16:creationId xmlns:a16="http://schemas.microsoft.com/office/drawing/2014/main" id="{00000004-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04-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04</a:t>
            </a:r>
          </a:p>
        </p:txBody>
      </p:sp>
      <p:sp>
        <p:nvSpPr>
          <p:cNvPr id="7" name="Rectangle 6">
            <a:extLst>
              <a:ext uri="{FF2B5EF4-FFF2-40B4-BE49-F238E27FC236}">
                <a16:creationId xmlns:a16="http://schemas.microsoft.com/office/drawing/2014/main" id="{00000004-0007-4000-8000-000000000000}"/>
              </a:ext>
            </a:extLst>
          </p:cNvPr>
          <p:cNvSpPr>
            <a:spLocks noGrp="1"/>
          </p:cNvSpPr>
          <p:nvPr/>
        </p:nvSpPr>
        <p:spPr>
          <a:xfrm>
            <a:off x="742950" y="1581150"/>
            <a:ext cx="6667500" cy="381000"/>
          </a:xfrm>
          <a:prstGeom prst="rect">
            <a:avLst/>
          </a:prstGeom>
          <a:noFill/>
          <a:ln w="0">
            <a:noFill/>
            <a:prstDash val="solid"/>
          </a:ln>
        </p:spPr>
        <p:txBody>
          <a:bodyPr wrap="square" lIns="0" tIns="0" rIns="0" bIns="0" anchor="ctr">
            <a:normAutofit/>
          </a:bodyPr>
          <a:lstStyle/>
          <a:p>
            <a:pPr algn="l">
              <a:lnSpc>
                <a:spcPct val="100000"/>
              </a:lnSpc>
              <a:buNone/>
              <a:defRPr sz="2100" b="0">
                <a:solidFill>
                  <a:srgbClr val="5E6F72"/>
                </a:solidFill>
                <a:latin typeface="Aptos"/>
                <a:ea typeface="Aptos"/>
                <a:cs typeface="Aptos"/>
              </a:defRPr>
            </a:pPr>
            <a:r>
              <a:rPr sz="2100" b="0">
                <a:solidFill>
                  <a:srgbClr val="5E6F72"/>
                </a:solidFill>
                <a:latin typeface="Aptos"/>
                <a:ea typeface="Aptos"/>
                <a:cs typeface="Aptos"/>
              </a:rPr>
              <a:t>Inspect first. Correct second.</a:t>
            </a:r>
          </a:p>
        </p:txBody>
      </p:sp>
      <p:sp>
        <p:nvSpPr>
          <p:cNvPr id="8" name="audit-lens">
            <a:extLst>
              <a:ext uri="{FF2B5EF4-FFF2-40B4-BE49-F238E27FC236}">
                <a16:creationId xmlns:a16="http://schemas.microsoft.com/office/drawing/2014/main" id="{00000004-0008-4000-8000-000000000000}"/>
              </a:ext>
            </a:extLst>
          </p:cNvPr>
          <p:cNvSpPr>
            <a:spLocks noGrp="1"/>
          </p:cNvSpPr>
          <p:nvPr/>
        </p:nvSpPr>
        <p:spPr>
          <a:xfrm>
            <a:off x="4819650" y="2362200"/>
            <a:ext cx="2171700" cy="2171700"/>
          </a:xfrm>
          <a:prstGeom prst="ellipse">
            <a:avLst/>
          </a:prstGeom>
          <a:solidFill>
            <a:srgbClr val="FFFFFF"/>
          </a:solidFill>
          <a:ln w="47625">
            <a:solidFill>
              <a:srgbClr val="007C7A"/>
            </a:solidFill>
            <a:prstDash val="solid"/>
          </a:ln>
        </p:spPr>
        <p:txBody>
          <a:bodyPr/>
          <a:lstStyle/>
          <a:p>
            <a:endParaRPr lang="en-US"/>
          </a:p>
        </p:txBody>
      </p:sp>
      <p:sp>
        <p:nvSpPr>
          <p:cNvPr id="9" name="Rectangle 8">
            <a:extLst>
              <a:ext uri="{FF2B5EF4-FFF2-40B4-BE49-F238E27FC236}">
                <a16:creationId xmlns:a16="http://schemas.microsoft.com/office/drawing/2014/main" id="{00000004-0009-4000-8000-000000000000}"/>
              </a:ext>
            </a:extLst>
          </p:cNvPr>
          <p:cNvSpPr>
            <a:spLocks noGrp="1"/>
          </p:cNvSpPr>
          <p:nvPr/>
        </p:nvSpPr>
        <p:spPr>
          <a:xfrm>
            <a:off x="4819650" y="2362200"/>
            <a:ext cx="2171700" cy="2171700"/>
          </a:xfrm>
          <a:prstGeom prst="rect">
            <a:avLst/>
          </a:prstGeom>
          <a:noFill/>
          <a:ln w="0">
            <a:noFill/>
            <a:prstDash val="solid"/>
          </a:ln>
        </p:spPr>
        <p:txBody>
          <a:bodyPr wrap="square" lIns="0" tIns="0" rIns="0" bIns="0" anchor="ctr">
            <a:normAutofit/>
          </a:bodyPr>
          <a:lstStyle/>
          <a:p>
            <a:pPr algn="ctr">
              <a:lnSpc>
                <a:spcPct val="100000"/>
              </a:lnSpc>
              <a:buNone/>
              <a:defRPr sz="3150" b="1">
                <a:solidFill>
                  <a:srgbClr val="007C7A"/>
                </a:solidFill>
                <a:latin typeface="Aptos Display"/>
                <a:ea typeface="Aptos Display"/>
                <a:cs typeface="Aptos Display"/>
              </a:defRPr>
            </a:pPr>
            <a:r>
              <a:rPr sz="3150" b="1">
                <a:solidFill>
                  <a:srgbClr val="007C7A"/>
                </a:solidFill>
                <a:latin typeface="Aptos Display"/>
                <a:ea typeface="Aptos Display"/>
                <a:cs typeface="Aptos Display"/>
              </a:rPr>
              <a:t>AUDIT</a:t>
            </a:r>
          </a:p>
        </p:txBody>
      </p:sp>
      <p:sp>
        <p:nvSpPr>
          <p:cNvPr id="10" name="audit-handle">
            <a:extLst>
              <a:ext uri="{FF2B5EF4-FFF2-40B4-BE49-F238E27FC236}">
                <a16:creationId xmlns:a16="http://schemas.microsoft.com/office/drawing/2014/main" id="{00000004-000A-4000-8000-000000000000}"/>
              </a:ext>
            </a:extLst>
          </p:cNvPr>
          <p:cNvSpPr>
            <a:spLocks noGrp="1"/>
          </p:cNvSpPr>
          <p:nvPr/>
        </p:nvSpPr>
        <p:spPr>
          <a:xfrm>
            <a:off x="6591300" y="4171950"/>
            <a:ext cx="1085850" cy="876300"/>
          </a:xfrm>
          <a:prstGeom prst="line">
            <a:avLst/>
          </a:prstGeom>
          <a:noFill/>
          <a:ln w="114300">
            <a:solidFill>
              <a:srgbClr val="007C7A"/>
            </a:solidFill>
            <a:prstDash val="solid"/>
          </a:ln>
        </p:spPr>
        <p:txBody>
          <a:bodyPr/>
          <a:lstStyle/>
          <a:p>
            <a:endParaRPr lang="en-US"/>
          </a:p>
        </p:txBody>
      </p:sp>
      <p:sp>
        <p:nvSpPr>
          <p:cNvPr id="11" name="Rectangle 10">
            <a:extLst>
              <a:ext uri="{FF2B5EF4-FFF2-40B4-BE49-F238E27FC236}">
                <a16:creationId xmlns:a16="http://schemas.microsoft.com/office/drawing/2014/main" id="{00000004-000B-4000-8000-000000000000}"/>
              </a:ext>
            </a:extLst>
          </p:cNvPr>
          <p:cNvSpPr>
            <a:spLocks noGrp="1"/>
          </p:cNvSpPr>
          <p:nvPr/>
        </p:nvSpPr>
        <p:spPr>
          <a:xfrm>
            <a:off x="742950" y="2266950"/>
            <a:ext cx="438150" cy="400050"/>
          </a:xfrm>
          <a:prstGeom prst="rect">
            <a:avLst/>
          </a:prstGeom>
          <a:noFill/>
          <a:ln w="0">
            <a:noFill/>
            <a:prstDash val="solid"/>
          </a:ln>
        </p:spPr>
        <p:txBody>
          <a:bodyPr wrap="square" lIns="0" tIns="0" rIns="0" bIns="0" anchor="ctr">
            <a:normAutofit/>
          </a:bodyPr>
          <a:lstStyle/>
          <a:p>
            <a:pPr algn="l">
              <a:lnSpc>
                <a:spcPct val="100000"/>
              </a:lnSpc>
              <a:buNone/>
              <a:defRPr sz="1500" b="1">
                <a:solidFill>
                  <a:srgbClr val="EF6A5B"/>
                </a:solidFill>
                <a:latin typeface="Aptos Display"/>
                <a:ea typeface="Aptos Display"/>
                <a:cs typeface="Aptos Display"/>
              </a:defRPr>
            </a:pPr>
            <a:r>
              <a:rPr sz="1500" b="1">
                <a:solidFill>
                  <a:srgbClr val="EF6A5B"/>
                </a:solidFill>
                <a:latin typeface="Aptos Display"/>
                <a:ea typeface="Aptos Display"/>
                <a:cs typeface="Aptos Display"/>
              </a:rPr>
              <a:t>01</a:t>
            </a:r>
          </a:p>
        </p:txBody>
      </p:sp>
      <p:sp>
        <p:nvSpPr>
          <p:cNvPr id="12" name="Rectangle 11">
            <a:extLst>
              <a:ext uri="{FF2B5EF4-FFF2-40B4-BE49-F238E27FC236}">
                <a16:creationId xmlns:a16="http://schemas.microsoft.com/office/drawing/2014/main" id="{00000004-000C-4000-8000-000000000000}"/>
              </a:ext>
            </a:extLst>
          </p:cNvPr>
          <p:cNvSpPr>
            <a:spLocks noGrp="1"/>
          </p:cNvSpPr>
          <p:nvPr/>
        </p:nvSpPr>
        <p:spPr>
          <a:xfrm>
            <a:off x="1238250" y="2266950"/>
            <a:ext cx="3048000" cy="400050"/>
          </a:xfrm>
          <a:prstGeom prst="rect">
            <a:avLst/>
          </a:prstGeom>
          <a:noFill/>
          <a:ln w="0">
            <a:noFill/>
            <a:prstDash val="solid"/>
          </a:ln>
        </p:spPr>
        <p:txBody>
          <a:bodyPr wrap="square" lIns="0" tIns="0" rIns="0" bIns="0" anchor="ctr">
            <a:normAutofit/>
          </a:bodyPr>
          <a:lstStyle/>
          <a:p>
            <a:pPr algn="l">
              <a:lnSpc>
                <a:spcPct val="100000"/>
              </a:lnSpc>
              <a:buNone/>
              <a:defRPr sz="2250" b="1">
                <a:solidFill>
                  <a:srgbClr val="17343A"/>
                </a:solidFill>
                <a:latin typeface="Aptos Display"/>
                <a:ea typeface="Aptos Display"/>
                <a:cs typeface="Aptos Display"/>
              </a:defRPr>
            </a:pPr>
            <a:r>
              <a:rPr sz="2250" b="1">
                <a:solidFill>
                  <a:srgbClr val="17343A"/>
                </a:solidFill>
                <a:latin typeface="Aptos Display"/>
                <a:ea typeface="Aptos Display"/>
                <a:cs typeface="Aptos Display"/>
              </a:rPr>
              <a:t>Types</a:t>
            </a:r>
          </a:p>
        </p:txBody>
      </p:sp>
      <p:sp>
        <p:nvSpPr>
          <p:cNvPr id="13" name="Rectangle 12">
            <a:extLst>
              <a:ext uri="{FF2B5EF4-FFF2-40B4-BE49-F238E27FC236}">
                <a16:creationId xmlns:a16="http://schemas.microsoft.com/office/drawing/2014/main" id="{00000004-000D-4000-8000-000000000000}"/>
              </a:ext>
            </a:extLst>
          </p:cNvPr>
          <p:cNvSpPr>
            <a:spLocks noGrp="1"/>
          </p:cNvSpPr>
          <p:nvPr/>
        </p:nvSpPr>
        <p:spPr>
          <a:xfrm>
            <a:off x="742950" y="2800350"/>
            <a:ext cx="3429000" cy="19050"/>
          </a:xfrm>
          <a:prstGeom prst="rect">
            <a:avLst/>
          </a:prstGeom>
          <a:solidFill>
            <a:srgbClr val="DCEAE4"/>
          </a:solidFill>
          <a:ln w="0">
            <a:solidFill>
              <a:srgbClr val="DCEAE4"/>
            </a:solidFill>
            <a:prstDash val="solid"/>
          </a:ln>
        </p:spPr>
        <p:txBody>
          <a:bodyPr/>
          <a:lstStyle/>
          <a:p>
            <a:endParaRPr lang="en-US"/>
          </a:p>
        </p:txBody>
      </p:sp>
      <p:sp>
        <p:nvSpPr>
          <p:cNvPr id="14" name="Rectangle 13">
            <a:extLst>
              <a:ext uri="{FF2B5EF4-FFF2-40B4-BE49-F238E27FC236}">
                <a16:creationId xmlns:a16="http://schemas.microsoft.com/office/drawing/2014/main" id="{00000004-000E-4000-8000-000000000000}"/>
              </a:ext>
            </a:extLst>
          </p:cNvPr>
          <p:cNvSpPr>
            <a:spLocks noGrp="1"/>
          </p:cNvSpPr>
          <p:nvPr/>
        </p:nvSpPr>
        <p:spPr>
          <a:xfrm>
            <a:off x="7905750" y="2266950"/>
            <a:ext cx="438150" cy="400050"/>
          </a:xfrm>
          <a:prstGeom prst="rect">
            <a:avLst/>
          </a:prstGeom>
          <a:noFill/>
          <a:ln w="0">
            <a:noFill/>
            <a:prstDash val="solid"/>
          </a:ln>
        </p:spPr>
        <p:txBody>
          <a:bodyPr wrap="square" lIns="0" tIns="0" rIns="0" bIns="0" anchor="ctr">
            <a:normAutofit/>
          </a:bodyPr>
          <a:lstStyle/>
          <a:p>
            <a:pPr algn="l">
              <a:lnSpc>
                <a:spcPct val="100000"/>
              </a:lnSpc>
              <a:buNone/>
              <a:defRPr sz="1500" b="1">
                <a:solidFill>
                  <a:srgbClr val="EF6A5B"/>
                </a:solidFill>
                <a:latin typeface="Aptos Display"/>
                <a:ea typeface="Aptos Display"/>
                <a:cs typeface="Aptos Display"/>
              </a:defRPr>
            </a:pPr>
            <a:r>
              <a:rPr sz="1500" b="1">
                <a:solidFill>
                  <a:srgbClr val="EF6A5B"/>
                </a:solidFill>
                <a:latin typeface="Aptos Display"/>
                <a:ea typeface="Aptos Display"/>
                <a:cs typeface="Aptos Display"/>
              </a:rPr>
              <a:t>04</a:t>
            </a:r>
          </a:p>
        </p:txBody>
      </p:sp>
      <p:sp>
        <p:nvSpPr>
          <p:cNvPr id="15" name="Rectangle 14">
            <a:extLst>
              <a:ext uri="{FF2B5EF4-FFF2-40B4-BE49-F238E27FC236}">
                <a16:creationId xmlns:a16="http://schemas.microsoft.com/office/drawing/2014/main" id="{00000004-000F-4000-8000-000000000000}"/>
              </a:ext>
            </a:extLst>
          </p:cNvPr>
          <p:cNvSpPr>
            <a:spLocks noGrp="1"/>
          </p:cNvSpPr>
          <p:nvPr/>
        </p:nvSpPr>
        <p:spPr>
          <a:xfrm>
            <a:off x="8401050" y="2266950"/>
            <a:ext cx="3048000" cy="400050"/>
          </a:xfrm>
          <a:prstGeom prst="rect">
            <a:avLst/>
          </a:prstGeom>
          <a:noFill/>
          <a:ln w="0">
            <a:noFill/>
            <a:prstDash val="solid"/>
          </a:ln>
        </p:spPr>
        <p:txBody>
          <a:bodyPr wrap="square" lIns="0" tIns="0" rIns="0" bIns="0" anchor="ctr">
            <a:normAutofit/>
          </a:bodyPr>
          <a:lstStyle/>
          <a:p>
            <a:pPr algn="l">
              <a:lnSpc>
                <a:spcPct val="100000"/>
              </a:lnSpc>
              <a:buNone/>
              <a:defRPr sz="2250" b="1">
                <a:solidFill>
                  <a:srgbClr val="17343A"/>
                </a:solidFill>
                <a:latin typeface="Aptos Display"/>
                <a:ea typeface="Aptos Display"/>
                <a:cs typeface="Aptos Display"/>
              </a:defRPr>
            </a:pPr>
            <a:r>
              <a:rPr sz="2250" b="1">
                <a:solidFill>
                  <a:srgbClr val="17343A"/>
                </a:solidFill>
                <a:latin typeface="Aptos Display"/>
                <a:ea typeface="Aptos Display"/>
                <a:cs typeface="Aptos Display"/>
              </a:rPr>
              <a:t>Invalid ranges</a:t>
            </a:r>
          </a:p>
        </p:txBody>
      </p:sp>
      <p:sp>
        <p:nvSpPr>
          <p:cNvPr id="16" name="Rectangle 15">
            <a:extLst>
              <a:ext uri="{FF2B5EF4-FFF2-40B4-BE49-F238E27FC236}">
                <a16:creationId xmlns:a16="http://schemas.microsoft.com/office/drawing/2014/main" id="{00000004-0010-4000-8000-000000000000}"/>
              </a:ext>
            </a:extLst>
          </p:cNvPr>
          <p:cNvSpPr>
            <a:spLocks noGrp="1"/>
          </p:cNvSpPr>
          <p:nvPr/>
        </p:nvSpPr>
        <p:spPr>
          <a:xfrm>
            <a:off x="7905750" y="2800350"/>
            <a:ext cx="3524250" cy="19050"/>
          </a:xfrm>
          <a:prstGeom prst="rect">
            <a:avLst/>
          </a:prstGeom>
          <a:solidFill>
            <a:srgbClr val="DCEAE4"/>
          </a:solidFill>
          <a:ln w="0">
            <a:solidFill>
              <a:srgbClr val="DCEAE4"/>
            </a:solidFill>
            <a:prstDash val="solid"/>
          </a:ln>
        </p:spPr>
        <p:txBody>
          <a:bodyPr/>
          <a:lstStyle/>
          <a:p>
            <a:endParaRPr lang="en-US"/>
          </a:p>
        </p:txBody>
      </p:sp>
      <p:sp>
        <p:nvSpPr>
          <p:cNvPr id="17" name="Rectangle 16">
            <a:extLst>
              <a:ext uri="{FF2B5EF4-FFF2-40B4-BE49-F238E27FC236}">
                <a16:creationId xmlns:a16="http://schemas.microsoft.com/office/drawing/2014/main" id="{00000004-0011-4000-8000-000000000000}"/>
              </a:ext>
            </a:extLst>
          </p:cNvPr>
          <p:cNvSpPr>
            <a:spLocks noGrp="1"/>
          </p:cNvSpPr>
          <p:nvPr/>
        </p:nvSpPr>
        <p:spPr>
          <a:xfrm>
            <a:off x="742950" y="3390900"/>
            <a:ext cx="438150" cy="400050"/>
          </a:xfrm>
          <a:prstGeom prst="rect">
            <a:avLst/>
          </a:prstGeom>
          <a:noFill/>
          <a:ln w="0">
            <a:noFill/>
            <a:prstDash val="solid"/>
          </a:ln>
        </p:spPr>
        <p:txBody>
          <a:bodyPr wrap="square" lIns="0" tIns="0" rIns="0" bIns="0" anchor="ctr">
            <a:normAutofit/>
          </a:bodyPr>
          <a:lstStyle/>
          <a:p>
            <a:pPr algn="l">
              <a:lnSpc>
                <a:spcPct val="100000"/>
              </a:lnSpc>
              <a:buNone/>
              <a:defRPr sz="1500" b="1">
                <a:solidFill>
                  <a:srgbClr val="EF6A5B"/>
                </a:solidFill>
                <a:latin typeface="Aptos Display"/>
                <a:ea typeface="Aptos Display"/>
                <a:cs typeface="Aptos Display"/>
              </a:defRPr>
            </a:pPr>
            <a:r>
              <a:rPr sz="1500" b="1">
                <a:solidFill>
                  <a:srgbClr val="EF6A5B"/>
                </a:solidFill>
                <a:latin typeface="Aptos Display"/>
                <a:ea typeface="Aptos Display"/>
                <a:cs typeface="Aptos Display"/>
              </a:rPr>
              <a:t>02</a:t>
            </a:r>
          </a:p>
        </p:txBody>
      </p:sp>
      <p:sp>
        <p:nvSpPr>
          <p:cNvPr id="18" name="Rectangle 17">
            <a:extLst>
              <a:ext uri="{FF2B5EF4-FFF2-40B4-BE49-F238E27FC236}">
                <a16:creationId xmlns:a16="http://schemas.microsoft.com/office/drawing/2014/main" id="{00000004-0012-4000-8000-000000000000}"/>
              </a:ext>
            </a:extLst>
          </p:cNvPr>
          <p:cNvSpPr>
            <a:spLocks noGrp="1"/>
          </p:cNvSpPr>
          <p:nvPr/>
        </p:nvSpPr>
        <p:spPr>
          <a:xfrm>
            <a:off x="1238250" y="3390900"/>
            <a:ext cx="3048000" cy="400050"/>
          </a:xfrm>
          <a:prstGeom prst="rect">
            <a:avLst/>
          </a:prstGeom>
          <a:noFill/>
          <a:ln w="0">
            <a:noFill/>
            <a:prstDash val="solid"/>
          </a:ln>
        </p:spPr>
        <p:txBody>
          <a:bodyPr wrap="square" lIns="0" tIns="0" rIns="0" bIns="0" anchor="ctr">
            <a:normAutofit/>
          </a:bodyPr>
          <a:lstStyle/>
          <a:p>
            <a:pPr algn="l">
              <a:lnSpc>
                <a:spcPct val="100000"/>
              </a:lnSpc>
              <a:buNone/>
              <a:defRPr sz="2250" b="1">
                <a:solidFill>
                  <a:srgbClr val="17343A"/>
                </a:solidFill>
                <a:latin typeface="Aptos Display"/>
                <a:ea typeface="Aptos Display"/>
                <a:cs typeface="Aptos Display"/>
              </a:defRPr>
            </a:pPr>
            <a:r>
              <a:rPr sz="2250" b="1">
                <a:solidFill>
                  <a:srgbClr val="17343A"/>
                </a:solidFill>
                <a:latin typeface="Aptos Display"/>
                <a:ea typeface="Aptos Display"/>
                <a:cs typeface="Aptos Display"/>
              </a:rPr>
              <a:t>Missing values</a:t>
            </a:r>
          </a:p>
        </p:txBody>
      </p:sp>
      <p:sp>
        <p:nvSpPr>
          <p:cNvPr id="19" name="Rectangle 18">
            <a:extLst>
              <a:ext uri="{FF2B5EF4-FFF2-40B4-BE49-F238E27FC236}">
                <a16:creationId xmlns:a16="http://schemas.microsoft.com/office/drawing/2014/main" id="{00000004-0013-4000-8000-000000000000}"/>
              </a:ext>
            </a:extLst>
          </p:cNvPr>
          <p:cNvSpPr>
            <a:spLocks noGrp="1"/>
          </p:cNvSpPr>
          <p:nvPr/>
        </p:nvSpPr>
        <p:spPr>
          <a:xfrm>
            <a:off x="742950" y="3924300"/>
            <a:ext cx="3429000" cy="19050"/>
          </a:xfrm>
          <a:prstGeom prst="rect">
            <a:avLst/>
          </a:prstGeom>
          <a:solidFill>
            <a:srgbClr val="DCEAE4"/>
          </a:solidFill>
          <a:ln w="0">
            <a:solidFill>
              <a:srgbClr val="DCEAE4"/>
            </a:solidFill>
            <a:prstDash val="solid"/>
          </a:ln>
        </p:spPr>
        <p:txBody>
          <a:bodyPr/>
          <a:lstStyle/>
          <a:p>
            <a:endParaRPr lang="en-US"/>
          </a:p>
        </p:txBody>
      </p:sp>
      <p:sp>
        <p:nvSpPr>
          <p:cNvPr id="20" name="Rectangle 19">
            <a:extLst>
              <a:ext uri="{FF2B5EF4-FFF2-40B4-BE49-F238E27FC236}">
                <a16:creationId xmlns:a16="http://schemas.microsoft.com/office/drawing/2014/main" id="{00000004-0014-4000-8000-000000000000}"/>
              </a:ext>
            </a:extLst>
          </p:cNvPr>
          <p:cNvSpPr>
            <a:spLocks noGrp="1"/>
          </p:cNvSpPr>
          <p:nvPr/>
        </p:nvSpPr>
        <p:spPr>
          <a:xfrm>
            <a:off x="7905750" y="3390900"/>
            <a:ext cx="438150" cy="400050"/>
          </a:xfrm>
          <a:prstGeom prst="rect">
            <a:avLst/>
          </a:prstGeom>
          <a:noFill/>
          <a:ln w="0">
            <a:noFill/>
            <a:prstDash val="solid"/>
          </a:ln>
        </p:spPr>
        <p:txBody>
          <a:bodyPr wrap="square" lIns="0" tIns="0" rIns="0" bIns="0" anchor="ctr">
            <a:normAutofit/>
          </a:bodyPr>
          <a:lstStyle/>
          <a:p>
            <a:pPr algn="l">
              <a:lnSpc>
                <a:spcPct val="100000"/>
              </a:lnSpc>
              <a:buNone/>
              <a:defRPr sz="1500" b="1">
                <a:solidFill>
                  <a:srgbClr val="EF6A5B"/>
                </a:solidFill>
                <a:latin typeface="Aptos Display"/>
                <a:ea typeface="Aptos Display"/>
                <a:cs typeface="Aptos Display"/>
              </a:defRPr>
            </a:pPr>
            <a:r>
              <a:rPr sz="1500" b="1">
                <a:solidFill>
                  <a:srgbClr val="EF6A5B"/>
                </a:solidFill>
                <a:latin typeface="Aptos Display"/>
                <a:ea typeface="Aptos Display"/>
                <a:cs typeface="Aptos Display"/>
              </a:rPr>
              <a:t>05</a:t>
            </a:r>
          </a:p>
        </p:txBody>
      </p:sp>
      <p:sp>
        <p:nvSpPr>
          <p:cNvPr id="21" name="Rectangle 20">
            <a:extLst>
              <a:ext uri="{FF2B5EF4-FFF2-40B4-BE49-F238E27FC236}">
                <a16:creationId xmlns:a16="http://schemas.microsoft.com/office/drawing/2014/main" id="{00000004-0015-4000-8000-000000000000}"/>
              </a:ext>
            </a:extLst>
          </p:cNvPr>
          <p:cNvSpPr>
            <a:spLocks noGrp="1"/>
          </p:cNvSpPr>
          <p:nvPr/>
        </p:nvSpPr>
        <p:spPr>
          <a:xfrm>
            <a:off x="8401050" y="3390900"/>
            <a:ext cx="3048000" cy="400050"/>
          </a:xfrm>
          <a:prstGeom prst="rect">
            <a:avLst/>
          </a:prstGeom>
          <a:noFill/>
          <a:ln w="0">
            <a:noFill/>
            <a:prstDash val="solid"/>
          </a:ln>
        </p:spPr>
        <p:txBody>
          <a:bodyPr wrap="square" lIns="0" tIns="0" rIns="0" bIns="0" anchor="ctr">
            <a:normAutofit fontScale="95678"/>
          </a:bodyPr>
          <a:lstStyle/>
          <a:p>
            <a:pPr algn="l">
              <a:lnSpc>
                <a:spcPct val="100000"/>
              </a:lnSpc>
              <a:buNone/>
              <a:defRPr sz="2250" b="1">
                <a:solidFill>
                  <a:srgbClr val="17343A"/>
                </a:solidFill>
                <a:latin typeface="Aptos Display"/>
                <a:ea typeface="Aptos Display"/>
                <a:cs typeface="Aptos Display"/>
              </a:defRPr>
            </a:pPr>
            <a:r>
              <a:rPr sz="2250" b="1">
                <a:solidFill>
                  <a:srgbClr val="17343A"/>
                </a:solidFill>
                <a:latin typeface="Aptos Display"/>
                <a:ea typeface="Aptos Display"/>
                <a:cs typeface="Aptos Display"/>
              </a:rPr>
              <a:t>Inconsistent categories</a:t>
            </a:r>
          </a:p>
        </p:txBody>
      </p:sp>
      <p:sp>
        <p:nvSpPr>
          <p:cNvPr id="22" name="Rectangle 21">
            <a:extLst>
              <a:ext uri="{FF2B5EF4-FFF2-40B4-BE49-F238E27FC236}">
                <a16:creationId xmlns:a16="http://schemas.microsoft.com/office/drawing/2014/main" id="{00000004-0016-4000-8000-000000000000}"/>
              </a:ext>
            </a:extLst>
          </p:cNvPr>
          <p:cNvSpPr>
            <a:spLocks noGrp="1"/>
          </p:cNvSpPr>
          <p:nvPr/>
        </p:nvSpPr>
        <p:spPr>
          <a:xfrm>
            <a:off x="7905750" y="3924300"/>
            <a:ext cx="3524250" cy="19050"/>
          </a:xfrm>
          <a:prstGeom prst="rect">
            <a:avLst/>
          </a:prstGeom>
          <a:solidFill>
            <a:srgbClr val="DCEAE4"/>
          </a:solidFill>
          <a:ln w="0">
            <a:solidFill>
              <a:srgbClr val="DCEAE4"/>
            </a:solidFill>
            <a:prstDash val="solid"/>
          </a:ln>
        </p:spPr>
        <p:txBody>
          <a:bodyPr/>
          <a:lstStyle/>
          <a:p>
            <a:endParaRPr lang="en-US"/>
          </a:p>
        </p:txBody>
      </p:sp>
      <p:sp>
        <p:nvSpPr>
          <p:cNvPr id="23" name="Rectangle 22">
            <a:extLst>
              <a:ext uri="{FF2B5EF4-FFF2-40B4-BE49-F238E27FC236}">
                <a16:creationId xmlns:a16="http://schemas.microsoft.com/office/drawing/2014/main" id="{00000004-0017-4000-8000-000000000000}"/>
              </a:ext>
            </a:extLst>
          </p:cNvPr>
          <p:cNvSpPr>
            <a:spLocks noGrp="1"/>
          </p:cNvSpPr>
          <p:nvPr/>
        </p:nvSpPr>
        <p:spPr>
          <a:xfrm>
            <a:off x="742950" y="4514850"/>
            <a:ext cx="438150" cy="400050"/>
          </a:xfrm>
          <a:prstGeom prst="rect">
            <a:avLst/>
          </a:prstGeom>
          <a:noFill/>
          <a:ln w="0">
            <a:noFill/>
            <a:prstDash val="solid"/>
          </a:ln>
        </p:spPr>
        <p:txBody>
          <a:bodyPr wrap="square" lIns="0" tIns="0" rIns="0" bIns="0" anchor="ctr">
            <a:normAutofit/>
          </a:bodyPr>
          <a:lstStyle/>
          <a:p>
            <a:pPr algn="l">
              <a:lnSpc>
                <a:spcPct val="100000"/>
              </a:lnSpc>
              <a:buNone/>
              <a:defRPr sz="1500" b="1">
                <a:solidFill>
                  <a:srgbClr val="EF6A5B"/>
                </a:solidFill>
                <a:latin typeface="Aptos Display"/>
                <a:ea typeface="Aptos Display"/>
                <a:cs typeface="Aptos Display"/>
              </a:defRPr>
            </a:pPr>
            <a:r>
              <a:rPr sz="1500" b="1">
                <a:solidFill>
                  <a:srgbClr val="EF6A5B"/>
                </a:solidFill>
                <a:latin typeface="Aptos Display"/>
                <a:ea typeface="Aptos Display"/>
                <a:cs typeface="Aptos Display"/>
              </a:rPr>
              <a:t>03</a:t>
            </a:r>
          </a:p>
        </p:txBody>
      </p:sp>
      <p:sp>
        <p:nvSpPr>
          <p:cNvPr id="24" name="Rectangle 23">
            <a:extLst>
              <a:ext uri="{FF2B5EF4-FFF2-40B4-BE49-F238E27FC236}">
                <a16:creationId xmlns:a16="http://schemas.microsoft.com/office/drawing/2014/main" id="{00000004-0018-4000-8000-000000000000}"/>
              </a:ext>
            </a:extLst>
          </p:cNvPr>
          <p:cNvSpPr>
            <a:spLocks noGrp="1"/>
          </p:cNvSpPr>
          <p:nvPr/>
        </p:nvSpPr>
        <p:spPr>
          <a:xfrm>
            <a:off x="1238250" y="4514850"/>
            <a:ext cx="3048000" cy="400050"/>
          </a:xfrm>
          <a:prstGeom prst="rect">
            <a:avLst/>
          </a:prstGeom>
          <a:noFill/>
          <a:ln w="0">
            <a:noFill/>
            <a:prstDash val="solid"/>
          </a:ln>
        </p:spPr>
        <p:txBody>
          <a:bodyPr wrap="square" lIns="0" tIns="0" rIns="0" bIns="0" anchor="ctr">
            <a:normAutofit/>
          </a:bodyPr>
          <a:lstStyle/>
          <a:p>
            <a:pPr algn="l">
              <a:lnSpc>
                <a:spcPct val="100000"/>
              </a:lnSpc>
              <a:buNone/>
              <a:defRPr sz="2250" b="1">
                <a:solidFill>
                  <a:srgbClr val="17343A"/>
                </a:solidFill>
                <a:latin typeface="Aptos Display"/>
                <a:ea typeface="Aptos Display"/>
                <a:cs typeface="Aptos Display"/>
              </a:defRPr>
            </a:pPr>
            <a:r>
              <a:rPr sz="2250" b="1">
                <a:solidFill>
                  <a:srgbClr val="17343A"/>
                </a:solidFill>
                <a:latin typeface="Aptos Display"/>
                <a:ea typeface="Aptos Display"/>
                <a:cs typeface="Aptos Display"/>
              </a:rPr>
              <a:t>Duplicates</a:t>
            </a:r>
          </a:p>
        </p:txBody>
      </p:sp>
      <p:sp>
        <p:nvSpPr>
          <p:cNvPr id="25" name="Rectangle 24">
            <a:extLst>
              <a:ext uri="{FF2B5EF4-FFF2-40B4-BE49-F238E27FC236}">
                <a16:creationId xmlns:a16="http://schemas.microsoft.com/office/drawing/2014/main" id="{00000004-0019-4000-8000-000000000000}"/>
              </a:ext>
            </a:extLst>
          </p:cNvPr>
          <p:cNvSpPr>
            <a:spLocks noGrp="1"/>
          </p:cNvSpPr>
          <p:nvPr/>
        </p:nvSpPr>
        <p:spPr>
          <a:xfrm>
            <a:off x="742950" y="5048250"/>
            <a:ext cx="3429000" cy="19050"/>
          </a:xfrm>
          <a:prstGeom prst="rect">
            <a:avLst/>
          </a:prstGeom>
          <a:solidFill>
            <a:srgbClr val="DCEAE4"/>
          </a:solidFill>
          <a:ln w="0">
            <a:solidFill>
              <a:srgbClr val="DCEAE4"/>
            </a:solidFill>
            <a:prstDash val="solid"/>
          </a:ln>
        </p:spPr>
        <p:txBody>
          <a:bodyPr/>
          <a:lstStyle/>
          <a:p>
            <a:endParaRPr lang="en-US"/>
          </a:p>
        </p:txBody>
      </p:sp>
      <p:sp>
        <p:nvSpPr>
          <p:cNvPr id="26" name="Rectangle 25">
            <a:extLst>
              <a:ext uri="{FF2B5EF4-FFF2-40B4-BE49-F238E27FC236}">
                <a16:creationId xmlns:a16="http://schemas.microsoft.com/office/drawing/2014/main" id="{00000004-001A-4000-8000-000000000000}"/>
              </a:ext>
            </a:extLst>
          </p:cNvPr>
          <p:cNvSpPr>
            <a:spLocks noGrp="1"/>
          </p:cNvSpPr>
          <p:nvPr/>
        </p:nvSpPr>
        <p:spPr>
          <a:xfrm>
            <a:off x="7905750" y="4514850"/>
            <a:ext cx="438150" cy="400050"/>
          </a:xfrm>
          <a:prstGeom prst="rect">
            <a:avLst/>
          </a:prstGeom>
          <a:noFill/>
          <a:ln w="0">
            <a:noFill/>
            <a:prstDash val="solid"/>
          </a:ln>
        </p:spPr>
        <p:txBody>
          <a:bodyPr wrap="square" lIns="0" tIns="0" rIns="0" bIns="0" anchor="ctr">
            <a:normAutofit/>
          </a:bodyPr>
          <a:lstStyle/>
          <a:p>
            <a:pPr algn="l">
              <a:lnSpc>
                <a:spcPct val="100000"/>
              </a:lnSpc>
              <a:buNone/>
              <a:defRPr sz="1500" b="1">
                <a:solidFill>
                  <a:srgbClr val="EF6A5B"/>
                </a:solidFill>
                <a:latin typeface="Aptos Display"/>
                <a:ea typeface="Aptos Display"/>
                <a:cs typeface="Aptos Display"/>
              </a:defRPr>
            </a:pPr>
            <a:r>
              <a:rPr sz="1500" b="1">
                <a:solidFill>
                  <a:srgbClr val="EF6A5B"/>
                </a:solidFill>
                <a:latin typeface="Aptos Display"/>
                <a:ea typeface="Aptos Display"/>
                <a:cs typeface="Aptos Display"/>
              </a:rPr>
              <a:t>06</a:t>
            </a:r>
          </a:p>
        </p:txBody>
      </p:sp>
      <p:sp>
        <p:nvSpPr>
          <p:cNvPr id="27" name="Rectangle 26">
            <a:extLst>
              <a:ext uri="{FF2B5EF4-FFF2-40B4-BE49-F238E27FC236}">
                <a16:creationId xmlns:a16="http://schemas.microsoft.com/office/drawing/2014/main" id="{00000004-001B-4000-8000-000000000000}"/>
              </a:ext>
            </a:extLst>
          </p:cNvPr>
          <p:cNvSpPr>
            <a:spLocks noGrp="1"/>
          </p:cNvSpPr>
          <p:nvPr/>
        </p:nvSpPr>
        <p:spPr>
          <a:xfrm>
            <a:off x="8401050" y="4514850"/>
            <a:ext cx="3048000" cy="400050"/>
          </a:xfrm>
          <a:prstGeom prst="rect">
            <a:avLst/>
          </a:prstGeom>
          <a:noFill/>
          <a:ln w="0">
            <a:noFill/>
            <a:prstDash val="solid"/>
          </a:ln>
        </p:spPr>
        <p:txBody>
          <a:bodyPr wrap="square" lIns="0" tIns="0" rIns="0" bIns="0" anchor="ctr">
            <a:normAutofit/>
          </a:bodyPr>
          <a:lstStyle/>
          <a:p>
            <a:pPr algn="l">
              <a:lnSpc>
                <a:spcPct val="100000"/>
              </a:lnSpc>
              <a:buNone/>
              <a:defRPr sz="2250" b="1">
                <a:solidFill>
                  <a:srgbClr val="17343A"/>
                </a:solidFill>
                <a:latin typeface="Aptos Display"/>
                <a:ea typeface="Aptos Display"/>
                <a:cs typeface="Aptos Display"/>
              </a:defRPr>
            </a:pPr>
            <a:r>
              <a:rPr sz="2250" b="1">
                <a:solidFill>
                  <a:srgbClr val="17343A"/>
                </a:solidFill>
                <a:latin typeface="Aptos Display"/>
                <a:ea typeface="Aptos Display"/>
                <a:cs typeface="Aptos Display"/>
              </a:rPr>
              <a:t>Provenance</a:t>
            </a:r>
          </a:p>
        </p:txBody>
      </p:sp>
      <p:sp>
        <p:nvSpPr>
          <p:cNvPr id="28" name="Rectangle 27">
            <a:extLst>
              <a:ext uri="{FF2B5EF4-FFF2-40B4-BE49-F238E27FC236}">
                <a16:creationId xmlns:a16="http://schemas.microsoft.com/office/drawing/2014/main" id="{00000004-001C-4000-8000-000000000000}"/>
              </a:ext>
            </a:extLst>
          </p:cNvPr>
          <p:cNvSpPr>
            <a:spLocks noGrp="1"/>
          </p:cNvSpPr>
          <p:nvPr/>
        </p:nvSpPr>
        <p:spPr>
          <a:xfrm>
            <a:off x="7905750" y="5048250"/>
            <a:ext cx="3524250" cy="19050"/>
          </a:xfrm>
          <a:prstGeom prst="rect">
            <a:avLst/>
          </a:prstGeom>
          <a:solidFill>
            <a:srgbClr val="DCEAE4"/>
          </a:solidFill>
          <a:ln w="0">
            <a:solidFill>
              <a:srgbClr val="DCEAE4"/>
            </a:solidFill>
            <a:prstDash val="solid"/>
          </a:ln>
        </p:spPr>
        <p:txBody>
          <a:bodyPr/>
          <a:lstStyle/>
          <a:p>
            <a:endParaRPr lang="en-US"/>
          </a:p>
        </p:txBody>
      </p:sp>
      <p:sp>
        <p:nvSpPr>
          <p:cNvPr id="29" name="Rectangle 28">
            <a:extLst>
              <a:ext uri="{FF2B5EF4-FFF2-40B4-BE49-F238E27FC236}">
                <a16:creationId xmlns:a16="http://schemas.microsoft.com/office/drawing/2014/main" id="{00000004-001D-4000-8000-000000000000}"/>
              </a:ext>
            </a:extLst>
          </p:cNvPr>
          <p:cNvSpPr>
            <a:spLocks noGrp="1"/>
          </p:cNvSpPr>
          <p:nvPr/>
        </p:nvSpPr>
        <p:spPr>
          <a:xfrm>
            <a:off x="4095750" y="5391150"/>
            <a:ext cx="4000500" cy="438150"/>
          </a:xfrm>
          <a:prstGeom prst="rect">
            <a:avLst/>
          </a:prstGeom>
          <a:noFill/>
          <a:ln w="0">
            <a:noFill/>
            <a:prstDash val="solid"/>
          </a:ln>
        </p:spPr>
        <p:txBody>
          <a:bodyPr wrap="square" lIns="0" tIns="0" rIns="0" bIns="0" anchor="ctr">
            <a:normAutofit/>
          </a:bodyPr>
          <a:lstStyle/>
          <a:p>
            <a:pPr algn="ctr">
              <a:lnSpc>
                <a:spcPct val="100000"/>
              </a:lnSpc>
              <a:buNone/>
              <a:defRPr sz="2250" b="1">
                <a:solidFill>
                  <a:srgbClr val="EF6A5B"/>
                </a:solidFill>
                <a:latin typeface="Aptos Display"/>
                <a:ea typeface="Aptos Display"/>
                <a:cs typeface="Aptos Display"/>
              </a:defRPr>
            </a:pPr>
            <a:r>
              <a:rPr sz="2250" b="1">
                <a:solidFill>
                  <a:srgbClr val="EF6A5B"/>
                </a:solidFill>
                <a:latin typeface="Aptos Display"/>
                <a:ea typeface="Aptos Display"/>
                <a:cs typeface="Aptos Display"/>
              </a:rPr>
              <a:t>null ≠ 0 ≠ invalid string</a:t>
            </a:r>
          </a:p>
        </p:txBody>
      </p:sp>
    </p:spTree>
    <p:extLst>
      <p:ext uri="{BB962C8B-B14F-4D97-AF65-F5344CB8AC3E}">
        <p14:creationId xmlns:p14="http://schemas.microsoft.com/office/powerpoint/2010/main" val="40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00000005-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05-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a:solidFill>
                  <a:srgbClr val="007C7A"/>
                </a:solidFill>
                <a:latin typeface="Aptos Display"/>
                <a:ea typeface="Aptos Display"/>
                <a:cs typeface="Aptos Display"/>
              </a:rPr>
              <a:t>MISSINGNESS</a:t>
            </a:r>
          </a:p>
        </p:txBody>
      </p:sp>
      <p:sp>
        <p:nvSpPr>
          <p:cNvPr id="3" name="Rectangle 2">
            <a:extLst>
              <a:ext uri="{FF2B5EF4-FFF2-40B4-BE49-F238E27FC236}">
                <a16:creationId xmlns:a16="http://schemas.microsoft.com/office/drawing/2014/main" id="{00000005-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fontScale="96334"/>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Missingness is a hypothesis—not a diagnosis</a:t>
            </a:r>
          </a:p>
        </p:txBody>
      </p:sp>
      <p:sp>
        <p:nvSpPr>
          <p:cNvPr id="4" name="Rectangle 3">
            <a:extLst>
              <a:ext uri="{FF2B5EF4-FFF2-40B4-BE49-F238E27FC236}">
                <a16:creationId xmlns:a16="http://schemas.microsoft.com/office/drawing/2014/main" id="{00000005-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fontScale="95003"/>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30–40 min</a:t>
            </a:r>
          </a:p>
        </p:txBody>
      </p:sp>
      <p:sp>
        <p:nvSpPr>
          <p:cNvPr id="5" name="Rectangle 4">
            <a:extLst>
              <a:ext uri="{FF2B5EF4-FFF2-40B4-BE49-F238E27FC236}">
                <a16:creationId xmlns:a16="http://schemas.microsoft.com/office/drawing/2014/main" id="{00000005-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05-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05</a:t>
            </a:r>
          </a:p>
        </p:txBody>
      </p:sp>
      <p:sp>
        <p:nvSpPr>
          <p:cNvPr id="7" name="Rectangle 6">
            <a:extLst>
              <a:ext uri="{FF2B5EF4-FFF2-40B4-BE49-F238E27FC236}">
                <a16:creationId xmlns:a16="http://schemas.microsoft.com/office/drawing/2014/main" id="{00000005-0007-4000-8000-000000000000}"/>
              </a:ext>
            </a:extLst>
          </p:cNvPr>
          <p:cNvSpPr>
            <a:spLocks noGrp="1"/>
          </p:cNvSpPr>
          <p:nvPr/>
        </p:nvSpPr>
        <p:spPr>
          <a:xfrm>
            <a:off x="742950" y="1562100"/>
            <a:ext cx="10382250" cy="514350"/>
          </a:xfrm>
          <a:prstGeom prst="rect">
            <a:avLst/>
          </a:prstGeom>
          <a:noFill/>
          <a:ln w="0">
            <a:noFill/>
            <a:prstDash val="solid"/>
          </a:ln>
        </p:spPr>
        <p:txBody>
          <a:bodyPr wrap="square" lIns="0" tIns="0" rIns="0" bIns="0" anchor="ctr">
            <a:normAutofit fontScale="93995"/>
          </a:bodyPr>
          <a:lstStyle/>
          <a:p>
            <a:pPr algn="l">
              <a:lnSpc>
                <a:spcPct val="100000"/>
              </a:lnSpc>
              <a:buNone/>
              <a:defRPr sz="2400" b="1">
                <a:solidFill>
                  <a:srgbClr val="17343A"/>
                </a:solidFill>
                <a:latin typeface="Aptos Display"/>
                <a:ea typeface="Aptos Display"/>
                <a:cs typeface="Aptos Display"/>
              </a:defRPr>
            </a:pPr>
            <a:r>
              <a:rPr sz="2400" b="1">
                <a:solidFill>
                  <a:srgbClr val="17343A"/>
                </a:solidFill>
                <a:latin typeface="Aptos Display"/>
                <a:ea typeface="Aptos Display"/>
                <a:cs typeface="Aptos Display"/>
              </a:rPr>
              <a:t>A null count shows a pattern. It does not reveal the mechanism.</a:t>
            </a:r>
          </a:p>
        </p:txBody>
      </p:sp>
      <p:sp>
        <p:nvSpPr>
          <p:cNvPr id="8" name="missing-grid-0-0">
            <a:extLst>
              <a:ext uri="{FF2B5EF4-FFF2-40B4-BE49-F238E27FC236}">
                <a16:creationId xmlns:a16="http://schemas.microsoft.com/office/drawing/2014/main" id="{00000005-0008-4000-8000-000000000000}"/>
              </a:ext>
            </a:extLst>
          </p:cNvPr>
          <p:cNvSpPr>
            <a:spLocks noGrp="1"/>
          </p:cNvSpPr>
          <p:nvPr/>
        </p:nvSpPr>
        <p:spPr>
          <a:xfrm>
            <a:off x="876300" y="2419350"/>
            <a:ext cx="285750" cy="285750"/>
          </a:xfrm>
          <a:prstGeom prst="rect">
            <a:avLst/>
          </a:prstGeom>
          <a:solidFill>
            <a:srgbClr val="EF6A5B"/>
          </a:solidFill>
          <a:ln w="0">
            <a:noFill/>
            <a:prstDash val="solid"/>
          </a:ln>
        </p:spPr>
        <p:txBody>
          <a:bodyPr/>
          <a:lstStyle/>
          <a:p>
            <a:endParaRPr lang="en-US"/>
          </a:p>
        </p:txBody>
      </p:sp>
      <p:sp>
        <p:nvSpPr>
          <p:cNvPr id="9" name="missing-grid-0-1">
            <a:extLst>
              <a:ext uri="{FF2B5EF4-FFF2-40B4-BE49-F238E27FC236}">
                <a16:creationId xmlns:a16="http://schemas.microsoft.com/office/drawing/2014/main" id="{00000005-0009-4000-8000-000000000000}"/>
              </a:ext>
            </a:extLst>
          </p:cNvPr>
          <p:cNvSpPr>
            <a:spLocks noGrp="1"/>
          </p:cNvSpPr>
          <p:nvPr/>
        </p:nvSpPr>
        <p:spPr>
          <a:xfrm>
            <a:off x="1276350" y="2419350"/>
            <a:ext cx="285750" cy="285750"/>
          </a:xfrm>
          <a:prstGeom prst="rect">
            <a:avLst/>
          </a:prstGeom>
          <a:solidFill>
            <a:srgbClr val="DCEAE4"/>
          </a:solidFill>
          <a:ln w="0">
            <a:noFill/>
            <a:prstDash val="solid"/>
          </a:ln>
        </p:spPr>
        <p:txBody>
          <a:bodyPr/>
          <a:lstStyle/>
          <a:p>
            <a:endParaRPr lang="en-US"/>
          </a:p>
        </p:txBody>
      </p:sp>
      <p:sp>
        <p:nvSpPr>
          <p:cNvPr id="10" name="missing-grid-0-2">
            <a:extLst>
              <a:ext uri="{FF2B5EF4-FFF2-40B4-BE49-F238E27FC236}">
                <a16:creationId xmlns:a16="http://schemas.microsoft.com/office/drawing/2014/main" id="{00000005-000A-4000-8000-000000000000}"/>
              </a:ext>
            </a:extLst>
          </p:cNvPr>
          <p:cNvSpPr>
            <a:spLocks noGrp="1"/>
          </p:cNvSpPr>
          <p:nvPr/>
        </p:nvSpPr>
        <p:spPr>
          <a:xfrm>
            <a:off x="1676400" y="2419350"/>
            <a:ext cx="285750" cy="285750"/>
          </a:xfrm>
          <a:prstGeom prst="rect">
            <a:avLst/>
          </a:prstGeom>
          <a:solidFill>
            <a:srgbClr val="DCEAE4"/>
          </a:solidFill>
          <a:ln w="0">
            <a:noFill/>
            <a:prstDash val="solid"/>
          </a:ln>
        </p:spPr>
        <p:txBody>
          <a:bodyPr/>
          <a:lstStyle/>
          <a:p>
            <a:endParaRPr lang="en-US"/>
          </a:p>
        </p:txBody>
      </p:sp>
      <p:sp>
        <p:nvSpPr>
          <p:cNvPr id="11" name="missing-grid-0-3">
            <a:extLst>
              <a:ext uri="{FF2B5EF4-FFF2-40B4-BE49-F238E27FC236}">
                <a16:creationId xmlns:a16="http://schemas.microsoft.com/office/drawing/2014/main" id="{00000005-000B-4000-8000-000000000000}"/>
              </a:ext>
            </a:extLst>
          </p:cNvPr>
          <p:cNvSpPr>
            <a:spLocks noGrp="1"/>
          </p:cNvSpPr>
          <p:nvPr/>
        </p:nvSpPr>
        <p:spPr>
          <a:xfrm>
            <a:off x="2076450" y="2419350"/>
            <a:ext cx="285750" cy="285750"/>
          </a:xfrm>
          <a:prstGeom prst="rect">
            <a:avLst/>
          </a:prstGeom>
          <a:solidFill>
            <a:srgbClr val="DCEAE4"/>
          </a:solidFill>
          <a:ln w="0">
            <a:noFill/>
            <a:prstDash val="solid"/>
          </a:ln>
        </p:spPr>
        <p:txBody>
          <a:bodyPr/>
          <a:lstStyle/>
          <a:p>
            <a:endParaRPr lang="en-US"/>
          </a:p>
        </p:txBody>
      </p:sp>
      <p:sp>
        <p:nvSpPr>
          <p:cNvPr id="12" name="missing-grid-0-4">
            <a:extLst>
              <a:ext uri="{FF2B5EF4-FFF2-40B4-BE49-F238E27FC236}">
                <a16:creationId xmlns:a16="http://schemas.microsoft.com/office/drawing/2014/main" id="{00000005-000C-4000-8000-000000000000}"/>
              </a:ext>
            </a:extLst>
          </p:cNvPr>
          <p:cNvSpPr>
            <a:spLocks noGrp="1"/>
          </p:cNvSpPr>
          <p:nvPr/>
        </p:nvSpPr>
        <p:spPr>
          <a:xfrm>
            <a:off x="2476500" y="2419350"/>
            <a:ext cx="285750" cy="285750"/>
          </a:xfrm>
          <a:prstGeom prst="rect">
            <a:avLst/>
          </a:prstGeom>
          <a:solidFill>
            <a:srgbClr val="DCEAE4"/>
          </a:solidFill>
          <a:ln w="0">
            <a:noFill/>
            <a:prstDash val="solid"/>
          </a:ln>
        </p:spPr>
        <p:txBody>
          <a:bodyPr/>
          <a:lstStyle/>
          <a:p>
            <a:endParaRPr lang="en-US"/>
          </a:p>
        </p:txBody>
      </p:sp>
      <p:sp>
        <p:nvSpPr>
          <p:cNvPr id="13" name="missing-grid-0-5">
            <a:extLst>
              <a:ext uri="{FF2B5EF4-FFF2-40B4-BE49-F238E27FC236}">
                <a16:creationId xmlns:a16="http://schemas.microsoft.com/office/drawing/2014/main" id="{00000005-000D-4000-8000-000000000000}"/>
              </a:ext>
            </a:extLst>
          </p:cNvPr>
          <p:cNvSpPr>
            <a:spLocks noGrp="1"/>
          </p:cNvSpPr>
          <p:nvPr/>
        </p:nvSpPr>
        <p:spPr>
          <a:xfrm>
            <a:off x="2876550" y="2419350"/>
            <a:ext cx="285750" cy="285750"/>
          </a:xfrm>
          <a:prstGeom prst="rect">
            <a:avLst/>
          </a:prstGeom>
          <a:solidFill>
            <a:srgbClr val="DCEAE4"/>
          </a:solidFill>
          <a:ln w="0">
            <a:noFill/>
            <a:prstDash val="solid"/>
          </a:ln>
        </p:spPr>
        <p:txBody>
          <a:bodyPr/>
          <a:lstStyle/>
          <a:p>
            <a:endParaRPr lang="en-US"/>
          </a:p>
        </p:txBody>
      </p:sp>
      <p:sp>
        <p:nvSpPr>
          <p:cNvPr id="14" name="missing-grid-1-0">
            <a:extLst>
              <a:ext uri="{FF2B5EF4-FFF2-40B4-BE49-F238E27FC236}">
                <a16:creationId xmlns:a16="http://schemas.microsoft.com/office/drawing/2014/main" id="{00000005-000E-4000-8000-000000000000}"/>
              </a:ext>
            </a:extLst>
          </p:cNvPr>
          <p:cNvSpPr>
            <a:spLocks noGrp="1"/>
          </p:cNvSpPr>
          <p:nvPr/>
        </p:nvSpPr>
        <p:spPr>
          <a:xfrm>
            <a:off x="876300" y="2819400"/>
            <a:ext cx="285750" cy="285750"/>
          </a:xfrm>
          <a:prstGeom prst="rect">
            <a:avLst/>
          </a:prstGeom>
          <a:solidFill>
            <a:srgbClr val="DCEAE4"/>
          </a:solidFill>
          <a:ln w="0">
            <a:noFill/>
            <a:prstDash val="solid"/>
          </a:ln>
        </p:spPr>
        <p:txBody>
          <a:bodyPr/>
          <a:lstStyle/>
          <a:p>
            <a:endParaRPr lang="en-US"/>
          </a:p>
        </p:txBody>
      </p:sp>
      <p:sp>
        <p:nvSpPr>
          <p:cNvPr id="15" name="missing-grid-1-1">
            <a:extLst>
              <a:ext uri="{FF2B5EF4-FFF2-40B4-BE49-F238E27FC236}">
                <a16:creationId xmlns:a16="http://schemas.microsoft.com/office/drawing/2014/main" id="{00000005-000F-4000-8000-000000000000}"/>
              </a:ext>
            </a:extLst>
          </p:cNvPr>
          <p:cNvSpPr>
            <a:spLocks noGrp="1"/>
          </p:cNvSpPr>
          <p:nvPr/>
        </p:nvSpPr>
        <p:spPr>
          <a:xfrm>
            <a:off x="1276350" y="2819400"/>
            <a:ext cx="285750" cy="285750"/>
          </a:xfrm>
          <a:prstGeom prst="rect">
            <a:avLst/>
          </a:prstGeom>
          <a:solidFill>
            <a:srgbClr val="DCEAE4"/>
          </a:solidFill>
          <a:ln w="0">
            <a:noFill/>
            <a:prstDash val="solid"/>
          </a:ln>
        </p:spPr>
        <p:txBody>
          <a:bodyPr/>
          <a:lstStyle/>
          <a:p>
            <a:endParaRPr lang="en-US"/>
          </a:p>
        </p:txBody>
      </p:sp>
      <p:sp>
        <p:nvSpPr>
          <p:cNvPr id="16" name="missing-grid-1-2">
            <a:extLst>
              <a:ext uri="{FF2B5EF4-FFF2-40B4-BE49-F238E27FC236}">
                <a16:creationId xmlns:a16="http://schemas.microsoft.com/office/drawing/2014/main" id="{00000005-0010-4000-8000-000000000000}"/>
              </a:ext>
            </a:extLst>
          </p:cNvPr>
          <p:cNvSpPr>
            <a:spLocks noGrp="1"/>
          </p:cNvSpPr>
          <p:nvPr/>
        </p:nvSpPr>
        <p:spPr>
          <a:xfrm>
            <a:off x="1676400" y="2819400"/>
            <a:ext cx="285750" cy="285750"/>
          </a:xfrm>
          <a:prstGeom prst="rect">
            <a:avLst/>
          </a:prstGeom>
          <a:solidFill>
            <a:srgbClr val="DCEAE4"/>
          </a:solidFill>
          <a:ln w="0">
            <a:noFill/>
            <a:prstDash val="solid"/>
          </a:ln>
        </p:spPr>
        <p:txBody>
          <a:bodyPr/>
          <a:lstStyle/>
          <a:p>
            <a:endParaRPr lang="en-US"/>
          </a:p>
        </p:txBody>
      </p:sp>
      <p:sp>
        <p:nvSpPr>
          <p:cNvPr id="17" name="missing-grid-1-3">
            <a:extLst>
              <a:ext uri="{FF2B5EF4-FFF2-40B4-BE49-F238E27FC236}">
                <a16:creationId xmlns:a16="http://schemas.microsoft.com/office/drawing/2014/main" id="{00000005-0011-4000-8000-000000000000}"/>
              </a:ext>
            </a:extLst>
          </p:cNvPr>
          <p:cNvSpPr>
            <a:spLocks noGrp="1"/>
          </p:cNvSpPr>
          <p:nvPr/>
        </p:nvSpPr>
        <p:spPr>
          <a:xfrm>
            <a:off x="2076450" y="2819400"/>
            <a:ext cx="285750" cy="285750"/>
          </a:xfrm>
          <a:prstGeom prst="rect">
            <a:avLst/>
          </a:prstGeom>
          <a:solidFill>
            <a:srgbClr val="DCEAE4"/>
          </a:solidFill>
          <a:ln w="0">
            <a:noFill/>
            <a:prstDash val="solid"/>
          </a:ln>
        </p:spPr>
        <p:txBody>
          <a:bodyPr/>
          <a:lstStyle/>
          <a:p>
            <a:endParaRPr lang="en-US"/>
          </a:p>
        </p:txBody>
      </p:sp>
      <p:sp>
        <p:nvSpPr>
          <p:cNvPr id="18" name="missing-grid-1-4">
            <a:extLst>
              <a:ext uri="{FF2B5EF4-FFF2-40B4-BE49-F238E27FC236}">
                <a16:creationId xmlns:a16="http://schemas.microsoft.com/office/drawing/2014/main" id="{00000005-0012-4000-8000-000000000000}"/>
              </a:ext>
            </a:extLst>
          </p:cNvPr>
          <p:cNvSpPr>
            <a:spLocks noGrp="1"/>
          </p:cNvSpPr>
          <p:nvPr/>
        </p:nvSpPr>
        <p:spPr>
          <a:xfrm>
            <a:off x="2476500" y="2819400"/>
            <a:ext cx="285750" cy="285750"/>
          </a:xfrm>
          <a:prstGeom prst="rect">
            <a:avLst/>
          </a:prstGeom>
          <a:solidFill>
            <a:srgbClr val="DCEAE4"/>
          </a:solidFill>
          <a:ln w="0">
            <a:noFill/>
            <a:prstDash val="solid"/>
          </a:ln>
        </p:spPr>
        <p:txBody>
          <a:bodyPr/>
          <a:lstStyle/>
          <a:p>
            <a:endParaRPr lang="en-US"/>
          </a:p>
        </p:txBody>
      </p:sp>
      <p:sp>
        <p:nvSpPr>
          <p:cNvPr id="19" name="missing-grid-1-5">
            <a:extLst>
              <a:ext uri="{FF2B5EF4-FFF2-40B4-BE49-F238E27FC236}">
                <a16:creationId xmlns:a16="http://schemas.microsoft.com/office/drawing/2014/main" id="{00000005-0013-4000-8000-000000000000}"/>
              </a:ext>
            </a:extLst>
          </p:cNvPr>
          <p:cNvSpPr>
            <a:spLocks noGrp="1"/>
          </p:cNvSpPr>
          <p:nvPr/>
        </p:nvSpPr>
        <p:spPr>
          <a:xfrm>
            <a:off x="2876550" y="2819400"/>
            <a:ext cx="285750" cy="285750"/>
          </a:xfrm>
          <a:prstGeom prst="rect">
            <a:avLst/>
          </a:prstGeom>
          <a:solidFill>
            <a:srgbClr val="EF6A5B"/>
          </a:solidFill>
          <a:ln w="0">
            <a:noFill/>
            <a:prstDash val="solid"/>
          </a:ln>
        </p:spPr>
        <p:txBody>
          <a:bodyPr/>
          <a:lstStyle/>
          <a:p>
            <a:endParaRPr lang="en-US"/>
          </a:p>
        </p:txBody>
      </p:sp>
      <p:sp>
        <p:nvSpPr>
          <p:cNvPr id="20" name="missing-grid-2-0">
            <a:extLst>
              <a:ext uri="{FF2B5EF4-FFF2-40B4-BE49-F238E27FC236}">
                <a16:creationId xmlns:a16="http://schemas.microsoft.com/office/drawing/2014/main" id="{00000005-0014-4000-8000-000000000000}"/>
              </a:ext>
            </a:extLst>
          </p:cNvPr>
          <p:cNvSpPr>
            <a:spLocks noGrp="1"/>
          </p:cNvSpPr>
          <p:nvPr/>
        </p:nvSpPr>
        <p:spPr>
          <a:xfrm>
            <a:off x="876300" y="3219450"/>
            <a:ext cx="285750" cy="285750"/>
          </a:xfrm>
          <a:prstGeom prst="rect">
            <a:avLst/>
          </a:prstGeom>
          <a:solidFill>
            <a:srgbClr val="DCEAE4"/>
          </a:solidFill>
          <a:ln w="0">
            <a:noFill/>
            <a:prstDash val="solid"/>
          </a:ln>
        </p:spPr>
        <p:txBody>
          <a:bodyPr/>
          <a:lstStyle/>
          <a:p>
            <a:endParaRPr lang="en-US"/>
          </a:p>
        </p:txBody>
      </p:sp>
      <p:sp>
        <p:nvSpPr>
          <p:cNvPr id="21" name="missing-grid-2-1">
            <a:extLst>
              <a:ext uri="{FF2B5EF4-FFF2-40B4-BE49-F238E27FC236}">
                <a16:creationId xmlns:a16="http://schemas.microsoft.com/office/drawing/2014/main" id="{00000005-0015-4000-8000-000000000000}"/>
              </a:ext>
            </a:extLst>
          </p:cNvPr>
          <p:cNvSpPr>
            <a:spLocks noGrp="1"/>
          </p:cNvSpPr>
          <p:nvPr/>
        </p:nvSpPr>
        <p:spPr>
          <a:xfrm>
            <a:off x="1276350" y="3219450"/>
            <a:ext cx="285750" cy="285750"/>
          </a:xfrm>
          <a:prstGeom prst="rect">
            <a:avLst/>
          </a:prstGeom>
          <a:solidFill>
            <a:srgbClr val="DCEAE4"/>
          </a:solidFill>
          <a:ln w="0">
            <a:noFill/>
            <a:prstDash val="solid"/>
          </a:ln>
        </p:spPr>
        <p:txBody>
          <a:bodyPr/>
          <a:lstStyle/>
          <a:p>
            <a:endParaRPr lang="en-US"/>
          </a:p>
        </p:txBody>
      </p:sp>
      <p:sp>
        <p:nvSpPr>
          <p:cNvPr id="22" name="missing-grid-2-2">
            <a:extLst>
              <a:ext uri="{FF2B5EF4-FFF2-40B4-BE49-F238E27FC236}">
                <a16:creationId xmlns:a16="http://schemas.microsoft.com/office/drawing/2014/main" id="{00000005-0016-4000-8000-000000000000}"/>
              </a:ext>
            </a:extLst>
          </p:cNvPr>
          <p:cNvSpPr>
            <a:spLocks noGrp="1"/>
          </p:cNvSpPr>
          <p:nvPr/>
        </p:nvSpPr>
        <p:spPr>
          <a:xfrm>
            <a:off x="1676400" y="3219450"/>
            <a:ext cx="285750" cy="285750"/>
          </a:xfrm>
          <a:prstGeom prst="rect">
            <a:avLst/>
          </a:prstGeom>
          <a:solidFill>
            <a:srgbClr val="DCEAE4"/>
          </a:solidFill>
          <a:ln w="0">
            <a:noFill/>
            <a:prstDash val="solid"/>
          </a:ln>
        </p:spPr>
        <p:txBody>
          <a:bodyPr/>
          <a:lstStyle/>
          <a:p>
            <a:endParaRPr lang="en-US"/>
          </a:p>
        </p:txBody>
      </p:sp>
      <p:sp>
        <p:nvSpPr>
          <p:cNvPr id="23" name="missing-grid-2-3">
            <a:extLst>
              <a:ext uri="{FF2B5EF4-FFF2-40B4-BE49-F238E27FC236}">
                <a16:creationId xmlns:a16="http://schemas.microsoft.com/office/drawing/2014/main" id="{00000005-0017-4000-8000-000000000000}"/>
              </a:ext>
            </a:extLst>
          </p:cNvPr>
          <p:cNvSpPr>
            <a:spLocks noGrp="1"/>
          </p:cNvSpPr>
          <p:nvPr/>
        </p:nvSpPr>
        <p:spPr>
          <a:xfrm>
            <a:off x="2076450" y="3219450"/>
            <a:ext cx="285750" cy="285750"/>
          </a:xfrm>
          <a:prstGeom prst="rect">
            <a:avLst/>
          </a:prstGeom>
          <a:solidFill>
            <a:srgbClr val="EF6A5B"/>
          </a:solidFill>
          <a:ln w="0">
            <a:noFill/>
            <a:prstDash val="solid"/>
          </a:ln>
        </p:spPr>
        <p:txBody>
          <a:bodyPr/>
          <a:lstStyle/>
          <a:p>
            <a:endParaRPr lang="en-US"/>
          </a:p>
        </p:txBody>
      </p:sp>
      <p:sp>
        <p:nvSpPr>
          <p:cNvPr id="24" name="missing-grid-2-4">
            <a:extLst>
              <a:ext uri="{FF2B5EF4-FFF2-40B4-BE49-F238E27FC236}">
                <a16:creationId xmlns:a16="http://schemas.microsoft.com/office/drawing/2014/main" id="{00000005-0018-4000-8000-000000000000}"/>
              </a:ext>
            </a:extLst>
          </p:cNvPr>
          <p:cNvSpPr>
            <a:spLocks noGrp="1"/>
          </p:cNvSpPr>
          <p:nvPr/>
        </p:nvSpPr>
        <p:spPr>
          <a:xfrm>
            <a:off x="2476500" y="3219450"/>
            <a:ext cx="285750" cy="285750"/>
          </a:xfrm>
          <a:prstGeom prst="rect">
            <a:avLst/>
          </a:prstGeom>
          <a:solidFill>
            <a:srgbClr val="DCEAE4"/>
          </a:solidFill>
          <a:ln w="0">
            <a:noFill/>
            <a:prstDash val="solid"/>
          </a:ln>
        </p:spPr>
        <p:txBody>
          <a:bodyPr/>
          <a:lstStyle/>
          <a:p>
            <a:endParaRPr lang="en-US"/>
          </a:p>
        </p:txBody>
      </p:sp>
      <p:sp>
        <p:nvSpPr>
          <p:cNvPr id="25" name="missing-grid-2-5">
            <a:extLst>
              <a:ext uri="{FF2B5EF4-FFF2-40B4-BE49-F238E27FC236}">
                <a16:creationId xmlns:a16="http://schemas.microsoft.com/office/drawing/2014/main" id="{00000005-0019-4000-8000-000000000000}"/>
              </a:ext>
            </a:extLst>
          </p:cNvPr>
          <p:cNvSpPr>
            <a:spLocks noGrp="1"/>
          </p:cNvSpPr>
          <p:nvPr/>
        </p:nvSpPr>
        <p:spPr>
          <a:xfrm>
            <a:off x="2876550" y="3219450"/>
            <a:ext cx="285750" cy="285750"/>
          </a:xfrm>
          <a:prstGeom prst="rect">
            <a:avLst/>
          </a:prstGeom>
          <a:solidFill>
            <a:srgbClr val="DCEAE4"/>
          </a:solidFill>
          <a:ln w="0">
            <a:noFill/>
            <a:prstDash val="solid"/>
          </a:ln>
        </p:spPr>
        <p:txBody>
          <a:bodyPr/>
          <a:lstStyle/>
          <a:p>
            <a:endParaRPr lang="en-US"/>
          </a:p>
        </p:txBody>
      </p:sp>
      <p:sp>
        <p:nvSpPr>
          <p:cNvPr id="26" name="missing-grid-3-0">
            <a:extLst>
              <a:ext uri="{FF2B5EF4-FFF2-40B4-BE49-F238E27FC236}">
                <a16:creationId xmlns:a16="http://schemas.microsoft.com/office/drawing/2014/main" id="{00000005-001A-4000-8000-000000000000}"/>
              </a:ext>
            </a:extLst>
          </p:cNvPr>
          <p:cNvSpPr>
            <a:spLocks noGrp="1"/>
          </p:cNvSpPr>
          <p:nvPr/>
        </p:nvSpPr>
        <p:spPr>
          <a:xfrm>
            <a:off x="876300" y="3619500"/>
            <a:ext cx="285750" cy="285750"/>
          </a:xfrm>
          <a:prstGeom prst="rect">
            <a:avLst/>
          </a:prstGeom>
          <a:solidFill>
            <a:srgbClr val="DCEAE4"/>
          </a:solidFill>
          <a:ln w="0">
            <a:noFill/>
            <a:prstDash val="solid"/>
          </a:ln>
        </p:spPr>
        <p:txBody>
          <a:bodyPr/>
          <a:lstStyle/>
          <a:p>
            <a:endParaRPr lang="en-US"/>
          </a:p>
        </p:txBody>
      </p:sp>
      <p:sp>
        <p:nvSpPr>
          <p:cNvPr id="27" name="missing-grid-3-1">
            <a:extLst>
              <a:ext uri="{FF2B5EF4-FFF2-40B4-BE49-F238E27FC236}">
                <a16:creationId xmlns:a16="http://schemas.microsoft.com/office/drawing/2014/main" id="{00000005-001B-4000-8000-000000000000}"/>
              </a:ext>
            </a:extLst>
          </p:cNvPr>
          <p:cNvSpPr>
            <a:spLocks noGrp="1"/>
          </p:cNvSpPr>
          <p:nvPr/>
        </p:nvSpPr>
        <p:spPr>
          <a:xfrm>
            <a:off x="1276350" y="3619500"/>
            <a:ext cx="285750" cy="285750"/>
          </a:xfrm>
          <a:prstGeom prst="rect">
            <a:avLst/>
          </a:prstGeom>
          <a:solidFill>
            <a:srgbClr val="EF6A5B"/>
          </a:solidFill>
          <a:ln w="0">
            <a:noFill/>
            <a:prstDash val="solid"/>
          </a:ln>
        </p:spPr>
        <p:txBody>
          <a:bodyPr/>
          <a:lstStyle/>
          <a:p>
            <a:endParaRPr lang="en-US"/>
          </a:p>
        </p:txBody>
      </p:sp>
      <p:sp>
        <p:nvSpPr>
          <p:cNvPr id="28" name="missing-grid-3-2">
            <a:extLst>
              <a:ext uri="{FF2B5EF4-FFF2-40B4-BE49-F238E27FC236}">
                <a16:creationId xmlns:a16="http://schemas.microsoft.com/office/drawing/2014/main" id="{00000005-001C-4000-8000-000000000000}"/>
              </a:ext>
            </a:extLst>
          </p:cNvPr>
          <p:cNvSpPr>
            <a:spLocks noGrp="1"/>
          </p:cNvSpPr>
          <p:nvPr/>
        </p:nvSpPr>
        <p:spPr>
          <a:xfrm>
            <a:off x="1676400" y="3619500"/>
            <a:ext cx="285750" cy="285750"/>
          </a:xfrm>
          <a:prstGeom prst="rect">
            <a:avLst/>
          </a:prstGeom>
          <a:solidFill>
            <a:srgbClr val="DCEAE4"/>
          </a:solidFill>
          <a:ln w="0">
            <a:noFill/>
            <a:prstDash val="solid"/>
          </a:ln>
        </p:spPr>
        <p:txBody>
          <a:bodyPr/>
          <a:lstStyle/>
          <a:p>
            <a:endParaRPr lang="en-US"/>
          </a:p>
        </p:txBody>
      </p:sp>
      <p:sp>
        <p:nvSpPr>
          <p:cNvPr id="29" name="missing-grid-3-3">
            <a:extLst>
              <a:ext uri="{FF2B5EF4-FFF2-40B4-BE49-F238E27FC236}">
                <a16:creationId xmlns:a16="http://schemas.microsoft.com/office/drawing/2014/main" id="{00000005-001D-4000-8000-000000000000}"/>
              </a:ext>
            </a:extLst>
          </p:cNvPr>
          <p:cNvSpPr>
            <a:spLocks noGrp="1"/>
          </p:cNvSpPr>
          <p:nvPr/>
        </p:nvSpPr>
        <p:spPr>
          <a:xfrm>
            <a:off x="2076450" y="3619500"/>
            <a:ext cx="285750" cy="285750"/>
          </a:xfrm>
          <a:prstGeom prst="rect">
            <a:avLst/>
          </a:prstGeom>
          <a:solidFill>
            <a:srgbClr val="DCEAE4"/>
          </a:solidFill>
          <a:ln w="0">
            <a:noFill/>
            <a:prstDash val="solid"/>
          </a:ln>
        </p:spPr>
        <p:txBody>
          <a:bodyPr/>
          <a:lstStyle/>
          <a:p>
            <a:endParaRPr lang="en-US"/>
          </a:p>
        </p:txBody>
      </p:sp>
      <p:sp>
        <p:nvSpPr>
          <p:cNvPr id="30" name="missing-grid-3-4">
            <a:extLst>
              <a:ext uri="{FF2B5EF4-FFF2-40B4-BE49-F238E27FC236}">
                <a16:creationId xmlns:a16="http://schemas.microsoft.com/office/drawing/2014/main" id="{00000005-001E-4000-8000-000000000000}"/>
              </a:ext>
            </a:extLst>
          </p:cNvPr>
          <p:cNvSpPr>
            <a:spLocks noGrp="1"/>
          </p:cNvSpPr>
          <p:nvPr/>
        </p:nvSpPr>
        <p:spPr>
          <a:xfrm>
            <a:off x="2476500" y="3619500"/>
            <a:ext cx="285750" cy="285750"/>
          </a:xfrm>
          <a:prstGeom prst="rect">
            <a:avLst/>
          </a:prstGeom>
          <a:solidFill>
            <a:srgbClr val="DCEAE4"/>
          </a:solidFill>
          <a:ln w="0">
            <a:noFill/>
            <a:prstDash val="solid"/>
          </a:ln>
        </p:spPr>
        <p:txBody>
          <a:bodyPr/>
          <a:lstStyle/>
          <a:p>
            <a:endParaRPr lang="en-US"/>
          </a:p>
        </p:txBody>
      </p:sp>
      <p:sp>
        <p:nvSpPr>
          <p:cNvPr id="31" name="missing-grid-3-5">
            <a:extLst>
              <a:ext uri="{FF2B5EF4-FFF2-40B4-BE49-F238E27FC236}">
                <a16:creationId xmlns:a16="http://schemas.microsoft.com/office/drawing/2014/main" id="{00000005-001F-4000-8000-000000000000}"/>
              </a:ext>
            </a:extLst>
          </p:cNvPr>
          <p:cNvSpPr>
            <a:spLocks noGrp="1"/>
          </p:cNvSpPr>
          <p:nvPr/>
        </p:nvSpPr>
        <p:spPr>
          <a:xfrm>
            <a:off x="2876550" y="3619500"/>
            <a:ext cx="285750" cy="285750"/>
          </a:xfrm>
          <a:prstGeom prst="rect">
            <a:avLst/>
          </a:prstGeom>
          <a:solidFill>
            <a:srgbClr val="DCEAE4"/>
          </a:solidFill>
          <a:ln w="0">
            <a:noFill/>
            <a:prstDash val="solid"/>
          </a:ln>
        </p:spPr>
        <p:txBody>
          <a:bodyPr/>
          <a:lstStyle/>
          <a:p>
            <a:endParaRPr lang="en-US"/>
          </a:p>
        </p:txBody>
      </p:sp>
      <p:sp>
        <p:nvSpPr>
          <p:cNvPr id="32" name="missing-grid-4-0">
            <a:extLst>
              <a:ext uri="{FF2B5EF4-FFF2-40B4-BE49-F238E27FC236}">
                <a16:creationId xmlns:a16="http://schemas.microsoft.com/office/drawing/2014/main" id="{00000005-0020-4000-8000-000000000000}"/>
              </a:ext>
            </a:extLst>
          </p:cNvPr>
          <p:cNvSpPr>
            <a:spLocks noGrp="1"/>
          </p:cNvSpPr>
          <p:nvPr/>
        </p:nvSpPr>
        <p:spPr>
          <a:xfrm>
            <a:off x="876300" y="4019550"/>
            <a:ext cx="285750" cy="285750"/>
          </a:xfrm>
          <a:prstGeom prst="rect">
            <a:avLst/>
          </a:prstGeom>
          <a:solidFill>
            <a:srgbClr val="DCEAE4"/>
          </a:solidFill>
          <a:ln w="0">
            <a:noFill/>
            <a:prstDash val="solid"/>
          </a:ln>
        </p:spPr>
        <p:txBody>
          <a:bodyPr/>
          <a:lstStyle/>
          <a:p>
            <a:endParaRPr lang="en-US"/>
          </a:p>
        </p:txBody>
      </p:sp>
      <p:sp>
        <p:nvSpPr>
          <p:cNvPr id="33" name="missing-grid-4-1">
            <a:extLst>
              <a:ext uri="{FF2B5EF4-FFF2-40B4-BE49-F238E27FC236}">
                <a16:creationId xmlns:a16="http://schemas.microsoft.com/office/drawing/2014/main" id="{00000005-0021-4000-8000-000000000000}"/>
              </a:ext>
            </a:extLst>
          </p:cNvPr>
          <p:cNvSpPr>
            <a:spLocks noGrp="1"/>
          </p:cNvSpPr>
          <p:nvPr/>
        </p:nvSpPr>
        <p:spPr>
          <a:xfrm>
            <a:off x="1276350" y="4019550"/>
            <a:ext cx="285750" cy="285750"/>
          </a:xfrm>
          <a:prstGeom prst="rect">
            <a:avLst/>
          </a:prstGeom>
          <a:solidFill>
            <a:srgbClr val="DCEAE4"/>
          </a:solidFill>
          <a:ln w="0">
            <a:noFill/>
            <a:prstDash val="solid"/>
          </a:ln>
        </p:spPr>
        <p:txBody>
          <a:bodyPr/>
          <a:lstStyle/>
          <a:p>
            <a:endParaRPr lang="en-US"/>
          </a:p>
        </p:txBody>
      </p:sp>
      <p:sp>
        <p:nvSpPr>
          <p:cNvPr id="34" name="missing-grid-4-2">
            <a:extLst>
              <a:ext uri="{FF2B5EF4-FFF2-40B4-BE49-F238E27FC236}">
                <a16:creationId xmlns:a16="http://schemas.microsoft.com/office/drawing/2014/main" id="{00000005-0022-4000-8000-000000000000}"/>
              </a:ext>
            </a:extLst>
          </p:cNvPr>
          <p:cNvSpPr>
            <a:spLocks noGrp="1"/>
          </p:cNvSpPr>
          <p:nvPr/>
        </p:nvSpPr>
        <p:spPr>
          <a:xfrm>
            <a:off x="1676400" y="4019550"/>
            <a:ext cx="285750" cy="285750"/>
          </a:xfrm>
          <a:prstGeom prst="rect">
            <a:avLst/>
          </a:prstGeom>
          <a:solidFill>
            <a:srgbClr val="EF6A5B"/>
          </a:solidFill>
          <a:ln w="0">
            <a:noFill/>
            <a:prstDash val="solid"/>
          </a:ln>
        </p:spPr>
        <p:txBody>
          <a:bodyPr/>
          <a:lstStyle/>
          <a:p>
            <a:endParaRPr lang="en-US"/>
          </a:p>
        </p:txBody>
      </p:sp>
      <p:sp>
        <p:nvSpPr>
          <p:cNvPr id="35" name="missing-grid-4-3">
            <a:extLst>
              <a:ext uri="{FF2B5EF4-FFF2-40B4-BE49-F238E27FC236}">
                <a16:creationId xmlns:a16="http://schemas.microsoft.com/office/drawing/2014/main" id="{00000005-0023-4000-8000-000000000000}"/>
              </a:ext>
            </a:extLst>
          </p:cNvPr>
          <p:cNvSpPr>
            <a:spLocks noGrp="1"/>
          </p:cNvSpPr>
          <p:nvPr/>
        </p:nvSpPr>
        <p:spPr>
          <a:xfrm>
            <a:off x="2076450" y="4019550"/>
            <a:ext cx="285750" cy="285750"/>
          </a:xfrm>
          <a:prstGeom prst="rect">
            <a:avLst/>
          </a:prstGeom>
          <a:solidFill>
            <a:srgbClr val="EF6A5B"/>
          </a:solidFill>
          <a:ln w="0">
            <a:noFill/>
            <a:prstDash val="solid"/>
          </a:ln>
        </p:spPr>
        <p:txBody>
          <a:bodyPr/>
          <a:lstStyle/>
          <a:p>
            <a:endParaRPr lang="en-US"/>
          </a:p>
        </p:txBody>
      </p:sp>
      <p:sp>
        <p:nvSpPr>
          <p:cNvPr id="36" name="missing-grid-4-4">
            <a:extLst>
              <a:ext uri="{FF2B5EF4-FFF2-40B4-BE49-F238E27FC236}">
                <a16:creationId xmlns:a16="http://schemas.microsoft.com/office/drawing/2014/main" id="{00000005-0024-4000-8000-000000000000}"/>
              </a:ext>
            </a:extLst>
          </p:cNvPr>
          <p:cNvSpPr>
            <a:spLocks noGrp="1"/>
          </p:cNvSpPr>
          <p:nvPr/>
        </p:nvSpPr>
        <p:spPr>
          <a:xfrm>
            <a:off x="2476500" y="4019550"/>
            <a:ext cx="285750" cy="285750"/>
          </a:xfrm>
          <a:prstGeom prst="rect">
            <a:avLst/>
          </a:prstGeom>
          <a:solidFill>
            <a:srgbClr val="DCEAE4"/>
          </a:solidFill>
          <a:ln w="0">
            <a:noFill/>
            <a:prstDash val="solid"/>
          </a:ln>
        </p:spPr>
        <p:txBody>
          <a:bodyPr/>
          <a:lstStyle/>
          <a:p>
            <a:endParaRPr lang="en-US"/>
          </a:p>
        </p:txBody>
      </p:sp>
      <p:sp>
        <p:nvSpPr>
          <p:cNvPr id="37" name="missing-grid-4-5">
            <a:extLst>
              <a:ext uri="{FF2B5EF4-FFF2-40B4-BE49-F238E27FC236}">
                <a16:creationId xmlns:a16="http://schemas.microsoft.com/office/drawing/2014/main" id="{00000005-0025-4000-8000-000000000000}"/>
              </a:ext>
            </a:extLst>
          </p:cNvPr>
          <p:cNvSpPr>
            <a:spLocks noGrp="1"/>
          </p:cNvSpPr>
          <p:nvPr/>
        </p:nvSpPr>
        <p:spPr>
          <a:xfrm>
            <a:off x="2876550" y="4019550"/>
            <a:ext cx="285750" cy="285750"/>
          </a:xfrm>
          <a:prstGeom prst="rect">
            <a:avLst/>
          </a:prstGeom>
          <a:solidFill>
            <a:srgbClr val="DCEAE4"/>
          </a:solidFill>
          <a:ln w="0">
            <a:noFill/>
            <a:prstDash val="solid"/>
          </a:ln>
        </p:spPr>
        <p:txBody>
          <a:bodyPr/>
          <a:lstStyle/>
          <a:p>
            <a:endParaRPr lang="en-US"/>
          </a:p>
        </p:txBody>
      </p:sp>
      <p:sp>
        <p:nvSpPr>
          <p:cNvPr id="38" name="missing-grid-5-0">
            <a:extLst>
              <a:ext uri="{FF2B5EF4-FFF2-40B4-BE49-F238E27FC236}">
                <a16:creationId xmlns:a16="http://schemas.microsoft.com/office/drawing/2014/main" id="{00000005-0026-4000-8000-000000000000}"/>
              </a:ext>
            </a:extLst>
          </p:cNvPr>
          <p:cNvSpPr>
            <a:spLocks noGrp="1"/>
          </p:cNvSpPr>
          <p:nvPr/>
        </p:nvSpPr>
        <p:spPr>
          <a:xfrm>
            <a:off x="876300" y="4419600"/>
            <a:ext cx="285750" cy="285750"/>
          </a:xfrm>
          <a:prstGeom prst="rect">
            <a:avLst/>
          </a:prstGeom>
          <a:solidFill>
            <a:srgbClr val="DCEAE4"/>
          </a:solidFill>
          <a:ln w="0">
            <a:noFill/>
            <a:prstDash val="solid"/>
          </a:ln>
        </p:spPr>
        <p:txBody>
          <a:bodyPr/>
          <a:lstStyle/>
          <a:p>
            <a:endParaRPr lang="en-US"/>
          </a:p>
        </p:txBody>
      </p:sp>
      <p:sp>
        <p:nvSpPr>
          <p:cNvPr id="39" name="missing-grid-5-1">
            <a:extLst>
              <a:ext uri="{FF2B5EF4-FFF2-40B4-BE49-F238E27FC236}">
                <a16:creationId xmlns:a16="http://schemas.microsoft.com/office/drawing/2014/main" id="{00000005-0027-4000-8000-000000000000}"/>
              </a:ext>
            </a:extLst>
          </p:cNvPr>
          <p:cNvSpPr>
            <a:spLocks noGrp="1"/>
          </p:cNvSpPr>
          <p:nvPr/>
        </p:nvSpPr>
        <p:spPr>
          <a:xfrm>
            <a:off x="1276350" y="4419600"/>
            <a:ext cx="285750" cy="285750"/>
          </a:xfrm>
          <a:prstGeom prst="rect">
            <a:avLst/>
          </a:prstGeom>
          <a:solidFill>
            <a:srgbClr val="DCEAE4"/>
          </a:solidFill>
          <a:ln w="0">
            <a:noFill/>
            <a:prstDash val="solid"/>
          </a:ln>
        </p:spPr>
        <p:txBody>
          <a:bodyPr/>
          <a:lstStyle/>
          <a:p>
            <a:endParaRPr lang="en-US"/>
          </a:p>
        </p:txBody>
      </p:sp>
      <p:sp>
        <p:nvSpPr>
          <p:cNvPr id="40" name="missing-grid-5-2">
            <a:extLst>
              <a:ext uri="{FF2B5EF4-FFF2-40B4-BE49-F238E27FC236}">
                <a16:creationId xmlns:a16="http://schemas.microsoft.com/office/drawing/2014/main" id="{00000005-0028-4000-8000-000000000000}"/>
              </a:ext>
            </a:extLst>
          </p:cNvPr>
          <p:cNvSpPr>
            <a:spLocks noGrp="1"/>
          </p:cNvSpPr>
          <p:nvPr/>
        </p:nvSpPr>
        <p:spPr>
          <a:xfrm>
            <a:off x="1676400" y="4419600"/>
            <a:ext cx="285750" cy="285750"/>
          </a:xfrm>
          <a:prstGeom prst="rect">
            <a:avLst/>
          </a:prstGeom>
          <a:solidFill>
            <a:srgbClr val="DCEAE4"/>
          </a:solidFill>
          <a:ln w="0">
            <a:noFill/>
            <a:prstDash val="solid"/>
          </a:ln>
        </p:spPr>
        <p:txBody>
          <a:bodyPr/>
          <a:lstStyle/>
          <a:p>
            <a:endParaRPr lang="en-US"/>
          </a:p>
        </p:txBody>
      </p:sp>
      <p:sp>
        <p:nvSpPr>
          <p:cNvPr id="41" name="missing-grid-5-3">
            <a:extLst>
              <a:ext uri="{FF2B5EF4-FFF2-40B4-BE49-F238E27FC236}">
                <a16:creationId xmlns:a16="http://schemas.microsoft.com/office/drawing/2014/main" id="{00000005-0029-4000-8000-000000000000}"/>
              </a:ext>
            </a:extLst>
          </p:cNvPr>
          <p:cNvSpPr>
            <a:spLocks noGrp="1"/>
          </p:cNvSpPr>
          <p:nvPr/>
        </p:nvSpPr>
        <p:spPr>
          <a:xfrm>
            <a:off x="2076450" y="4419600"/>
            <a:ext cx="285750" cy="285750"/>
          </a:xfrm>
          <a:prstGeom prst="rect">
            <a:avLst/>
          </a:prstGeom>
          <a:solidFill>
            <a:srgbClr val="DCEAE4"/>
          </a:solidFill>
          <a:ln w="0">
            <a:noFill/>
            <a:prstDash val="solid"/>
          </a:ln>
        </p:spPr>
        <p:txBody>
          <a:bodyPr/>
          <a:lstStyle/>
          <a:p>
            <a:endParaRPr lang="en-US"/>
          </a:p>
        </p:txBody>
      </p:sp>
      <p:sp>
        <p:nvSpPr>
          <p:cNvPr id="42" name="missing-grid-5-4">
            <a:extLst>
              <a:ext uri="{FF2B5EF4-FFF2-40B4-BE49-F238E27FC236}">
                <a16:creationId xmlns:a16="http://schemas.microsoft.com/office/drawing/2014/main" id="{00000005-002A-4000-8000-000000000000}"/>
              </a:ext>
            </a:extLst>
          </p:cNvPr>
          <p:cNvSpPr>
            <a:spLocks noGrp="1"/>
          </p:cNvSpPr>
          <p:nvPr/>
        </p:nvSpPr>
        <p:spPr>
          <a:xfrm>
            <a:off x="2476500" y="4419600"/>
            <a:ext cx="285750" cy="285750"/>
          </a:xfrm>
          <a:prstGeom prst="rect">
            <a:avLst/>
          </a:prstGeom>
          <a:solidFill>
            <a:srgbClr val="EF6A5B"/>
          </a:solidFill>
          <a:ln w="0">
            <a:noFill/>
            <a:prstDash val="solid"/>
          </a:ln>
        </p:spPr>
        <p:txBody>
          <a:bodyPr/>
          <a:lstStyle/>
          <a:p>
            <a:endParaRPr lang="en-US"/>
          </a:p>
        </p:txBody>
      </p:sp>
      <p:sp>
        <p:nvSpPr>
          <p:cNvPr id="43" name="missing-grid-5-5">
            <a:extLst>
              <a:ext uri="{FF2B5EF4-FFF2-40B4-BE49-F238E27FC236}">
                <a16:creationId xmlns:a16="http://schemas.microsoft.com/office/drawing/2014/main" id="{00000005-002B-4000-8000-000000000000}"/>
              </a:ext>
            </a:extLst>
          </p:cNvPr>
          <p:cNvSpPr>
            <a:spLocks noGrp="1"/>
          </p:cNvSpPr>
          <p:nvPr/>
        </p:nvSpPr>
        <p:spPr>
          <a:xfrm>
            <a:off x="2876550" y="4419600"/>
            <a:ext cx="285750" cy="285750"/>
          </a:xfrm>
          <a:prstGeom prst="rect">
            <a:avLst/>
          </a:prstGeom>
          <a:solidFill>
            <a:srgbClr val="DCEAE4"/>
          </a:solidFill>
          <a:ln w="0">
            <a:noFill/>
            <a:prstDash val="solid"/>
          </a:ln>
        </p:spPr>
        <p:txBody>
          <a:bodyPr/>
          <a:lstStyle/>
          <a:p>
            <a:endParaRPr lang="en-US"/>
          </a:p>
        </p:txBody>
      </p:sp>
      <p:sp>
        <p:nvSpPr>
          <p:cNvPr id="44" name="missing-grid-6-0">
            <a:extLst>
              <a:ext uri="{FF2B5EF4-FFF2-40B4-BE49-F238E27FC236}">
                <a16:creationId xmlns:a16="http://schemas.microsoft.com/office/drawing/2014/main" id="{00000005-002C-4000-8000-000000000000}"/>
              </a:ext>
            </a:extLst>
          </p:cNvPr>
          <p:cNvSpPr>
            <a:spLocks noGrp="1"/>
          </p:cNvSpPr>
          <p:nvPr/>
        </p:nvSpPr>
        <p:spPr>
          <a:xfrm>
            <a:off x="876300" y="4819650"/>
            <a:ext cx="285750" cy="285750"/>
          </a:xfrm>
          <a:prstGeom prst="rect">
            <a:avLst/>
          </a:prstGeom>
          <a:solidFill>
            <a:srgbClr val="DCEAE4"/>
          </a:solidFill>
          <a:ln w="0">
            <a:noFill/>
            <a:prstDash val="solid"/>
          </a:ln>
        </p:spPr>
        <p:txBody>
          <a:bodyPr/>
          <a:lstStyle/>
          <a:p>
            <a:endParaRPr lang="en-US"/>
          </a:p>
        </p:txBody>
      </p:sp>
      <p:sp>
        <p:nvSpPr>
          <p:cNvPr id="45" name="missing-grid-6-1">
            <a:extLst>
              <a:ext uri="{FF2B5EF4-FFF2-40B4-BE49-F238E27FC236}">
                <a16:creationId xmlns:a16="http://schemas.microsoft.com/office/drawing/2014/main" id="{00000005-002D-4000-8000-000000000000}"/>
              </a:ext>
            </a:extLst>
          </p:cNvPr>
          <p:cNvSpPr>
            <a:spLocks noGrp="1"/>
          </p:cNvSpPr>
          <p:nvPr/>
        </p:nvSpPr>
        <p:spPr>
          <a:xfrm>
            <a:off x="1276350" y="4819650"/>
            <a:ext cx="285750" cy="285750"/>
          </a:xfrm>
          <a:prstGeom prst="rect">
            <a:avLst/>
          </a:prstGeom>
          <a:solidFill>
            <a:srgbClr val="DCEAE4"/>
          </a:solidFill>
          <a:ln w="0">
            <a:noFill/>
            <a:prstDash val="solid"/>
          </a:ln>
        </p:spPr>
        <p:txBody>
          <a:bodyPr/>
          <a:lstStyle/>
          <a:p>
            <a:endParaRPr lang="en-US"/>
          </a:p>
        </p:txBody>
      </p:sp>
      <p:sp>
        <p:nvSpPr>
          <p:cNvPr id="46" name="missing-grid-6-2">
            <a:extLst>
              <a:ext uri="{FF2B5EF4-FFF2-40B4-BE49-F238E27FC236}">
                <a16:creationId xmlns:a16="http://schemas.microsoft.com/office/drawing/2014/main" id="{00000005-002E-4000-8000-000000000000}"/>
              </a:ext>
            </a:extLst>
          </p:cNvPr>
          <p:cNvSpPr>
            <a:spLocks noGrp="1"/>
          </p:cNvSpPr>
          <p:nvPr/>
        </p:nvSpPr>
        <p:spPr>
          <a:xfrm>
            <a:off x="1676400" y="4819650"/>
            <a:ext cx="285750" cy="285750"/>
          </a:xfrm>
          <a:prstGeom prst="rect">
            <a:avLst/>
          </a:prstGeom>
          <a:solidFill>
            <a:srgbClr val="EF6A5B"/>
          </a:solidFill>
          <a:ln w="0">
            <a:noFill/>
            <a:prstDash val="solid"/>
          </a:ln>
        </p:spPr>
        <p:txBody>
          <a:bodyPr/>
          <a:lstStyle/>
          <a:p>
            <a:endParaRPr lang="en-US"/>
          </a:p>
        </p:txBody>
      </p:sp>
      <p:sp>
        <p:nvSpPr>
          <p:cNvPr id="47" name="missing-grid-6-3">
            <a:extLst>
              <a:ext uri="{FF2B5EF4-FFF2-40B4-BE49-F238E27FC236}">
                <a16:creationId xmlns:a16="http://schemas.microsoft.com/office/drawing/2014/main" id="{00000005-002F-4000-8000-000000000000}"/>
              </a:ext>
            </a:extLst>
          </p:cNvPr>
          <p:cNvSpPr>
            <a:spLocks noGrp="1"/>
          </p:cNvSpPr>
          <p:nvPr/>
        </p:nvSpPr>
        <p:spPr>
          <a:xfrm>
            <a:off x="2076450" y="4819650"/>
            <a:ext cx="285750" cy="285750"/>
          </a:xfrm>
          <a:prstGeom prst="rect">
            <a:avLst/>
          </a:prstGeom>
          <a:solidFill>
            <a:srgbClr val="DCEAE4"/>
          </a:solidFill>
          <a:ln w="0">
            <a:noFill/>
            <a:prstDash val="solid"/>
          </a:ln>
        </p:spPr>
        <p:txBody>
          <a:bodyPr/>
          <a:lstStyle/>
          <a:p>
            <a:endParaRPr lang="en-US"/>
          </a:p>
        </p:txBody>
      </p:sp>
      <p:sp>
        <p:nvSpPr>
          <p:cNvPr id="48" name="missing-grid-6-4">
            <a:extLst>
              <a:ext uri="{FF2B5EF4-FFF2-40B4-BE49-F238E27FC236}">
                <a16:creationId xmlns:a16="http://schemas.microsoft.com/office/drawing/2014/main" id="{00000005-0030-4000-8000-000000000000}"/>
              </a:ext>
            </a:extLst>
          </p:cNvPr>
          <p:cNvSpPr>
            <a:spLocks noGrp="1"/>
          </p:cNvSpPr>
          <p:nvPr/>
        </p:nvSpPr>
        <p:spPr>
          <a:xfrm>
            <a:off x="2476500" y="4819650"/>
            <a:ext cx="285750" cy="285750"/>
          </a:xfrm>
          <a:prstGeom prst="rect">
            <a:avLst/>
          </a:prstGeom>
          <a:solidFill>
            <a:srgbClr val="DCEAE4"/>
          </a:solidFill>
          <a:ln w="0">
            <a:noFill/>
            <a:prstDash val="solid"/>
          </a:ln>
        </p:spPr>
        <p:txBody>
          <a:bodyPr/>
          <a:lstStyle/>
          <a:p>
            <a:endParaRPr lang="en-US"/>
          </a:p>
        </p:txBody>
      </p:sp>
      <p:sp>
        <p:nvSpPr>
          <p:cNvPr id="49" name="missing-grid-6-5">
            <a:extLst>
              <a:ext uri="{FF2B5EF4-FFF2-40B4-BE49-F238E27FC236}">
                <a16:creationId xmlns:a16="http://schemas.microsoft.com/office/drawing/2014/main" id="{00000005-0031-4000-8000-000000000000}"/>
              </a:ext>
            </a:extLst>
          </p:cNvPr>
          <p:cNvSpPr>
            <a:spLocks noGrp="1"/>
          </p:cNvSpPr>
          <p:nvPr/>
        </p:nvSpPr>
        <p:spPr>
          <a:xfrm>
            <a:off x="2876550" y="4819650"/>
            <a:ext cx="285750" cy="285750"/>
          </a:xfrm>
          <a:prstGeom prst="rect">
            <a:avLst/>
          </a:prstGeom>
          <a:solidFill>
            <a:srgbClr val="DCEAE4"/>
          </a:solidFill>
          <a:ln w="0">
            <a:noFill/>
            <a:prstDash val="solid"/>
          </a:ln>
        </p:spPr>
        <p:txBody>
          <a:bodyPr/>
          <a:lstStyle/>
          <a:p>
            <a:endParaRPr lang="en-US"/>
          </a:p>
        </p:txBody>
      </p:sp>
      <p:sp>
        <p:nvSpPr>
          <p:cNvPr id="50" name="Rectangle 49">
            <a:extLst>
              <a:ext uri="{FF2B5EF4-FFF2-40B4-BE49-F238E27FC236}">
                <a16:creationId xmlns:a16="http://schemas.microsoft.com/office/drawing/2014/main" id="{00000005-0032-4000-8000-000000000000}"/>
              </a:ext>
            </a:extLst>
          </p:cNvPr>
          <p:cNvSpPr>
            <a:spLocks noGrp="1"/>
          </p:cNvSpPr>
          <p:nvPr/>
        </p:nvSpPr>
        <p:spPr>
          <a:xfrm>
            <a:off x="742950" y="5353050"/>
            <a:ext cx="1047750" cy="266700"/>
          </a:xfrm>
          <a:prstGeom prst="rect">
            <a:avLst/>
          </a:prstGeom>
          <a:noFill/>
          <a:ln w="0">
            <a:noFill/>
            <a:prstDash val="solid"/>
          </a:ln>
        </p:spPr>
        <p:txBody>
          <a:bodyPr wrap="square" lIns="0" tIns="0" rIns="0" bIns="0" anchor="ctr">
            <a:normAutofit/>
          </a:bodyPr>
          <a:lstStyle/>
          <a:p>
            <a:pPr algn="l">
              <a:lnSpc>
                <a:spcPct val="100000"/>
              </a:lnSpc>
              <a:buNone/>
              <a:defRPr sz="1350" b="0">
                <a:solidFill>
                  <a:srgbClr val="5E6F72"/>
                </a:solidFill>
                <a:latin typeface="Aptos"/>
                <a:ea typeface="Aptos"/>
                <a:cs typeface="Aptos"/>
              </a:defRPr>
            </a:pPr>
            <a:r>
              <a:rPr sz="1350" b="0">
                <a:solidFill>
                  <a:srgbClr val="5E6F72"/>
                </a:solidFill>
                <a:latin typeface="Aptos"/>
                <a:ea typeface="Aptos"/>
                <a:cs typeface="Aptos"/>
              </a:rPr>
              <a:t>observed</a:t>
            </a:r>
          </a:p>
        </p:txBody>
      </p:sp>
      <p:sp>
        <p:nvSpPr>
          <p:cNvPr id="51" name="Rectangle 50">
            <a:extLst>
              <a:ext uri="{FF2B5EF4-FFF2-40B4-BE49-F238E27FC236}">
                <a16:creationId xmlns:a16="http://schemas.microsoft.com/office/drawing/2014/main" id="{00000005-0033-4000-8000-000000000000}"/>
              </a:ext>
            </a:extLst>
          </p:cNvPr>
          <p:cNvSpPr>
            <a:spLocks noGrp="1"/>
          </p:cNvSpPr>
          <p:nvPr/>
        </p:nvSpPr>
        <p:spPr>
          <a:xfrm>
            <a:off x="1695450" y="5410200"/>
            <a:ext cx="171450" cy="171450"/>
          </a:xfrm>
          <a:prstGeom prst="rect">
            <a:avLst/>
          </a:prstGeom>
          <a:solidFill>
            <a:srgbClr val="DCEAE4"/>
          </a:solidFill>
          <a:ln w="0">
            <a:noFill/>
            <a:prstDash val="solid"/>
          </a:ln>
        </p:spPr>
        <p:txBody>
          <a:bodyPr/>
          <a:lstStyle/>
          <a:p>
            <a:endParaRPr lang="en-US"/>
          </a:p>
        </p:txBody>
      </p:sp>
      <p:sp>
        <p:nvSpPr>
          <p:cNvPr id="52" name="Rectangle 51">
            <a:extLst>
              <a:ext uri="{FF2B5EF4-FFF2-40B4-BE49-F238E27FC236}">
                <a16:creationId xmlns:a16="http://schemas.microsoft.com/office/drawing/2014/main" id="{00000005-0034-4000-8000-000000000000}"/>
              </a:ext>
            </a:extLst>
          </p:cNvPr>
          <p:cNvSpPr>
            <a:spLocks noGrp="1"/>
          </p:cNvSpPr>
          <p:nvPr/>
        </p:nvSpPr>
        <p:spPr>
          <a:xfrm>
            <a:off x="2114550" y="5353050"/>
            <a:ext cx="857250" cy="266700"/>
          </a:xfrm>
          <a:prstGeom prst="rect">
            <a:avLst/>
          </a:prstGeom>
          <a:noFill/>
          <a:ln w="0">
            <a:noFill/>
            <a:prstDash val="solid"/>
          </a:ln>
        </p:spPr>
        <p:txBody>
          <a:bodyPr wrap="square" lIns="0" tIns="0" rIns="0" bIns="0" anchor="ctr">
            <a:normAutofit/>
          </a:bodyPr>
          <a:lstStyle/>
          <a:p>
            <a:pPr algn="l">
              <a:lnSpc>
                <a:spcPct val="100000"/>
              </a:lnSpc>
              <a:buNone/>
              <a:defRPr sz="1350" b="0">
                <a:solidFill>
                  <a:srgbClr val="5E6F72"/>
                </a:solidFill>
                <a:latin typeface="Aptos"/>
                <a:ea typeface="Aptos"/>
                <a:cs typeface="Aptos"/>
              </a:defRPr>
            </a:pPr>
            <a:r>
              <a:rPr sz="1350" b="0">
                <a:solidFill>
                  <a:srgbClr val="5E6F72"/>
                </a:solidFill>
                <a:latin typeface="Aptos"/>
                <a:ea typeface="Aptos"/>
                <a:cs typeface="Aptos"/>
              </a:rPr>
              <a:t>missing</a:t>
            </a:r>
          </a:p>
        </p:txBody>
      </p:sp>
      <p:sp>
        <p:nvSpPr>
          <p:cNvPr id="53" name="Rectangle 52">
            <a:extLst>
              <a:ext uri="{FF2B5EF4-FFF2-40B4-BE49-F238E27FC236}">
                <a16:creationId xmlns:a16="http://schemas.microsoft.com/office/drawing/2014/main" id="{00000005-0035-4000-8000-000000000000}"/>
              </a:ext>
            </a:extLst>
          </p:cNvPr>
          <p:cNvSpPr>
            <a:spLocks noGrp="1"/>
          </p:cNvSpPr>
          <p:nvPr/>
        </p:nvSpPr>
        <p:spPr>
          <a:xfrm>
            <a:off x="2857500" y="5410200"/>
            <a:ext cx="171450" cy="171450"/>
          </a:xfrm>
          <a:prstGeom prst="rect">
            <a:avLst/>
          </a:prstGeom>
          <a:solidFill>
            <a:srgbClr val="EF6A5B"/>
          </a:solidFill>
          <a:ln w="0">
            <a:noFill/>
            <a:prstDash val="solid"/>
          </a:ln>
        </p:spPr>
        <p:txBody>
          <a:bodyPr/>
          <a:lstStyle/>
          <a:p>
            <a:endParaRPr lang="en-US"/>
          </a:p>
        </p:txBody>
      </p:sp>
      <p:sp>
        <p:nvSpPr>
          <p:cNvPr id="54" name="Rectangle 53">
            <a:extLst>
              <a:ext uri="{FF2B5EF4-FFF2-40B4-BE49-F238E27FC236}">
                <a16:creationId xmlns:a16="http://schemas.microsoft.com/office/drawing/2014/main" id="{00000005-0036-4000-8000-000000000000}"/>
              </a:ext>
            </a:extLst>
          </p:cNvPr>
          <p:cNvSpPr>
            <a:spLocks noGrp="1"/>
          </p:cNvSpPr>
          <p:nvPr/>
        </p:nvSpPr>
        <p:spPr>
          <a:xfrm>
            <a:off x="3829050" y="2324100"/>
            <a:ext cx="28575" cy="3143250"/>
          </a:xfrm>
          <a:prstGeom prst="rect">
            <a:avLst/>
          </a:prstGeom>
          <a:solidFill>
            <a:srgbClr val="DCEAE4"/>
          </a:solidFill>
          <a:ln w="0">
            <a:solidFill>
              <a:srgbClr val="DCEAE4"/>
            </a:solidFill>
            <a:prstDash val="solid"/>
          </a:ln>
        </p:spPr>
        <p:txBody>
          <a:bodyPr/>
          <a:lstStyle/>
          <a:p>
            <a:endParaRPr lang="en-US"/>
          </a:p>
        </p:txBody>
      </p:sp>
      <p:sp>
        <p:nvSpPr>
          <p:cNvPr id="55" name="Rectangle 54">
            <a:extLst>
              <a:ext uri="{FF2B5EF4-FFF2-40B4-BE49-F238E27FC236}">
                <a16:creationId xmlns:a16="http://schemas.microsoft.com/office/drawing/2014/main" id="{00000005-0037-4000-8000-000000000000}"/>
              </a:ext>
            </a:extLst>
          </p:cNvPr>
          <p:cNvSpPr>
            <a:spLocks noGrp="1"/>
          </p:cNvSpPr>
          <p:nvPr/>
        </p:nvSpPr>
        <p:spPr>
          <a:xfrm>
            <a:off x="4248150" y="2457450"/>
            <a:ext cx="1428750" cy="495300"/>
          </a:xfrm>
          <a:prstGeom prst="rect">
            <a:avLst/>
          </a:prstGeom>
          <a:noFill/>
          <a:ln w="0">
            <a:noFill/>
            <a:prstDash val="solid"/>
          </a:ln>
        </p:spPr>
        <p:txBody>
          <a:bodyPr wrap="square" lIns="0" tIns="0" rIns="0" bIns="0" anchor="ctr">
            <a:normAutofit/>
          </a:bodyPr>
          <a:lstStyle/>
          <a:p>
            <a:pPr algn="l">
              <a:lnSpc>
                <a:spcPct val="100000"/>
              </a:lnSpc>
              <a:buNone/>
              <a:defRPr sz="2850" b="1">
                <a:solidFill>
                  <a:srgbClr val="007C7A"/>
                </a:solidFill>
                <a:latin typeface="Aptos Display"/>
                <a:ea typeface="Aptos Display"/>
                <a:cs typeface="Aptos Display"/>
              </a:defRPr>
            </a:pPr>
            <a:r>
              <a:rPr sz="2850" b="1">
                <a:solidFill>
                  <a:srgbClr val="007C7A"/>
                </a:solidFill>
                <a:latin typeface="Aptos Display"/>
                <a:ea typeface="Aptos Display"/>
                <a:cs typeface="Aptos Display"/>
              </a:rPr>
              <a:t>MCAR</a:t>
            </a:r>
          </a:p>
        </p:txBody>
      </p:sp>
      <p:sp>
        <p:nvSpPr>
          <p:cNvPr id="56" name="Rectangle 55">
            <a:extLst>
              <a:ext uri="{FF2B5EF4-FFF2-40B4-BE49-F238E27FC236}">
                <a16:creationId xmlns:a16="http://schemas.microsoft.com/office/drawing/2014/main" id="{00000005-0038-4000-8000-000000000000}"/>
              </a:ext>
            </a:extLst>
          </p:cNvPr>
          <p:cNvSpPr>
            <a:spLocks noGrp="1"/>
          </p:cNvSpPr>
          <p:nvPr/>
        </p:nvSpPr>
        <p:spPr>
          <a:xfrm>
            <a:off x="4248150" y="3429000"/>
            <a:ext cx="1428750" cy="495300"/>
          </a:xfrm>
          <a:prstGeom prst="rect">
            <a:avLst/>
          </a:prstGeom>
          <a:noFill/>
          <a:ln w="0">
            <a:noFill/>
            <a:prstDash val="solid"/>
          </a:ln>
        </p:spPr>
        <p:txBody>
          <a:bodyPr wrap="square" lIns="0" tIns="0" rIns="0" bIns="0" anchor="ctr">
            <a:normAutofit/>
          </a:bodyPr>
          <a:lstStyle/>
          <a:p>
            <a:pPr algn="l">
              <a:lnSpc>
                <a:spcPct val="100000"/>
              </a:lnSpc>
              <a:buNone/>
              <a:defRPr sz="2850" b="1">
                <a:solidFill>
                  <a:srgbClr val="007C7A"/>
                </a:solidFill>
                <a:latin typeface="Aptos Display"/>
                <a:ea typeface="Aptos Display"/>
                <a:cs typeface="Aptos Display"/>
              </a:defRPr>
            </a:pPr>
            <a:r>
              <a:rPr sz="2850" b="1">
                <a:solidFill>
                  <a:srgbClr val="007C7A"/>
                </a:solidFill>
                <a:latin typeface="Aptos Display"/>
                <a:ea typeface="Aptos Display"/>
                <a:cs typeface="Aptos Display"/>
              </a:rPr>
              <a:t>MAR</a:t>
            </a:r>
          </a:p>
        </p:txBody>
      </p:sp>
      <p:sp>
        <p:nvSpPr>
          <p:cNvPr id="57" name="Rectangle 56">
            <a:extLst>
              <a:ext uri="{FF2B5EF4-FFF2-40B4-BE49-F238E27FC236}">
                <a16:creationId xmlns:a16="http://schemas.microsoft.com/office/drawing/2014/main" id="{00000005-0039-4000-8000-000000000000}"/>
              </a:ext>
            </a:extLst>
          </p:cNvPr>
          <p:cNvSpPr>
            <a:spLocks noGrp="1"/>
          </p:cNvSpPr>
          <p:nvPr/>
        </p:nvSpPr>
        <p:spPr>
          <a:xfrm>
            <a:off x="4248150" y="4400550"/>
            <a:ext cx="1428750" cy="495300"/>
          </a:xfrm>
          <a:prstGeom prst="rect">
            <a:avLst/>
          </a:prstGeom>
          <a:noFill/>
          <a:ln w="0">
            <a:noFill/>
            <a:prstDash val="solid"/>
          </a:ln>
        </p:spPr>
        <p:txBody>
          <a:bodyPr wrap="square" lIns="0" tIns="0" rIns="0" bIns="0" anchor="ctr">
            <a:normAutofit/>
          </a:bodyPr>
          <a:lstStyle/>
          <a:p>
            <a:pPr algn="l">
              <a:lnSpc>
                <a:spcPct val="100000"/>
              </a:lnSpc>
              <a:buNone/>
              <a:defRPr sz="2850" b="1">
                <a:solidFill>
                  <a:srgbClr val="007C7A"/>
                </a:solidFill>
                <a:latin typeface="Aptos Display"/>
                <a:ea typeface="Aptos Display"/>
                <a:cs typeface="Aptos Display"/>
              </a:defRPr>
            </a:pPr>
            <a:r>
              <a:rPr sz="2850" b="1">
                <a:solidFill>
                  <a:srgbClr val="007C7A"/>
                </a:solidFill>
                <a:latin typeface="Aptos Display"/>
                <a:ea typeface="Aptos Display"/>
                <a:cs typeface="Aptos Display"/>
              </a:rPr>
              <a:t>MNAR</a:t>
            </a:r>
          </a:p>
        </p:txBody>
      </p:sp>
      <p:sp>
        <p:nvSpPr>
          <p:cNvPr id="58" name="Rectangle 57">
            <a:extLst>
              <a:ext uri="{FF2B5EF4-FFF2-40B4-BE49-F238E27FC236}">
                <a16:creationId xmlns:a16="http://schemas.microsoft.com/office/drawing/2014/main" id="{00000005-003A-4000-8000-000000000000}"/>
              </a:ext>
            </a:extLst>
          </p:cNvPr>
          <p:cNvSpPr>
            <a:spLocks noGrp="1"/>
          </p:cNvSpPr>
          <p:nvPr/>
        </p:nvSpPr>
        <p:spPr>
          <a:xfrm>
            <a:off x="6191250" y="2438400"/>
            <a:ext cx="4000500" cy="514350"/>
          </a:xfrm>
          <a:prstGeom prst="rect">
            <a:avLst/>
          </a:prstGeom>
          <a:noFill/>
          <a:ln w="0">
            <a:noFill/>
            <a:prstDash val="solid"/>
          </a:ln>
        </p:spPr>
        <p:txBody>
          <a:bodyPr wrap="square" lIns="0" tIns="0" rIns="0" bIns="0" anchor="ctr">
            <a:normAutofit/>
          </a:bodyPr>
          <a:lstStyle/>
          <a:p>
            <a:pPr algn="l">
              <a:lnSpc>
                <a:spcPct val="100000"/>
              </a:lnSpc>
              <a:buNone/>
              <a:defRPr sz="2400" b="1">
                <a:solidFill>
                  <a:srgbClr val="17343A"/>
                </a:solidFill>
                <a:latin typeface="Aptos Display"/>
                <a:ea typeface="Aptos Display"/>
                <a:cs typeface="Aptos Display"/>
              </a:defRPr>
            </a:pPr>
            <a:r>
              <a:rPr sz="2400" b="1">
                <a:solidFill>
                  <a:srgbClr val="17343A"/>
                </a:solidFill>
                <a:latin typeface="Aptos Display"/>
                <a:ea typeface="Aptos Display"/>
                <a:cs typeface="Aptos Display"/>
              </a:rPr>
              <a:t>assumptions</a:t>
            </a:r>
          </a:p>
        </p:txBody>
      </p:sp>
      <p:sp>
        <p:nvSpPr>
          <p:cNvPr id="59" name="Rectangle 58">
            <a:extLst>
              <a:ext uri="{FF2B5EF4-FFF2-40B4-BE49-F238E27FC236}">
                <a16:creationId xmlns:a16="http://schemas.microsoft.com/office/drawing/2014/main" id="{00000005-003B-4000-8000-000000000000}"/>
              </a:ext>
            </a:extLst>
          </p:cNvPr>
          <p:cNvSpPr>
            <a:spLocks noGrp="1"/>
          </p:cNvSpPr>
          <p:nvPr/>
        </p:nvSpPr>
        <p:spPr>
          <a:xfrm>
            <a:off x="6191250" y="3219450"/>
            <a:ext cx="4476750" cy="609600"/>
          </a:xfrm>
          <a:prstGeom prst="rect">
            <a:avLst/>
          </a:prstGeom>
          <a:noFill/>
          <a:ln w="0">
            <a:noFill/>
            <a:prstDash val="solid"/>
          </a:ln>
        </p:spPr>
        <p:txBody>
          <a:bodyPr wrap="square" lIns="0" tIns="0" rIns="0" bIns="0" anchor="ctr">
            <a:normAutofit fontScale="96389"/>
          </a:bodyPr>
          <a:lstStyle/>
          <a:p>
            <a:pPr algn="l">
              <a:lnSpc>
                <a:spcPct val="100000"/>
              </a:lnSpc>
              <a:buNone/>
              <a:defRPr sz="2250" b="1">
                <a:solidFill>
                  <a:srgbClr val="EF6A5B"/>
                </a:solidFill>
                <a:latin typeface="Aptos Display"/>
                <a:ea typeface="Aptos Display"/>
                <a:cs typeface="Aptos Display"/>
              </a:defRPr>
            </a:pPr>
            <a:r>
              <a:rPr sz="2250" b="1">
                <a:solidFill>
                  <a:srgbClr val="EF6A5B"/>
                </a:solidFill>
                <a:latin typeface="Aptos Display"/>
                <a:ea typeface="Aptos Display"/>
                <a:cs typeface="Aptos Display"/>
              </a:rPr>
              <a:t>not labels inferred from a chart</a:t>
            </a:r>
          </a:p>
        </p:txBody>
      </p:sp>
      <p:sp>
        <p:nvSpPr>
          <p:cNvPr id="60" name="Rectangle 59">
            <a:extLst>
              <a:ext uri="{FF2B5EF4-FFF2-40B4-BE49-F238E27FC236}">
                <a16:creationId xmlns:a16="http://schemas.microsoft.com/office/drawing/2014/main" id="{00000005-003C-4000-8000-000000000000}"/>
              </a:ext>
            </a:extLst>
          </p:cNvPr>
          <p:cNvSpPr>
            <a:spLocks noGrp="1"/>
          </p:cNvSpPr>
          <p:nvPr/>
        </p:nvSpPr>
        <p:spPr>
          <a:xfrm>
            <a:off x="6191250" y="4210050"/>
            <a:ext cx="4572000" cy="952500"/>
          </a:xfrm>
          <a:prstGeom prst="rect">
            <a:avLst/>
          </a:prstGeom>
          <a:noFill/>
          <a:ln w="0">
            <a:noFill/>
            <a:prstDash val="solid"/>
          </a:ln>
        </p:spPr>
        <p:txBody>
          <a:bodyPr wrap="square" lIns="0" tIns="0" rIns="0" bIns="0" anchor="ctr">
            <a:normAutofit/>
          </a:bodyPr>
          <a:lstStyle/>
          <a:p>
            <a:pPr algn="l">
              <a:lnSpc>
                <a:spcPct val="100000"/>
              </a:lnSpc>
              <a:buNone/>
              <a:defRPr sz="1950" b="0">
                <a:solidFill>
                  <a:srgbClr val="5E6F72"/>
                </a:solidFill>
                <a:latin typeface="Aptos"/>
                <a:ea typeface="Aptos"/>
                <a:cs typeface="Aptos"/>
              </a:defRPr>
            </a:pPr>
            <a:r>
              <a:rPr sz="1950" b="0">
                <a:solidFill>
                  <a:srgbClr val="5E6F72"/>
                </a:solidFill>
                <a:latin typeface="Aptos"/>
                <a:ea typeface="Aptos"/>
                <a:cs typeface="Aptos"/>
              </a:rPr>
              <a:t>Complete-case deletion can change who remains in the data.</a:t>
            </a:r>
          </a:p>
        </p:txBody>
      </p:sp>
    </p:spTree>
    <p:extLst>
      <p:ext uri="{BB962C8B-B14F-4D97-AF65-F5344CB8AC3E}">
        <p14:creationId xmlns:p14="http://schemas.microsoft.com/office/powerpoint/2010/main" val="500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00000006-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06-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a:solidFill>
                  <a:srgbClr val="007C7A"/>
                </a:solidFill>
                <a:latin typeface="Aptos Display"/>
                <a:ea typeface="Aptos Display"/>
                <a:cs typeface="Aptos Display"/>
              </a:rPr>
              <a:t>INSPECTION</a:t>
            </a:r>
          </a:p>
        </p:txBody>
      </p:sp>
      <p:sp>
        <p:nvSpPr>
          <p:cNvPr id="3" name="Rectangle 2">
            <a:extLst>
              <a:ext uri="{FF2B5EF4-FFF2-40B4-BE49-F238E27FC236}">
                <a16:creationId xmlns:a16="http://schemas.microsoft.com/office/drawing/2014/main" id="{00000006-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fontScale="95632"/>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Four pandas operations reveal different evidence</a:t>
            </a:r>
          </a:p>
        </p:txBody>
      </p:sp>
      <p:sp>
        <p:nvSpPr>
          <p:cNvPr id="4" name="Rectangle 3">
            <a:extLst>
              <a:ext uri="{FF2B5EF4-FFF2-40B4-BE49-F238E27FC236}">
                <a16:creationId xmlns:a16="http://schemas.microsoft.com/office/drawing/2014/main" id="{00000006-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fontScale="95003"/>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40–50 min</a:t>
            </a:r>
          </a:p>
        </p:txBody>
      </p:sp>
      <p:sp>
        <p:nvSpPr>
          <p:cNvPr id="5" name="Rectangle 4">
            <a:extLst>
              <a:ext uri="{FF2B5EF4-FFF2-40B4-BE49-F238E27FC236}">
                <a16:creationId xmlns:a16="http://schemas.microsoft.com/office/drawing/2014/main" id="{00000006-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06-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06</a:t>
            </a:r>
          </a:p>
        </p:txBody>
      </p:sp>
      <p:sp>
        <p:nvSpPr>
          <p:cNvPr id="7" name="Rectangle 6">
            <a:extLst>
              <a:ext uri="{FF2B5EF4-FFF2-40B4-BE49-F238E27FC236}">
                <a16:creationId xmlns:a16="http://schemas.microsoft.com/office/drawing/2014/main" id="{00000006-0007-4000-8000-000000000000}"/>
              </a:ext>
            </a:extLst>
          </p:cNvPr>
          <p:cNvSpPr>
            <a:spLocks noGrp="1"/>
          </p:cNvSpPr>
          <p:nvPr/>
        </p:nvSpPr>
        <p:spPr>
          <a:xfrm>
            <a:off x="742950" y="1752600"/>
            <a:ext cx="419100" cy="285750"/>
          </a:xfrm>
          <a:prstGeom prst="rect">
            <a:avLst/>
          </a:prstGeom>
          <a:noFill/>
          <a:ln w="0">
            <a:noFill/>
            <a:prstDash val="solid"/>
          </a:ln>
        </p:spPr>
        <p:txBody>
          <a:bodyPr wrap="square" lIns="0" tIns="0" rIns="0" bIns="0" anchor="ctr">
            <a:normAutofit/>
          </a:bodyPr>
          <a:lstStyle/>
          <a:p>
            <a:pPr algn="l">
              <a:lnSpc>
                <a:spcPct val="100000"/>
              </a:lnSpc>
              <a:buNone/>
              <a:defRPr sz="1350" b="1">
                <a:solidFill>
                  <a:srgbClr val="EF6A5B"/>
                </a:solidFill>
                <a:latin typeface="Aptos Display"/>
                <a:ea typeface="Aptos Display"/>
                <a:cs typeface="Aptos Display"/>
              </a:defRPr>
            </a:pPr>
            <a:r>
              <a:rPr sz="1350" b="1">
                <a:solidFill>
                  <a:srgbClr val="EF6A5B"/>
                </a:solidFill>
                <a:latin typeface="Aptos Display"/>
                <a:ea typeface="Aptos Display"/>
                <a:cs typeface="Aptos Display"/>
              </a:rPr>
              <a:t>01</a:t>
            </a:r>
          </a:p>
        </p:txBody>
      </p:sp>
      <p:sp>
        <p:nvSpPr>
          <p:cNvPr id="8" name="Rectangle 7">
            <a:extLst>
              <a:ext uri="{FF2B5EF4-FFF2-40B4-BE49-F238E27FC236}">
                <a16:creationId xmlns:a16="http://schemas.microsoft.com/office/drawing/2014/main" id="{00000006-0008-4000-8000-000000000000}"/>
              </a:ext>
            </a:extLst>
          </p:cNvPr>
          <p:cNvSpPr>
            <a:spLocks noGrp="1"/>
          </p:cNvSpPr>
          <p:nvPr/>
        </p:nvSpPr>
        <p:spPr>
          <a:xfrm>
            <a:off x="742950" y="2209800"/>
            <a:ext cx="2381250" cy="952500"/>
          </a:xfrm>
          <a:prstGeom prst="rect">
            <a:avLst/>
          </a:prstGeom>
          <a:noFill/>
          <a:ln w="0">
            <a:noFill/>
            <a:prstDash val="solid"/>
          </a:ln>
        </p:spPr>
        <p:txBody>
          <a:bodyPr wrap="square" lIns="0" tIns="0" rIns="0" bIns="0" anchor="ctr">
            <a:normAutofit/>
          </a:bodyPr>
          <a:lstStyle/>
          <a:p>
            <a:pPr algn="l">
              <a:lnSpc>
                <a:spcPct val="100000"/>
              </a:lnSpc>
              <a:buNone/>
              <a:defRPr sz="2250" b="1">
                <a:solidFill>
                  <a:srgbClr val="17343A"/>
                </a:solidFill>
                <a:latin typeface="Aptos Mono"/>
                <a:ea typeface="Aptos Mono"/>
                <a:cs typeface="Aptos Mono"/>
              </a:defRPr>
            </a:pPr>
            <a:r>
              <a:rPr sz="2250" b="1">
                <a:solidFill>
                  <a:srgbClr val="17343A"/>
                </a:solidFill>
                <a:latin typeface="Aptos Mono"/>
                <a:ea typeface="Aptos Mono"/>
                <a:cs typeface="Aptos Mono"/>
              </a:rPr>
              <a:t>info()</a:t>
            </a:r>
          </a:p>
        </p:txBody>
      </p:sp>
      <p:sp>
        <p:nvSpPr>
          <p:cNvPr id="9" name="Rectangle 8">
            <a:extLst>
              <a:ext uri="{FF2B5EF4-FFF2-40B4-BE49-F238E27FC236}">
                <a16:creationId xmlns:a16="http://schemas.microsoft.com/office/drawing/2014/main" id="{00000006-0009-4000-8000-000000000000}"/>
              </a:ext>
            </a:extLst>
          </p:cNvPr>
          <p:cNvSpPr>
            <a:spLocks noGrp="1"/>
          </p:cNvSpPr>
          <p:nvPr/>
        </p:nvSpPr>
        <p:spPr>
          <a:xfrm>
            <a:off x="742950" y="3429000"/>
            <a:ext cx="2381250" cy="685800"/>
          </a:xfrm>
          <a:prstGeom prst="rect">
            <a:avLst/>
          </a:prstGeom>
          <a:noFill/>
          <a:ln w="0">
            <a:noFill/>
            <a:prstDash val="solid"/>
          </a:ln>
        </p:spPr>
        <p:txBody>
          <a:bodyPr wrap="square" lIns="0" tIns="0" rIns="0" bIns="0" anchor="ctr">
            <a:normAutofit/>
          </a:bodyPr>
          <a:lstStyle/>
          <a:p>
            <a:pPr algn="l">
              <a:lnSpc>
                <a:spcPct val="100000"/>
              </a:lnSpc>
              <a:buNone/>
              <a:defRPr sz="1950" b="1">
                <a:solidFill>
                  <a:srgbClr val="007C7A"/>
                </a:solidFill>
                <a:latin typeface="Aptos Display"/>
                <a:ea typeface="Aptos Display"/>
                <a:cs typeface="Aptos Display"/>
              </a:defRPr>
            </a:pPr>
            <a:r>
              <a:rPr sz="1950" b="1">
                <a:solidFill>
                  <a:srgbClr val="007C7A"/>
                </a:solidFill>
                <a:latin typeface="Aptos Display"/>
                <a:ea typeface="Aptos Display"/>
                <a:cs typeface="Aptos Display"/>
              </a:rPr>
              <a:t>types + non-null counts</a:t>
            </a:r>
          </a:p>
        </p:txBody>
      </p:sp>
      <p:sp>
        <p:nvSpPr>
          <p:cNvPr id="10" name="Rectangle 9">
            <a:extLst>
              <a:ext uri="{FF2B5EF4-FFF2-40B4-BE49-F238E27FC236}">
                <a16:creationId xmlns:a16="http://schemas.microsoft.com/office/drawing/2014/main" id="{00000006-000A-4000-8000-000000000000}"/>
              </a:ext>
            </a:extLst>
          </p:cNvPr>
          <p:cNvSpPr>
            <a:spLocks noGrp="1"/>
          </p:cNvSpPr>
          <p:nvPr/>
        </p:nvSpPr>
        <p:spPr>
          <a:xfrm>
            <a:off x="742950" y="4362450"/>
            <a:ext cx="2381250" cy="857250"/>
          </a:xfrm>
          <a:prstGeom prst="rect">
            <a:avLst/>
          </a:prstGeom>
          <a:noFill/>
          <a:ln w="0">
            <a:noFill/>
            <a:prstDash val="solid"/>
          </a:ln>
        </p:spPr>
        <p:txBody>
          <a:bodyPr wrap="square" lIns="0" tIns="0" rIns="0" bIns="0" anchor="ctr">
            <a:normAutofit/>
          </a:bodyPr>
          <a:lstStyle/>
          <a:p>
            <a:pPr algn="l">
              <a:lnSpc>
                <a:spcPct val="100000"/>
              </a:lnSpc>
              <a:buNone/>
              <a:defRPr sz="1800" b="0">
                <a:solidFill>
                  <a:srgbClr val="5E6F72"/>
                </a:solidFill>
                <a:latin typeface="Aptos"/>
                <a:ea typeface="Aptos"/>
                <a:cs typeface="Aptos"/>
              </a:defRPr>
            </a:pPr>
            <a:r>
              <a:rPr sz="1800" b="0">
                <a:solidFill>
                  <a:srgbClr val="5E6F72"/>
                </a:solidFill>
                <a:latin typeface="Aptos"/>
                <a:ea typeface="Aptos"/>
                <a:cs typeface="Aptos"/>
              </a:rPr>
              <a:t>What did pandas infer?</a:t>
            </a:r>
          </a:p>
        </p:txBody>
      </p:sp>
      <p:sp>
        <p:nvSpPr>
          <p:cNvPr id="11" name="Rectangle 10">
            <a:extLst>
              <a:ext uri="{FF2B5EF4-FFF2-40B4-BE49-F238E27FC236}">
                <a16:creationId xmlns:a16="http://schemas.microsoft.com/office/drawing/2014/main" id="{00000006-000B-4000-8000-000000000000}"/>
              </a:ext>
            </a:extLst>
          </p:cNvPr>
          <p:cNvSpPr>
            <a:spLocks noGrp="1"/>
          </p:cNvSpPr>
          <p:nvPr/>
        </p:nvSpPr>
        <p:spPr>
          <a:xfrm>
            <a:off x="3295650" y="1962150"/>
            <a:ext cx="19050" cy="3314700"/>
          </a:xfrm>
          <a:prstGeom prst="rect">
            <a:avLst/>
          </a:prstGeom>
          <a:solidFill>
            <a:srgbClr val="DCEAE4"/>
          </a:solidFill>
          <a:ln w="0">
            <a:solidFill>
              <a:srgbClr val="DCEAE4"/>
            </a:solidFill>
            <a:prstDash val="solid"/>
          </a:ln>
        </p:spPr>
        <p:txBody>
          <a:bodyPr/>
          <a:lstStyle/>
          <a:p>
            <a:endParaRPr lang="en-US"/>
          </a:p>
        </p:txBody>
      </p:sp>
      <p:sp>
        <p:nvSpPr>
          <p:cNvPr id="12" name="Rectangle 11">
            <a:extLst>
              <a:ext uri="{FF2B5EF4-FFF2-40B4-BE49-F238E27FC236}">
                <a16:creationId xmlns:a16="http://schemas.microsoft.com/office/drawing/2014/main" id="{00000006-000C-4000-8000-000000000000}"/>
              </a:ext>
            </a:extLst>
          </p:cNvPr>
          <p:cNvSpPr>
            <a:spLocks noGrp="1"/>
          </p:cNvSpPr>
          <p:nvPr/>
        </p:nvSpPr>
        <p:spPr>
          <a:xfrm>
            <a:off x="3467100" y="1752600"/>
            <a:ext cx="419100" cy="285750"/>
          </a:xfrm>
          <a:prstGeom prst="rect">
            <a:avLst/>
          </a:prstGeom>
          <a:noFill/>
          <a:ln w="0">
            <a:noFill/>
            <a:prstDash val="solid"/>
          </a:ln>
        </p:spPr>
        <p:txBody>
          <a:bodyPr wrap="square" lIns="0" tIns="0" rIns="0" bIns="0" anchor="ctr">
            <a:normAutofit/>
          </a:bodyPr>
          <a:lstStyle/>
          <a:p>
            <a:pPr algn="l">
              <a:lnSpc>
                <a:spcPct val="100000"/>
              </a:lnSpc>
              <a:buNone/>
              <a:defRPr sz="1350" b="1">
                <a:solidFill>
                  <a:srgbClr val="EF6A5B"/>
                </a:solidFill>
                <a:latin typeface="Aptos Display"/>
                <a:ea typeface="Aptos Display"/>
                <a:cs typeface="Aptos Display"/>
              </a:defRPr>
            </a:pPr>
            <a:r>
              <a:rPr sz="1350" b="1">
                <a:solidFill>
                  <a:srgbClr val="EF6A5B"/>
                </a:solidFill>
                <a:latin typeface="Aptos Display"/>
                <a:ea typeface="Aptos Display"/>
                <a:cs typeface="Aptos Display"/>
              </a:rPr>
              <a:t>02</a:t>
            </a:r>
          </a:p>
        </p:txBody>
      </p:sp>
      <p:sp>
        <p:nvSpPr>
          <p:cNvPr id="13" name="Rectangle 12">
            <a:extLst>
              <a:ext uri="{FF2B5EF4-FFF2-40B4-BE49-F238E27FC236}">
                <a16:creationId xmlns:a16="http://schemas.microsoft.com/office/drawing/2014/main" id="{00000006-000D-4000-8000-000000000000}"/>
              </a:ext>
            </a:extLst>
          </p:cNvPr>
          <p:cNvSpPr>
            <a:spLocks noGrp="1"/>
          </p:cNvSpPr>
          <p:nvPr/>
        </p:nvSpPr>
        <p:spPr>
          <a:xfrm>
            <a:off x="3467100" y="2209800"/>
            <a:ext cx="2381250" cy="952500"/>
          </a:xfrm>
          <a:prstGeom prst="rect">
            <a:avLst/>
          </a:prstGeom>
          <a:noFill/>
          <a:ln w="0">
            <a:noFill/>
            <a:prstDash val="solid"/>
          </a:ln>
        </p:spPr>
        <p:txBody>
          <a:bodyPr wrap="square" lIns="0" tIns="0" rIns="0" bIns="0" anchor="ctr">
            <a:normAutofit/>
          </a:bodyPr>
          <a:lstStyle/>
          <a:p>
            <a:pPr algn="l">
              <a:lnSpc>
                <a:spcPct val="100000"/>
              </a:lnSpc>
              <a:buNone/>
              <a:defRPr sz="2250" b="1">
                <a:solidFill>
                  <a:srgbClr val="17343A"/>
                </a:solidFill>
                <a:latin typeface="Aptos Mono"/>
                <a:ea typeface="Aptos Mono"/>
                <a:cs typeface="Aptos Mono"/>
              </a:defRPr>
            </a:pPr>
            <a:r>
              <a:rPr sz="2250" b="1">
                <a:solidFill>
                  <a:srgbClr val="17343A"/>
                </a:solidFill>
                <a:latin typeface="Aptos Mono"/>
                <a:ea typeface="Aptos Mono"/>
                <a:cs typeface="Aptos Mono"/>
              </a:rPr>
              <a:t>isna().mean()</a:t>
            </a:r>
          </a:p>
        </p:txBody>
      </p:sp>
      <p:sp>
        <p:nvSpPr>
          <p:cNvPr id="14" name="Rectangle 13">
            <a:extLst>
              <a:ext uri="{FF2B5EF4-FFF2-40B4-BE49-F238E27FC236}">
                <a16:creationId xmlns:a16="http://schemas.microsoft.com/office/drawing/2014/main" id="{00000006-000E-4000-8000-000000000000}"/>
              </a:ext>
            </a:extLst>
          </p:cNvPr>
          <p:cNvSpPr>
            <a:spLocks noGrp="1"/>
          </p:cNvSpPr>
          <p:nvPr/>
        </p:nvSpPr>
        <p:spPr>
          <a:xfrm>
            <a:off x="3467100" y="3429000"/>
            <a:ext cx="2381250" cy="685800"/>
          </a:xfrm>
          <a:prstGeom prst="rect">
            <a:avLst/>
          </a:prstGeom>
          <a:noFill/>
          <a:ln w="0">
            <a:noFill/>
            <a:prstDash val="solid"/>
          </a:ln>
        </p:spPr>
        <p:txBody>
          <a:bodyPr wrap="square" lIns="0" tIns="0" rIns="0" bIns="0" anchor="ctr">
            <a:normAutofit/>
          </a:bodyPr>
          <a:lstStyle/>
          <a:p>
            <a:pPr algn="l">
              <a:lnSpc>
                <a:spcPct val="100000"/>
              </a:lnSpc>
              <a:buNone/>
              <a:defRPr sz="1950" b="1">
                <a:solidFill>
                  <a:srgbClr val="007C7A"/>
                </a:solidFill>
                <a:latin typeface="Aptos Display"/>
                <a:ea typeface="Aptos Display"/>
                <a:cs typeface="Aptos Display"/>
              </a:defRPr>
            </a:pPr>
            <a:r>
              <a:rPr sz="1950" b="1">
                <a:solidFill>
                  <a:srgbClr val="007C7A"/>
                </a:solidFill>
                <a:latin typeface="Aptos Display"/>
                <a:ea typeface="Aptos Display"/>
                <a:cs typeface="Aptos Display"/>
              </a:rPr>
              <a:t>missing proportion</a:t>
            </a:r>
          </a:p>
        </p:txBody>
      </p:sp>
      <p:sp>
        <p:nvSpPr>
          <p:cNvPr id="15" name="Rectangle 14">
            <a:extLst>
              <a:ext uri="{FF2B5EF4-FFF2-40B4-BE49-F238E27FC236}">
                <a16:creationId xmlns:a16="http://schemas.microsoft.com/office/drawing/2014/main" id="{00000006-000F-4000-8000-000000000000}"/>
              </a:ext>
            </a:extLst>
          </p:cNvPr>
          <p:cNvSpPr>
            <a:spLocks noGrp="1"/>
          </p:cNvSpPr>
          <p:nvPr/>
        </p:nvSpPr>
        <p:spPr>
          <a:xfrm>
            <a:off x="3467100" y="4362450"/>
            <a:ext cx="2381250" cy="857250"/>
          </a:xfrm>
          <a:prstGeom prst="rect">
            <a:avLst/>
          </a:prstGeom>
          <a:noFill/>
          <a:ln w="0">
            <a:noFill/>
            <a:prstDash val="solid"/>
          </a:ln>
        </p:spPr>
        <p:txBody>
          <a:bodyPr wrap="square" lIns="0" tIns="0" rIns="0" bIns="0" anchor="ctr">
            <a:normAutofit/>
          </a:bodyPr>
          <a:lstStyle/>
          <a:p>
            <a:pPr algn="l">
              <a:lnSpc>
                <a:spcPct val="100000"/>
              </a:lnSpc>
              <a:buNone/>
              <a:defRPr sz="1800" b="0">
                <a:solidFill>
                  <a:srgbClr val="5E6F72"/>
                </a:solidFill>
                <a:latin typeface="Aptos"/>
                <a:ea typeface="Aptos"/>
                <a:cs typeface="Aptos"/>
              </a:defRPr>
            </a:pPr>
            <a:r>
              <a:rPr sz="1800" b="0">
                <a:solidFill>
                  <a:srgbClr val="5E6F72"/>
                </a:solidFill>
                <a:latin typeface="Aptos"/>
                <a:ea typeface="Aptos"/>
                <a:cs typeface="Aptos"/>
              </a:rPr>
              <a:t>Where is absence concentrated?</a:t>
            </a:r>
          </a:p>
        </p:txBody>
      </p:sp>
      <p:sp>
        <p:nvSpPr>
          <p:cNvPr id="16" name="Rectangle 15">
            <a:extLst>
              <a:ext uri="{FF2B5EF4-FFF2-40B4-BE49-F238E27FC236}">
                <a16:creationId xmlns:a16="http://schemas.microsoft.com/office/drawing/2014/main" id="{00000006-0010-4000-8000-000000000000}"/>
              </a:ext>
            </a:extLst>
          </p:cNvPr>
          <p:cNvSpPr>
            <a:spLocks noGrp="1"/>
          </p:cNvSpPr>
          <p:nvPr/>
        </p:nvSpPr>
        <p:spPr>
          <a:xfrm>
            <a:off x="6019800" y="1962150"/>
            <a:ext cx="19050" cy="3314700"/>
          </a:xfrm>
          <a:prstGeom prst="rect">
            <a:avLst/>
          </a:prstGeom>
          <a:solidFill>
            <a:srgbClr val="DCEAE4"/>
          </a:solidFill>
          <a:ln w="0">
            <a:solidFill>
              <a:srgbClr val="DCEAE4"/>
            </a:solidFill>
            <a:prstDash val="solid"/>
          </a:ln>
        </p:spPr>
        <p:txBody>
          <a:bodyPr/>
          <a:lstStyle/>
          <a:p>
            <a:endParaRPr lang="en-US"/>
          </a:p>
        </p:txBody>
      </p:sp>
      <p:sp>
        <p:nvSpPr>
          <p:cNvPr id="17" name="Rectangle 16">
            <a:extLst>
              <a:ext uri="{FF2B5EF4-FFF2-40B4-BE49-F238E27FC236}">
                <a16:creationId xmlns:a16="http://schemas.microsoft.com/office/drawing/2014/main" id="{00000006-0011-4000-8000-000000000000}"/>
              </a:ext>
            </a:extLst>
          </p:cNvPr>
          <p:cNvSpPr>
            <a:spLocks noGrp="1"/>
          </p:cNvSpPr>
          <p:nvPr/>
        </p:nvSpPr>
        <p:spPr>
          <a:xfrm>
            <a:off x="6191250" y="1752600"/>
            <a:ext cx="419100" cy="285750"/>
          </a:xfrm>
          <a:prstGeom prst="rect">
            <a:avLst/>
          </a:prstGeom>
          <a:noFill/>
          <a:ln w="0">
            <a:noFill/>
            <a:prstDash val="solid"/>
          </a:ln>
        </p:spPr>
        <p:txBody>
          <a:bodyPr wrap="square" lIns="0" tIns="0" rIns="0" bIns="0" anchor="ctr">
            <a:normAutofit/>
          </a:bodyPr>
          <a:lstStyle/>
          <a:p>
            <a:pPr algn="l">
              <a:lnSpc>
                <a:spcPct val="100000"/>
              </a:lnSpc>
              <a:buNone/>
              <a:defRPr sz="1350" b="1">
                <a:solidFill>
                  <a:srgbClr val="EF6A5B"/>
                </a:solidFill>
                <a:latin typeface="Aptos Display"/>
                <a:ea typeface="Aptos Display"/>
                <a:cs typeface="Aptos Display"/>
              </a:defRPr>
            </a:pPr>
            <a:r>
              <a:rPr sz="1350" b="1">
                <a:solidFill>
                  <a:srgbClr val="EF6A5B"/>
                </a:solidFill>
                <a:latin typeface="Aptos Display"/>
                <a:ea typeface="Aptos Display"/>
                <a:cs typeface="Aptos Display"/>
              </a:rPr>
              <a:t>03</a:t>
            </a:r>
          </a:p>
        </p:txBody>
      </p:sp>
      <p:sp>
        <p:nvSpPr>
          <p:cNvPr id="18" name="Rectangle 17">
            <a:extLst>
              <a:ext uri="{FF2B5EF4-FFF2-40B4-BE49-F238E27FC236}">
                <a16:creationId xmlns:a16="http://schemas.microsoft.com/office/drawing/2014/main" id="{00000006-0012-4000-8000-000000000000}"/>
              </a:ext>
            </a:extLst>
          </p:cNvPr>
          <p:cNvSpPr>
            <a:spLocks noGrp="1"/>
          </p:cNvSpPr>
          <p:nvPr/>
        </p:nvSpPr>
        <p:spPr>
          <a:xfrm>
            <a:off x="6191250" y="2209800"/>
            <a:ext cx="2381250" cy="952500"/>
          </a:xfrm>
          <a:prstGeom prst="rect">
            <a:avLst/>
          </a:prstGeom>
          <a:noFill/>
          <a:ln w="0">
            <a:noFill/>
            <a:prstDash val="solid"/>
          </a:ln>
        </p:spPr>
        <p:txBody>
          <a:bodyPr wrap="square" lIns="0" tIns="0" rIns="0" bIns="0" anchor="ctr">
            <a:normAutofit/>
          </a:bodyPr>
          <a:lstStyle/>
          <a:p>
            <a:pPr algn="l">
              <a:lnSpc>
                <a:spcPct val="100000"/>
              </a:lnSpc>
              <a:buNone/>
              <a:defRPr sz="2250" b="1">
                <a:solidFill>
                  <a:srgbClr val="17343A"/>
                </a:solidFill>
                <a:latin typeface="Aptos Mono"/>
                <a:ea typeface="Aptos Mono"/>
                <a:cs typeface="Aptos Mono"/>
              </a:defRPr>
            </a:pPr>
            <a:r>
              <a:rPr sz="2250" b="1">
                <a:solidFill>
                  <a:srgbClr val="17343A"/>
                </a:solidFill>
                <a:latin typeface="Aptos Mono"/>
                <a:ea typeface="Aptos Mono"/>
                <a:cs typeface="Aptos Mono"/>
              </a:rPr>
              <a:t>value_counts()</a:t>
            </a:r>
          </a:p>
        </p:txBody>
      </p:sp>
      <p:sp>
        <p:nvSpPr>
          <p:cNvPr id="19" name="Rectangle 18">
            <a:extLst>
              <a:ext uri="{FF2B5EF4-FFF2-40B4-BE49-F238E27FC236}">
                <a16:creationId xmlns:a16="http://schemas.microsoft.com/office/drawing/2014/main" id="{00000006-0013-4000-8000-000000000000}"/>
              </a:ext>
            </a:extLst>
          </p:cNvPr>
          <p:cNvSpPr>
            <a:spLocks noGrp="1"/>
          </p:cNvSpPr>
          <p:nvPr/>
        </p:nvSpPr>
        <p:spPr>
          <a:xfrm>
            <a:off x="6191250" y="3429000"/>
            <a:ext cx="2381250" cy="685800"/>
          </a:xfrm>
          <a:prstGeom prst="rect">
            <a:avLst/>
          </a:prstGeom>
          <a:noFill/>
          <a:ln w="0">
            <a:noFill/>
            <a:prstDash val="solid"/>
          </a:ln>
        </p:spPr>
        <p:txBody>
          <a:bodyPr wrap="square" lIns="0" tIns="0" rIns="0" bIns="0" anchor="ctr">
            <a:normAutofit/>
          </a:bodyPr>
          <a:lstStyle/>
          <a:p>
            <a:pPr algn="l">
              <a:lnSpc>
                <a:spcPct val="100000"/>
              </a:lnSpc>
              <a:buNone/>
              <a:defRPr sz="1950" b="1">
                <a:solidFill>
                  <a:srgbClr val="007C7A"/>
                </a:solidFill>
                <a:latin typeface="Aptos Display"/>
                <a:ea typeface="Aptos Display"/>
                <a:cs typeface="Aptos Display"/>
              </a:defRPr>
            </a:pPr>
            <a:r>
              <a:rPr sz="1950" b="1">
                <a:solidFill>
                  <a:srgbClr val="007C7A"/>
                </a:solidFill>
                <a:latin typeface="Aptos Display"/>
                <a:ea typeface="Aptos Display"/>
                <a:cs typeface="Aptos Display"/>
              </a:rPr>
              <a:t>category frequencies</a:t>
            </a:r>
          </a:p>
        </p:txBody>
      </p:sp>
      <p:sp>
        <p:nvSpPr>
          <p:cNvPr id="20" name="Rectangle 19">
            <a:extLst>
              <a:ext uri="{FF2B5EF4-FFF2-40B4-BE49-F238E27FC236}">
                <a16:creationId xmlns:a16="http://schemas.microsoft.com/office/drawing/2014/main" id="{00000006-0014-4000-8000-000000000000}"/>
              </a:ext>
            </a:extLst>
          </p:cNvPr>
          <p:cNvSpPr>
            <a:spLocks noGrp="1"/>
          </p:cNvSpPr>
          <p:nvPr/>
        </p:nvSpPr>
        <p:spPr>
          <a:xfrm>
            <a:off x="6191250" y="4362450"/>
            <a:ext cx="2381250" cy="857250"/>
          </a:xfrm>
          <a:prstGeom prst="rect">
            <a:avLst/>
          </a:prstGeom>
          <a:noFill/>
          <a:ln w="0">
            <a:noFill/>
            <a:prstDash val="solid"/>
          </a:ln>
        </p:spPr>
        <p:txBody>
          <a:bodyPr wrap="square" lIns="0" tIns="0" rIns="0" bIns="0" anchor="ctr">
            <a:normAutofit/>
          </a:bodyPr>
          <a:lstStyle/>
          <a:p>
            <a:pPr algn="l">
              <a:lnSpc>
                <a:spcPct val="100000"/>
              </a:lnSpc>
              <a:buNone/>
              <a:defRPr sz="1800" b="0">
                <a:solidFill>
                  <a:srgbClr val="5E6F72"/>
                </a:solidFill>
                <a:latin typeface="Aptos"/>
                <a:ea typeface="Aptos"/>
                <a:cs typeface="Aptos"/>
              </a:defRPr>
            </a:pPr>
            <a:r>
              <a:rPr sz="1800" b="0">
                <a:solidFill>
                  <a:srgbClr val="5E6F72"/>
                </a:solidFill>
                <a:latin typeface="Aptos"/>
                <a:ea typeface="Aptos"/>
                <a:cs typeface="Aptos"/>
              </a:rPr>
              <a:t>Which labels look inconsistent?</a:t>
            </a:r>
          </a:p>
        </p:txBody>
      </p:sp>
      <p:sp>
        <p:nvSpPr>
          <p:cNvPr id="21" name="Rectangle 20">
            <a:extLst>
              <a:ext uri="{FF2B5EF4-FFF2-40B4-BE49-F238E27FC236}">
                <a16:creationId xmlns:a16="http://schemas.microsoft.com/office/drawing/2014/main" id="{00000006-0015-4000-8000-000000000000}"/>
              </a:ext>
            </a:extLst>
          </p:cNvPr>
          <p:cNvSpPr>
            <a:spLocks noGrp="1"/>
          </p:cNvSpPr>
          <p:nvPr/>
        </p:nvSpPr>
        <p:spPr>
          <a:xfrm>
            <a:off x="8743950" y="1962150"/>
            <a:ext cx="19050" cy="3314700"/>
          </a:xfrm>
          <a:prstGeom prst="rect">
            <a:avLst/>
          </a:prstGeom>
          <a:solidFill>
            <a:srgbClr val="DCEAE4"/>
          </a:solidFill>
          <a:ln w="0">
            <a:solidFill>
              <a:srgbClr val="DCEAE4"/>
            </a:solidFill>
            <a:prstDash val="solid"/>
          </a:ln>
        </p:spPr>
        <p:txBody>
          <a:bodyPr/>
          <a:lstStyle/>
          <a:p>
            <a:endParaRPr lang="en-US"/>
          </a:p>
        </p:txBody>
      </p:sp>
      <p:sp>
        <p:nvSpPr>
          <p:cNvPr id="22" name="Rectangle 21">
            <a:extLst>
              <a:ext uri="{FF2B5EF4-FFF2-40B4-BE49-F238E27FC236}">
                <a16:creationId xmlns:a16="http://schemas.microsoft.com/office/drawing/2014/main" id="{00000006-0016-4000-8000-000000000000}"/>
              </a:ext>
            </a:extLst>
          </p:cNvPr>
          <p:cNvSpPr>
            <a:spLocks noGrp="1"/>
          </p:cNvSpPr>
          <p:nvPr/>
        </p:nvSpPr>
        <p:spPr>
          <a:xfrm>
            <a:off x="8915400" y="1752600"/>
            <a:ext cx="419100" cy="285750"/>
          </a:xfrm>
          <a:prstGeom prst="rect">
            <a:avLst/>
          </a:prstGeom>
          <a:noFill/>
          <a:ln w="0">
            <a:noFill/>
            <a:prstDash val="solid"/>
          </a:ln>
        </p:spPr>
        <p:txBody>
          <a:bodyPr wrap="square" lIns="0" tIns="0" rIns="0" bIns="0" anchor="ctr">
            <a:normAutofit/>
          </a:bodyPr>
          <a:lstStyle/>
          <a:p>
            <a:pPr algn="l">
              <a:lnSpc>
                <a:spcPct val="100000"/>
              </a:lnSpc>
              <a:buNone/>
              <a:defRPr sz="1350" b="1">
                <a:solidFill>
                  <a:srgbClr val="EF6A5B"/>
                </a:solidFill>
                <a:latin typeface="Aptos Display"/>
                <a:ea typeface="Aptos Display"/>
                <a:cs typeface="Aptos Display"/>
              </a:defRPr>
            </a:pPr>
            <a:r>
              <a:rPr sz="1350" b="1">
                <a:solidFill>
                  <a:srgbClr val="EF6A5B"/>
                </a:solidFill>
                <a:latin typeface="Aptos Display"/>
                <a:ea typeface="Aptos Display"/>
                <a:cs typeface="Aptos Display"/>
              </a:rPr>
              <a:t>04</a:t>
            </a:r>
          </a:p>
        </p:txBody>
      </p:sp>
      <p:sp>
        <p:nvSpPr>
          <p:cNvPr id="23" name="Rectangle 22">
            <a:extLst>
              <a:ext uri="{FF2B5EF4-FFF2-40B4-BE49-F238E27FC236}">
                <a16:creationId xmlns:a16="http://schemas.microsoft.com/office/drawing/2014/main" id="{00000006-0017-4000-8000-000000000000}"/>
              </a:ext>
            </a:extLst>
          </p:cNvPr>
          <p:cNvSpPr>
            <a:spLocks noGrp="1"/>
          </p:cNvSpPr>
          <p:nvPr/>
        </p:nvSpPr>
        <p:spPr>
          <a:xfrm>
            <a:off x="8915400" y="2209800"/>
            <a:ext cx="2381250" cy="952500"/>
          </a:xfrm>
          <a:prstGeom prst="rect">
            <a:avLst/>
          </a:prstGeom>
          <a:noFill/>
          <a:ln w="0">
            <a:noFill/>
            <a:prstDash val="solid"/>
          </a:ln>
        </p:spPr>
        <p:txBody>
          <a:bodyPr wrap="square" lIns="0" tIns="0" rIns="0" bIns="0" anchor="ctr">
            <a:normAutofit fontScale="92593" lnSpcReduction="10000"/>
          </a:bodyPr>
          <a:lstStyle/>
          <a:p>
            <a:pPr algn="l">
              <a:lnSpc>
                <a:spcPct val="100000"/>
              </a:lnSpc>
              <a:buNone/>
              <a:defRPr sz="2250" b="1">
                <a:solidFill>
                  <a:srgbClr val="17343A"/>
                </a:solidFill>
                <a:latin typeface="Aptos Mono"/>
                <a:ea typeface="Aptos Mono"/>
                <a:cs typeface="Aptos Mono"/>
              </a:defRPr>
            </a:pPr>
            <a:r>
              <a:rPr sz="2250" b="1">
                <a:solidFill>
                  <a:srgbClr val="17343A"/>
                </a:solidFill>
                <a:latin typeface="Aptos Mono"/>
                <a:ea typeface="Aptos Mono"/>
                <a:cs typeface="Aptos Mono"/>
              </a:rPr>
              <a:t>to_numeric(</a:t>
            </a:r>
          </a:p>
          <a:p>
            <a:pPr algn="l">
              <a:lnSpc>
                <a:spcPct val="100000"/>
              </a:lnSpc>
              <a:buNone/>
              <a:defRPr sz="2250" b="1">
                <a:solidFill>
                  <a:srgbClr val="17343A"/>
                </a:solidFill>
                <a:latin typeface="Aptos Mono"/>
                <a:ea typeface="Aptos Mono"/>
                <a:cs typeface="Aptos Mono"/>
              </a:defRPr>
            </a:pPr>
            <a:r>
              <a:rPr sz="2250" b="1">
                <a:solidFill>
                  <a:srgbClr val="17343A"/>
                </a:solidFill>
                <a:latin typeface="Aptos Mono"/>
                <a:ea typeface="Aptos Mono"/>
                <a:cs typeface="Aptos Mono"/>
              </a:rPr>
              <a:t>errors="coerce")</a:t>
            </a:r>
          </a:p>
        </p:txBody>
      </p:sp>
      <p:sp>
        <p:nvSpPr>
          <p:cNvPr id="24" name="Rectangle 23">
            <a:extLst>
              <a:ext uri="{FF2B5EF4-FFF2-40B4-BE49-F238E27FC236}">
                <a16:creationId xmlns:a16="http://schemas.microsoft.com/office/drawing/2014/main" id="{00000006-0018-4000-8000-000000000000}"/>
              </a:ext>
            </a:extLst>
          </p:cNvPr>
          <p:cNvSpPr>
            <a:spLocks noGrp="1"/>
          </p:cNvSpPr>
          <p:nvPr/>
        </p:nvSpPr>
        <p:spPr>
          <a:xfrm>
            <a:off x="8915400" y="3429000"/>
            <a:ext cx="2381250" cy="685800"/>
          </a:xfrm>
          <a:prstGeom prst="rect">
            <a:avLst/>
          </a:prstGeom>
          <a:noFill/>
          <a:ln w="0">
            <a:noFill/>
            <a:prstDash val="solid"/>
          </a:ln>
        </p:spPr>
        <p:txBody>
          <a:bodyPr wrap="square" lIns="0" tIns="0" rIns="0" bIns="0" anchor="ctr">
            <a:normAutofit/>
          </a:bodyPr>
          <a:lstStyle/>
          <a:p>
            <a:pPr algn="l">
              <a:lnSpc>
                <a:spcPct val="100000"/>
              </a:lnSpc>
              <a:buNone/>
              <a:defRPr sz="1950" b="1">
                <a:solidFill>
                  <a:srgbClr val="007C7A"/>
                </a:solidFill>
                <a:latin typeface="Aptos Display"/>
                <a:ea typeface="Aptos Display"/>
                <a:cs typeface="Aptos Display"/>
              </a:defRPr>
            </a:pPr>
            <a:r>
              <a:rPr sz="1950" b="1">
                <a:solidFill>
                  <a:srgbClr val="007C7A"/>
                </a:solidFill>
                <a:latin typeface="Aptos Display"/>
                <a:ea typeface="Aptos Display"/>
                <a:cs typeface="Aptos Display"/>
              </a:rPr>
              <a:t>conversion failures</a:t>
            </a:r>
          </a:p>
        </p:txBody>
      </p:sp>
      <p:sp>
        <p:nvSpPr>
          <p:cNvPr id="25" name="Rectangle 24">
            <a:extLst>
              <a:ext uri="{FF2B5EF4-FFF2-40B4-BE49-F238E27FC236}">
                <a16:creationId xmlns:a16="http://schemas.microsoft.com/office/drawing/2014/main" id="{00000006-0019-4000-8000-000000000000}"/>
              </a:ext>
            </a:extLst>
          </p:cNvPr>
          <p:cNvSpPr>
            <a:spLocks noGrp="1"/>
          </p:cNvSpPr>
          <p:nvPr/>
        </p:nvSpPr>
        <p:spPr>
          <a:xfrm>
            <a:off x="8915400" y="4362450"/>
            <a:ext cx="2381250" cy="857250"/>
          </a:xfrm>
          <a:prstGeom prst="rect">
            <a:avLst/>
          </a:prstGeom>
          <a:noFill/>
          <a:ln w="0">
            <a:noFill/>
            <a:prstDash val="solid"/>
          </a:ln>
        </p:spPr>
        <p:txBody>
          <a:bodyPr wrap="square" lIns="0" tIns="0" rIns="0" bIns="0" anchor="ctr">
            <a:normAutofit/>
          </a:bodyPr>
          <a:lstStyle/>
          <a:p>
            <a:pPr algn="l">
              <a:lnSpc>
                <a:spcPct val="100000"/>
              </a:lnSpc>
              <a:buNone/>
              <a:defRPr sz="1800" b="0">
                <a:solidFill>
                  <a:srgbClr val="5E6F72"/>
                </a:solidFill>
                <a:latin typeface="Aptos"/>
                <a:ea typeface="Aptos"/>
                <a:cs typeface="Aptos"/>
              </a:defRPr>
            </a:pPr>
            <a:r>
              <a:rPr sz="1800" b="0">
                <a:solidFill>
                  <a:srgbClr val="5E6F72"/>
                </a:solidFill>
                <a:latin typeface="Aptos"/>
                <a:ea typeface="Aptos"/>
                <a:cs typeface="Aptos"/>
              </a:rPr>
              <a:t>Which values become null?</a:t>
            </a:r>
          </a:p>
        </p:txBody>
      </p:sp>
      <p:sp>
        <p:nvSpPr>
          <p:cNvPr id="26" name="Rectangle 25">
            <a:extLst>
              <a:ext uri="{FF2B5EF4-FFF2-40B4-BE49-F238E27FC236}">
                <a16:creationId xmlns:a16="http://schemas.microsoft.com/office/drawing/2014/main" id="{00000006-001A-4000-8000-000000000000}"/>
              </a:ext>
            </a:extLst>
          </p:cNvPr>
          <p:cNvSpPr>
            <a:spLocks noGrp="1"/>
          </p:cNvSpPr>
          <p:nvPr/>
        </p:nvSpPr>
        <p:spPr>
          <a:xfrm>
            <a:off x="742950" y="5524500"/>
            <a:ext cx="10668000" cy="28575"/>
          </a:xfrm>
          <a:prstGeom prst="rect">
            <a:avLst/>
          </a:prstGeom>
          <a:solidFill>
            <a:srgbClr val="007C7A"/>
          </a:solidFill>
          <a:ln w="0">
            <a:solidFill>
              <a:srgbClr val="007C7A"/>
            </a:solidFill>
            <a:prstDash val="solid"/>
          </a:ln>
        </p:spPr>
        <p:txBody>
          <a:bodyPr/>
          <a:lstStyle/>
          <a:p>
            <a:endParaRPr lang="en-US"/>
          </a:p>
        </p:txBody>
      </p:sp>
      <p:sp>
        <p:nvSpPr>
          <p:cNvPr id="27" name="Rectangle 26">
            <a:extLst>
              <a:ext uri="{FF2B5EF4-FFF2-40B4-BE49-F238E27FC236}">
                <a16:creationId xmlns:a16="http://schemas.microsoft.com/office/drawing/2014/main" id="{00000006-001B-4000-8000-000000000000}"/>
              </a:ext>
            </a:extLst>
          </p:cNvPr>
          <p:cNvSpPr>
            <a:spLocks noGrp="1"/>
          </p:cNvSpPr>
          <p:nvPr/>
        </p:nvSpPr>
        <p:spPr>
          <a:xfrm>
            <a:off x="742950" y="5657850"/>
            <a:ext cx="10668000" cy="457200"/>
          </a:xfrm>
          <a:prstGeom prst="rect">
            <a:avLst/>
          </a:prstGeom>
          <a:noFill/>
          <a:ln w="0">
            <a:noFill/>
            <a:prstDash val="solid"/>
          </a:ln>
        </p:spPr>
        <p:txBody>
          <a:bodyPr wrap="square" lIns="0" tIns="0" rIns="0" bIns="0" anchor="ctr">
            <a:normAutofit fontScale="97152"/>
          </a:bodyPr>
          <a:lstStyle/>
          <a:p>
            <a:pPr algn="ctr">
              <a:lnSpc>
                <a:spcPct val="100000"/>
              </a:lnSpc>
              <a:buNone/>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Live check: report the resulting dtypes—and every value coerced to null.</a:t>
            </a:r>
          </a:p>
        </p:txBody>
      </p:sp>
    </p:spTree>
    <p:extLst>
      <p:ext uri="{BB962C8B-B14F-4D97-AF65-F5344CB8AC3E}">
        <p14:creationId xmlns:p14="http://schemas.microsoft.com/office/powerpoint/2010/main" val="600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0000007-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07-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a:solidFill>
                  <a:srgbClr val="007C7A"/>
                </a:solidFill>
                <a:latin typeface="Aptos Display"/>
                <a:ea typeface="Aptos Display"/>
                <a:cs typeface="Aptos Display"/>
              </a:rPr>
              <a:t>POLICY</a:t>
            </a:r>
          </a:p>
        </p:txBody>
      </p:sp>
      <p:sp>
        <p:nvSpPr>
          <p:cNvPr id="3" name="Rectangle 2">
            <a:extLst>
              <a:ext uri="{FF2B5EF4-FFF2-40B4-BE49-F238E27FC236}">
                <a16:creationId xmlns:a16="http://schemas.microsoft.com/office/drawing/2014/main" id="{00000007-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Cleaning needs a documented policy</a:t>
            </a:r>
          </a:p>
        </p:txBody>
      </p:sp>
      <p:sp>
        <p:nvSpPr>
          <p:cNvPr id="4" name="Rectangle 3">
            <a:extLst>
              <a:ext uri="{FF2B5EF4-FFF2-40B4-BE49-F238E27FC236}">
                <a16:creationId xmlns:a16="http://schemas.microsoft.com/office/drawing/2014/main" id="{00000007-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fontScale="95003"/>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50–58 min</a:t>
            </a:r>
          </a:p>
        </p:txBody>
      </p:sp>
      <p:sp>
        <p:nvSpPr>
          <p:cNvPr id="5" name="Rectangle 4">
            <a:extLst>
              <a:ext uri="{FF2B5EF4-FFF2-40B4-BE49-F238E27FC236}">
                <a16:creationId xmlns:a16="http://schemas.microsoft.com/office/drawing/2014/main" id="{00000007-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07-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07</a:t>
            </a:r>
          </a:p>
        </p:txBody>
      </p:sp>
      <p:sp>
        <p:nvSpPr>
          <p:cNvPr id="7" name="Rectangle 6">
            <a:extLst>
              <a:ext uri="{FF2B5EF4-FFF2-40B4-BE49-F238E27FC236}">
                <a16:creationId xmlns:a16="http://schemas.microsoft.com/office/drawing/2014/main" id="{00000007-0007-4000-8000-000000000000}"/>
              </a:ext>
            </a:extLst>
          </p:cNvPr>
          <p:cNvSpPr>
            <a:spLocks noGrp="1"/>
          </p:cNvSpPr>
          <p:nvPr/>
        </p:nvSpPr>
        <p:spPr>
          <a:xfrm>
            <a:off x="742950" y="1562100"/>
            <a:ext cx="9525000" cy="457200"/>
          </a:xfrm>
          <a:prstGeom prst="rect">
            <a:avLst/>
          </a:prstGeom>
          <a:noFill/>
          <a:ln w="0">
            <a:noFill/>
            <a:prstDash val="solid"/>
          </a:ln>
        </p:spPr>
        <p:txBody>
          <a:bodyPr wrap="square" lIns="0" tIns="0" rIns="0" bIns="0" anchor="ctr">
            <a:normAutofit/>
          </a:bodyPr>
          <a:lstStyle/>
          <a:p>
            <a:pPr algn="l">
              <a:lnSpc>
                <a:spcPct val="100000"/>
              </a:lnSpc>
              <a:buNone/>
              <a:defRPr sz="2250" b="0">
                <a:solidFill>
                  <a:srgbClr val="5E6F72"/>
                </a:solidFill>
                <a:latin typeface="Aptos"/>
                <a:ea typeface="Aptos"/>
                <a:cs typeface="Aptos"/>
              </a:defRPr>
            </a:pPr>
            <a:r>
              <a:rPr sz="2250" b="0">
                <a:solidFill>
                  <a:srgbClr val="5E6F72"/>
                </a:solidFill>
                <a:latin typeface="Aptos"/>
                <a:ea typeface="Aptos"/>
                <a:cs typeface="Aptos"/>
              </a:rPr>
              <a:t>A correction is defensible only when the rule is explicit.</a:t>
            </a:r>
          </a:p>
        </p:txBody>
      </p:sp>
      <p:sp>
        <p:nvSpPr>
          <p:cNvPr id="8" name="Rectangle 7">
            <a:extLst>
              <a:ext uri="{FF2B5EF4-FFF2-40B4-BE49-F238E27FC236}">
                <a16:creationId xmlns:a16="http://schemas.microsoft.com/office/drawing/2014/main" id="{00000007-0008-4000-8000-000000000000}"/>
              </a:ext>
            </a:extLst>
          </p:cNvPr>
          <p:cNvSpPr>
            <a:spLocks noGrp="1"/>
          </p:cNvSpPr>
          <p:nvPr/>
        </p:nvSpPr>
        <p:spPr>
          <a:xfrm>
            <a:off x="742950" y="2381250"/>
            <a:ext cx="2095500" cy="419100"/>
          </a:xfrm>
          <a:prstGeom prst="rect">
            <a:avLst/>
          </a:prstGeom>
          <a:noFill/>
          <a:ln w="0">
            <a:noFill/>
            <a:prstDash val="solid"/>
          </a:ln>
        </p:spPr>
        <p:txBody>
          <a:bodyPr wrap="square" lIns="0" tIns="0" rIns="0" bIns="0" anchor="ctr">
            <a:normAutofit/>
          </a:bodyPr>
          <a:lstStyle/>
          <a:p>
            <a:pPr algn="l">
              <a:lnSpc>
                <a:spcPct val="100000"/>
              </a:lnSpc>
              <a:buNone/>
              <a:defRPr sz="1800" b="1">
                <a:solidFill>
                  <a:srgbClr val="007C7A"/>
                </a:solidFill>
                <a:latin typeface="Aptos Display"/>
                <a:ea typeface="Aptos Display"/>
                <a:cs typeface="Aptos Display"/>
              </a:defRPr>
            </a:pPr>
            <a:r>
              <a:rPr sz="1800" b="1">
                <a:solidFill>
                  <a:srgbClr val="007C7A"/>
                </a:solidFill>
                <a:latin typeface="Aptos Display"/>
                <a:ea typeface="Aptos Display"/>
                <a:cs typeface="Aptos Display"/>
              </a:rPr>
              <a:t>NORMALIZE</a:t>
            </a:r>
          </a:p>
        </p:txBody>
      </p:sp>
      <p:sp>
        <p:nvSpPr>
          <p:cNvPr id="9" name="Rectangle 8">
            <a:extLst>
              <a:ext uri="{FF2B5EF4-FFF2-40B4-BE49-F238E27FC236}">
                <a16:creationId xmlns:a16="http://schemas.microsoft.com/office/drawing/2014/main" id="{00000007-0009-4000-8000-000000000000}"/>
              </a:ext>
            </a:extLst>
          </p:cNvPr>
          <p:cNvSpPr>
            <a:spLocks noGrp="1"/>
          </p:cNvSpPr>
          <p:nvPr/>
        </p:nvSpPr>
        <p:spPr>
          <a:xfrm>
            <a:off x="3048000" y="2381250"/>
            <a:ext cx="3143250" cy="419100"/>
          </a:xfrm>
          <a:prstGeom prst="rect">
            <a:avLst/>
          </a:prstGeom>
          <a:noFill/>
          <a:ln w="0">
            <a:noFill/>
            <a:prstDash val="solid"/>
          </a:ln>
        </p:spPr>
        <p:txBody>
          <a:bodyPr wrap="square" lIns="0" tIns="0" rIns="0" bIns="0" anchor="ctr">
            <a:normAutofit/>
          </a:bodyPr>
          <a:lstStyle/>
          <a:p>
            <a:pPr algn="l">
              <a:lnSpc>
                <a:spcPct val="100000"/>
              </a:lnSpc>
              <a:buNone/>
              <a:defRPr sz="2550" b="1">
                <a:solidFill>
                  <a:srgbClr val="17343A"/>
                </a:solidFill>
                <a:latin typeface="Aptos Display"/>
                <a:ea typeface="Aptos Display"/>
                <a:cs typeface="Aptos Display"/>
              </a:defRPr>
            </a:pPr>
            <a:r>
              <a:rPr sz="2550" b="1">
                <a:solidFill>
                  <a:srgbClr val="17343A"/>
                </a:solidFill>
                <a:latin typeface="Aptos Display"/>
                <a:ea typeface="Aptos Display"/>
                <a:cs typeface="Aptos Display"/>
              </a:rPr>
              <a:t>known formats</a:t>
            </a:r>
          </a:p>
        </p:txBody>
      </p:sp>
      <p:sp>
        <p:nvSpPr>
          <p:cNvPr id="10" name="Rectangle 9">
            <a:extLst>
              <a:ext uri="{FF2B5EF4-FFF2-40B4-BE49-F238E27FC236}">
                <a16:creationId xmlns:a16="http://schemas.microsoft.com/office/drawing/2014/main" id="{00000007-000A-4000-8000-000000000000}"/>
              </a:ext>
            </a:extLst>
          </p:cNvPr>
          <p:cNvSpPr>
            <a:spLocks noGrp="1"/>
          </p:cNvSpPr>
          <p:nvPr/>
        </p:nvSpPr>
        <p:spPr>
          <a:xfrm>
            <a:off x="6762750" y="2381250"/>
            <a:ext cx="4476750" cy="533400"/>
          </a:xfrm>
          <a:prstGeom prst="rect">
            <a:avLst/>
          </a:prstGeom>
          <a:noFill/>
          <a:ln w="0">
            <a:noFill/>
            <a:prstDash val="solid"/>
          </a:ln>
        </p:spPr>
        <p:txBody>
          <a:bodyPr wrap="square" lIns="0" tIns="0" rIns="0" bIns="0" anchor="ctr">
            <a:normAutofit fontScale="98110"/>
          </a:bodyPr>
          <a:lstStyle/>
          <a:p>
            <a:pPr algn="l">
              <a:lnSpc>
                <a:spcPct val="100000"/>
              </a:lnSpc>
              <a:buNone/>
              <a:defRPr sz="1800" b="0">
                <a:solidFill>
                  <a:srgbClr val="5E6F72"/>
                </a:solidFill>
                <a:latin typeface="Aptos"/>
                <a:ea typeface="Aptos"/>
                <a:cs typeface="Aptos"/>
              </a:defRPr>
            </a:pPr>
            <a:r>
              <a:rPr sz="1800" b="0">
                <a:solidFill>
                  <a:srgbClr val="5E6F72"/>
                </a:solidFill>
                <a:latin typeface="Aptos"/>
                <a:ea typeface="Aptos"/>
                <a:cs typeface="Aptos"/>
              </a:rPr>
              <a:t>same meaning, different representation</a:t>
            </a:r>
          </a:p>
        </p:txBody>
      </p:sp>
      <p:sp>
        <p:nvSpPr>
          <p:cNvPr id="11" name="Rectangle 10">
            <a:extLst>
              <a:ext uri="{FF2B5EF4-FFF2-40B4-BE49-F238E27FC236}">
                <a16:creationId xmlns:a16="http://schemas.microsoft.com/office/drawing/2014/main" id="{00000007-000B-4000-8000-000000000000}"/>
              </a:ext>
            </a:extLst>
          </p:cNvPr>
          <p:cNvSpPr>
            <a:spLocks noGrp="1"/>
          </p:cNvSpPr>
          <p:nvPr/>
        </p:nvSpPr>
        <p:spPr>
          <a:xfrm>
            <a:off x="742950" y="3067050"/>
            <a:ext cx="10668000" cy="19050"/>
          </a:xfrm>
          <a:prstGeom prst="rect">
            <a:avLst/>
          </a:prstGeom>
          <a:solidFill>
            <a:srgbClr val="DCEAE4"/>
          </a:solidFill>
          <a:ln w="0">
            <a:solidFill>
              <a:srgbClr val="DCEAE4"/>
            </a:solidFill>
            <a:prstDash val="solid"/>
          </a:ln>
        </p:spPr>
        <p:txBody>
          <a:bodyPr/>
          <a:lstStyle/>
          <a:p>
            <a:endParaRPr lang="en-US"/>
          </a:p>
        </p:txBody>
      </p:sp>
      <p:sp>
        <p:nvSpPr>
          <p:cNvPr id="12" name="Rectangle 11">
            <a:extLst>
              <a:ext uri="{FF2B5EF4-FFF2-40B4-BE49-F238E27FC236}">
                <a16:creationId xmlns:a16="http://schemas.microsoft.com/office/drawing/2014/main" id="{00000007-000C-4000-8000-000000000000}"/>
              </a:ext>
            </a:extLst>
          </p:cNvPr>
          <p:cNvSpPr>
            <a:spLocks noGrp="1"/>
          </p:cNvSpPr>
          <p:nvPr/>
        </p:nvSpPr>
        <p:spPr>
          <a:xfrm>
            <a:off x="742950" y="3505200"/>
            <a:ext cx="2095500" cy="419100"/>
          </a:xfrm>
          <a:prstGeom prst="rect">
            <a:avLst/>
          </a:prstGeom>
          <a:noFill/>
          <a:ln w="0">
            <a:noFill/>
            <a:prstDash val="solid"/>
          </a:ln>
        </p:spPr>
        <p:txBody>
          <a:bodyPr wrap="square" lIns="0" tIns="0" rIns="0" bIns="0" anchor="ctr">
            <a:normAutofit/>
          </a:bodyPr>
          <a:lstStyle/>
          <a:p>
            <a:pPr algn="l">
              <a:lnSpc>
                <a:spcPct val="100000"/>
              </a:lnSpc>
              <a:buNone/>
              <a:defRPr sz="1800" b="1">
                <a:solidFill>
                  <a:srgbClr val="EF6A5B"/>
                </a:solidFill>
                <a:latin typeface="Aptos Display"/>
                <a:ea typeface="Aptos Display"/>
                <a:cs typeface="Aptos Display"/>
              </a:defRPr>
            </a:pPr>
            <a:r>
              <a:rPr sz="1800" b="1">
                <a:solidFill>
                  <a:srgbClr val="EF6A5B"/>
                </a:solidFill>
                <a:latin typeface="Aptos Display"/>
                <a:ea typeface="Aptos Display"/>
                <a:cs typeface="Aptos Display"/>
              </a:rPr>
              <a:t>FLAG</a:t>
            </a:r>
          </a:p>
        </p:txBody>
      </p:sp>
      <p:sp>
        <p:nvSpPr>
          <p:cNvPr id="13" name="Rectangle 12">
            <a:extLst>
              <a:ext uri="{FF2B5EF4-FFF2-40B4-BE49-F238E27FC236}">
                <a16:creationId xmlns:a16="http://schemas.microsoft.com/office/drawing/2014/main" id="{00000007-000D-4000-8000-000000000000}"/>
              </a:ext>
            </a:extLst>
          </p:cNvPr>
          <p:cNvSpPr>
            <a:spLocks noGrp="1"/>
          </p:cNvSpPr>
          <p:nvPr/>
        </p:nvSpPr>
        <p:spPr>
          <a:xfrm>
            <a:off x="3048000" y="3505200"/>
            <a:ext cx="3143250" cy="419100"/>
          </a:xfrm>
          <a:prstGeom prst="rect">
            <a:avLst/>
          </a:prstGeom>
          <a:noFill/>
          <a:ln w="0">
            <a:noFill/>
            <a:prstDash val="solid"/>
          </a:ln>
        </p:spPr>
        <p:txBody>
          <a:bodyPr wrap="square" lIns="0" tIns="0" rIns="0" bIns="0" anchor="ctr">
            <a:normAutofit/>
          </a:bodyPr>
          <a:lstStyle/>
          <a:p>
            <a:pPr algn="l">
              <a:lnSpc>
                <a:spcPct val="100000"/>
              </a:lnSpc>
              <a:buNone/>
              <a:defRPr sz="2550" b="1">
                <a:solidFill>
                  <a:srgbClr val="17343A"/>
                </a:solidFill>
                <a:latin typeface="Aptos Display"/>
                <a:ea typeface="Aptos Display"/>
                <a:cs typeface="Aptos Display"/>
              </a:defRPr>
            </a:pPr>
            <a:r>
              <a:rPr sz="2550" b="1">
                <a:solidFill>
                  <a:srgbClr val="17343A"/>
                </a:solidFill>
                <a:latin typeface="Aptos Display"/>
                <a:ea typeface="Aptos Display"/>
                <a:cs typeface="Aptos Display"/>
              </a:rPr>
              <a:t>dubious ranges</a:t>
            </a:r>
          </a:p>
        </p:txBody>
      </p:sp>
      <p:sp>
        <p:nvSpPr>
          <p:cNvPr id="14" name="Rectangle 13">
            <a:extLst>
              <a:ext uri="{FF2B5EF4-FFF2-40B4-BE49-F238E27FC236}">
                <a16:creationId xmlns:a16="http://schemas.microsoft.com/office/drawing/2014/main" id="{00000007-000E-4000-8000-000000000000}"/>
              </a:ext>
            </a:extLst>
          </p:cNvPr>
          <p:cNvSpPr>
            <a:spLocks noGrp="1"/>
          </p:cNvSpPr>
          <p:nvPr/>
        </p:nvSpPr>
        <p:spPr>
          <a:xfrm>
            <a:off x="6762750" y="3505200"/>
            <a:ext cx="4476750" cy="533400"/>
          </a:xfrm>
          <a:prstGeom prst="rect">
            <a:avLst/>
          </a:prstGeom>
          <a:noFill/>
          <a:ln w="0">
            <a:noFill/>
            <a:prstDash val="solid"/>
          </a:ln>
        </p:spPr>
        <p:txBody>
          <a:bodyPr wrap="square" lIns="0" tIns="0" rIns="0" bIns="0" anchor="ctr">
            <a:normAutofit/>
          </a:bodyPr>
          <a:lstStyle/>
          <a:p>
            <a:pPr algn="l">
              <a:lnSpc>
                <a:spcPct val="100000"/>
              </a:lnSpc>
              <a:buNone/>
              <a:defRPr sz="1800" b="0">
                <a:solidFill>
                  <a:srgbClr val="5E6F72"/>
                </a:solidFill>
                <a:latin typeface="Aptos"/>
                <a:ea typeface="Aptos"/>
                <a:cs typeface="Aptos"/>
              </a:defRPr>
            </a:pPr>
            <a:r>
              <a:rPr sz="1800" b="0">
                <a:solidFill>
                  <a:srgbClr val="5E6F72"/>
                </a:solidFill>
                <a:latin typeface="Aptos"/>
                <a:ea typeface="Aptos"/>
                <a:cs typeface="Aptos"/>
              </a:rPr>
              <a:t>preserve the row; surface uncertainty</a:t>
            </a:r>
          </a:p>
        </p:txBody>
      </p:sp>
      <p:sp>
        <p:nvSpPr>
          <p:cNvPr id="15" name="Rectangle 14">
            <a:extLst>
              <a:ext uri="{FF2B5EF4-FFF2-40B4-BE49-F238E27FC236}">
                <a16:creationId xmlns:a16="http://schemas.microsoft.com/office/drawing/2014/main" id="{00000007-000F-4000-8000-000000000000}"/>
              </a:ext>
            </a:extLst>
          </p:cNvPr>
          <p:cNvSpPr>
            <a:spLocks noGrp="1"/>
          </p:cNvSpPr>
          <p:nvPr/>
        </p:nvSpPr>
        <p:spPr>
          <a:xfrm>
            <a:off x="742950" y="4191000"/>
            <a:ext cx="10668000" cy="19050"/>
          </a:xfrm>
          <a:prstGeom prst="rect">
            <a:avLst/>
          </a:prstGeom>
          <a:solidFill>
            <a:srgbClr val="DCEAE4"/>
          </a:solidFill>
          <a:ln w="0">
            <a:solidFill>
              <a:srgbClr val="DCEAE4"/>
            </a:solidFill>
            <a:prstDash val="solid"/>
          </a:ln>
        </p:spPr>
        <p:txBody>
          <a:bodyPr/>
          <a:lstStyle/>
          <a:p>
            <a:endParaRPr lang="en-US"/>
          </a:p>
        </p:txBody>
      </p:sp>
      <p:sp>
        <p:nvSpPr>
          <p:cNvPr id="16" name="Rectangle 15">
            <a:extLst>
              <a:ext uri="{FF2B5EF4-FFF2-40B4-BE49-F238E27FC236}">
                <a16:creationId xmlns:a16="http://schemas.microsoft.com/office/drawing/2014/main" id="{00000007-0010-4000-8000-000000000000}"/>
              </a:ext>
            </a:extLst>
          </p:cNvPr>
          <p:cNvSpPr>
            <a:spLocks noGrp="1"/>
          </p:cNvSpPr>
          <p:nvPr/>
        </p:nvSpPr>
        <p:spPr>
          <a:xfrm>
            <a:off x="742950" y="4629150"/>
            <a:ext cx="2095500" cy="419100"/>
          </a:xfrm>
          <a:prstGeom prst="rect">
            <a:avLst/>
          </a:prstGeom>
          <a:noFill/>
          <a:ln w="0">
            <a:noFill/>
            <a:prstDash val="solid"/>
          </a:ln>
        </p:spPr>
        <p:txBody>
          <a:bodyPr wrap="square" lIns="0" tIns="0" rIns="0" bIns="0" anchor="ctr">
            <a:normAutofit/>
          </a:bodyPr>
          <a:lstStyle/>
          <a:p>
            <a:pPr algn="l">
              <a:lnSpc>
                <a:spcPct val="100000"/>
              </a:lnSpc>
              <a:buNone/>
              <a:defRPr sz="1800" b="1">
                <a:solidFill>
                  <a:srgbClr val="17343A"/>
                </a:solidFill>
                <a:latin typeface="Aptos Display"/>
                <a:ea typeface="Aptos Display"/>
                <a:cs typeface="Aptos Display"/>
              </a:defRPr>
            </a:pPr>
            <a:r>
              <a:rPr sz="1800" b="1">
                <a:solidFill>
                  <a:srgbClr val="17343A"/>
                </a:solidFill>
                <a:latin typeface="Aptos Display"/>
                <a:ea typeface="Aptos Display"/>
                <a:cs typeface="Aptos Display"/>
              </a:rPr>
              <a:t>RETAIN</a:t>
            </a:r>
          </a:p>
        </p:txBody>
      </p:sp>
      <p:sp>
        <p:nvSpPr>
          <p:cNvPr id="17" name="Rectangle 16">
            <a:extLst>
              <a:ext uri="{FF2B5EF4-FFF2-40B4-BE49-F238E27FC236}">
                <a16:creationId xmlns:a16="http://schemas.microsoft.com/office/drawing/2014/main" id="{00000007-0011-4000-8000-000000000000}"/>
              </a:ext>
            </a:extLst>
          </p:cNvPr>
          <p:cNvSpPr>
            <a:spLocks noGrp="1"/>
          </p:cNvSpPr>
          <p:nvPr/>
        </p:nvSpPr>
        <p:spPr>
          <a:xfrm>
            <a:off x="3048000" y="4629150"/>
            <a:ext cx="3143250" cy="419100"/>
          </a:xfrm>
          <a:prstGeom prst="rect">
            <a:avLst/>
          </a:prstGeom>
          <a:noFill/>
          <a:ln w="0">
            <a:noFill/>
            <a:prstDash val="solid"/>
          </a:ln>
        </p:spPr>
        <p:txBody>
          <a:bodyPr wrap="square" lIns="0" tIns="0" rIns="0" bIns="0" anchor="ctr">
            <a:normAutofit fontScale="92966"/>
          </a:bodyPr>
          <a:lstStyle/>
          <a:p>
            <a:pPr algn="l">
              <a:lnSpc>
                <a:spcPct val="100000"/>
              </a:lnSpc>
              <a:buNone/>
              <a:defRPr sz="2550" b="1">
                <a:solidFill>
                  <a:srgbClr val="17343A"/>
                </a:solidFill>
                <a:latin typeface="Aptos Display"/>
                <a:ea typeface="Aptos Display"/>
                <a:cs typeface="Aptos Display"/>
              </a:defRPr>
            </a:pPr>
            <a:r>
              <a:rPr sz="2550" b="1">
                <a:solidFill>
                  <a:srgbClr val="17343A"/>
                </a:solidFill>
                <a:latin typeface="Aptos Display"/>
                <a:ea typeface="Aptos Display"/>
                <a:cs typeface="Aptos Display"/>
              </a:rPr>
              <a:t>outliers by default</a:t>
            </a:r>
          </a:p>
        </p:txBody>
      </p:sp>
      <p:sp>
        <p:nvSpPr>
          <p:cNvPr id="18" name="Rectangle 17">
            <a:extLst>
              <a:ext uri="{FF2B5EF4-FFF2-40B4-BE49-F238E27FC236}">
                <a16:creationId xmlns:a16="http://schemas.microsoft.com/office/drawing/2014/main" id="{00000007-0012-4000-8000-000000000000}"/>
              </a:ext>
            </a:extLst>
          </p:cNvPr>
          <p:cNvSpPr>
            <a:spLocks noGrp="1"/>
          </p:cNvSpPr>
          <p:nvPr/>
        </p:nvSpPr>
        <p:spPr>
          <a:xfrm>
            <a:off x="6762750" y="4629150"/>
            <a:ext cx="4476750" cy="533400"/>
          </a:xfrm>
          <a:prstGeom prst="rect">
            <a:avLst/>
          </a:prstGeom>
          <a:noFill/>
          <a:ln w="0">
            <a:noFill/>
            <a:prstDash val="solid"/>
          </a:ln>
        </p:spPr>
        <p:txBody>
          <a:bodyPr wrap="square" lIns="0" tIns="0" rIns="0" bIns="0" anchor="ctr">
            <a:normAutofit/>
          </a:bodyPr>
          <a:lstStyle/>
          <a:p>
            <a:pPr algn="l">
              <a:lnSpc>
                <a:spcPct val="100000"/>
              </a:lnSpc>
              <a:buNone/>
              <a:defRPr sz="1800" b="0">
                <a:solidFill>
                  <a:srgbClr val="5E6F72"/>
                </a:solidFill>
                <a:latin typeface="Aptos"/>
                <a:ea typeface="Aptos"/>
                <a:cs typeface="Aptos"/>
              </a:defRPr>
            </a:pPr>
            <a:r>
              <a:rPr sz="1800" b="0">
                <a:solidFill>
                  <a:srgbClr val="5E6F72"/>
                </a:solidFill>
                <a:latin typeface="Aptos"/>
                <a:ea typeface="Aptos"/>
                <a:cs typeface="Aptos"/>
              </a:rPr>
              <a:t>unusual is not automatically wrong</a:t>
            </a:r>
          </a:p>
        </p:txBody>
      </p:sp>
      <p:sp>
        <p:nvSpPr>
          <p:cNvPr id="19" name="Rectangle 18">
            <a:extLst>
              <a:ext uri="{FF2B5EF4-FFF2-40B4-BE49-F238E27FC236}">
                <a16:creationId xmlns:a16="http://schemas.microsoft.com/office/drawing/2014/main" id="{00000007-0013-4000-8000-000000000000}"/>
              </a:ext>
            </a:extLst>
          </p:cNvPr>
          <p:cNvSpPr>
            <a:spLocks noGrp="1"/>
          </p:cNvSpPr>
          <p:nvPr/>
        </p:nvSpPr>
        <p:spPr>
          <a:xfrm>
            <a:off x="742950" y="5314950"/>
            <a:ext cx="10668000" cy="19050"/>
          </a:xfrm>
          <a:prstGeom prst="rect">
            <a:avLst/>
          </a:prstGeom>
          <a:solidFill>
            <a:srgbClr val="DCEAE4"/>
          </a:solidFill>
          <a:ln w="0">
            <a:solidFill>
              <a:srgbClr val="DCEAE4"/>
            </a:solidFill>
            <a:prstDash val="solid"/>
          </a:ln>
        </p:spPr>
        <p:txBody>
          <a:bodyPr/>
          <a:lstStyle/>
          <a:p>
            <a:endParaRPr lang="en-US"/>
          </a:p>
        </p:txBody>
      </p:sp>
      <p:sp>
        <p:nvSpPr>
          <p:cNvPr id="20" name="Rectangle 19">
            <a:extLst>
              <a:ext uri="{FF2B5EF4-FFF2-40B4-BE49-F238E27FC236}">
                <a16:creationId xmlns:a16="http://schemas.microsoft.com/office/drawing/2014/main" id="{00000007-0014-4000-8000-000000000000}"/>
              </a:ext>
            </a:extLst>
          </p:cNvPr>
          <p:cNvSpPr>
            <a:spLocks noGrp="1"/>
          </p:cNvSpPr>
          <p:nvPr/>
        </p:nvSpPr>
        <p:spPr>
          <a:xfrm>
            <a:off x="742950" y="5753100"/>
            <a:ext cx="10668000" cy="400050"/>
          </a:xfrm>
          <a:prstGeom prst="rect">
            <a:avLst/>
          </a:prstGeom>
          <a:noFill/>
          <a:ln w="0">
            <a:noFill/>
            <a:prstDash val="solid"/>
          </a:ln>
        </p:spPr>
        <p:txBody>
          <a:bodyPr wrap="square" lIns="0" tIns="0" rIns="0" bIns="0" anchor="ctr">
            <a:normAutofit/>
          </a:bodyPr>
          <a:lstStyle/>
          <a:p>
            <a:pPr algn="ctr">
              <a:lnSpc>
                <a:spcPct val="100000"/>
              </a:lnSpc>
              <a:buNone/>
              <a:defRPr sz="2100" b="1">
                <a:solidFill>
                  <a:srgbClr val="007C7A"/>
                </a:solidFill>
                <a:latin typeface="Aptos Display"/>
                <a:ea typeface="Aptos Display"/>
                <a:cs typeface="Aptos Display"/>
              </a:defRPr>
            </a:pPr>
            <a:r>
              <a:rPr sz="2100" b="1">
                <a:solidFill>
                  <a:srgbClr val="007C7A"/>
                </a:solidFill>
                <a:latin typeface="Aptos Display"/>
                <a:ea typeface="Aptos Display"/>
                <a:cs typeface="Aptos Display"/>
              </a:rPr>
              <a:t>Document: trigger · action · rationale · uncertainty</a:t>
            </a:r>
          </a:p>
        </p:txBody>
      </p:sp>
    </p:spTree>
    <p:extLst>
      <p:ext uri="{BB962C8B-B14F-4D97-AF65-F5344CB8AC3E}">
        <p14:creationId xmlns:p14="http://schemas.microsoft.com/office/powerpoint/2010/main" val="700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0000008-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08-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a:solidFill>
                  <a:srgbClr val="007C7A"/>
                </a:solidFill>
                <a:latin typeface="Aptos Display"/>
                <a:ea typeface="Aptos Display"/>
                <a:cs typeface="Aptos Display"/>
              </a:rPr>
              <a:t>EDA</a:t>
            </a:r>
          </a:p>
        </p:txBody>
      </p:sp>
      <p:sp>
        <p:nvSpPr>
          <p:cNvPr id="3" name="Rectangle 2">
            <a:extLst>
              <a:ext uri="{FF2B5EF4-FFF2-40B4-BE49-F238E27FC236}">
                <a16:creationId xmlns:a16="http://schemas.microsoft.com/office/drawing/2014/main" id="{00000008-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fontScale="98353"/>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EDA asks questions—not causal conclusions</a:t>
            </a:r>
          </a:p>
        </p:txBody>
      </p:sp>
      <p:sp>
        <p:nvSpPr>
          <p:cNvPr id="4" name="Rectangle 3">
            <a:extLst>
              <a:ext uri="{FF2B5EF4-FFF2-40B4-BE49-F238E27FC236}">
                <a16:creationId xmlns:a16="http://schemas.microsoft.com/office/drawing/2014/main" id="{00000008-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fontScale="95003"/>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58–65 min</a:t>
            </a:r>
          </a:p>
        </p:txBody>
      </p:sp>
      <p:sp>
        <p:nvSpPr>
          <p:cNvPr id="5" name="Rectangle 4">
            <a:extLst>
              <a:ext uri="{FF2B5EF4-FFF2-40B4-BE49-F238E27FC236}">
                <a16:creationId xmlns:a16="http://schemas.microsoft.com/office/drawing/2014/main" id="{00000008-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08-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08</a:t>
            </a:r>
          </a:p>
        </p:txBody>
      </p:sp>
      <p:sp>
        <p:nvSpPr>
          <p:cNvPr id="7" name="Rectangle 6">
            <a:extLst>
              <a:ext uri="{FF2B5EF4-FFF2-40B4-BE49-F238E27FC236}">
                <a16:creationId xmlns:a16="http://schemas.microsoft.com/office/drawing/2014/main" id="{00000008-0007-4000-8000-000000000000}"/>
              </a:ext>
            </a:extLst>
          </p:cNvPr>
          <p:cNvSpPr>
            <a:spLocks noGrp="1"/>
          </p:cNvSpPr>
          <p:nvPr/>
        </p:nvSpPr>
        <p:spPr>
          <a:xfrm>
            <a:off x="742950" y="1752600"/>
            <a:ext cx="2914650" cy="323850"/>
          </a:xfrm>
          <a:prstGeom prst="rect">
            <a:avLst/>
          </a:prstGeom>
          <a:noFill/>
          <a:ln w="0">
            <a:noFill/>
            <a:prstDash val="solid"/>
          </a:ln>
        </p:spPr>
        <p:txBody>
          <a:bodyPr wrap="square" lIns="0" tIns="0" rIns="0" bIns="0" anchor="ctr">
            <a:normAutofit/>
          </a:bodyPr>
          <a:lstStyle/>
          <a:p>
            <a:pPr algn="ctr">
              <a:lnSpc>
                <a:spcPct val="100000"/>
              </a:lnSpc>
              <a:buNone/>
              <a:defRPr sz="1500" b="1">
                <a:solidFill>
                  <a:srgbClr val="007C7A"/>
                </a:solidFill>
                <a:latin typeface="Aptos Display"/>
                <a:ea typeface="Aptos Display"/>
                <a:cs typeface="Aptos Display"/>
              </a:defRPr>
            </a:pPr>
            <a:r>
              <a:rPr sz="1500" b="1">
                <a:solidFill>
                  <a:srgbClr val="007C7A"/>
                </a:solidFill>
                <a:latin typeface="Aptos Display"/>
                <a:ea typeface="Aptos Display"/>
                <a:cs typeface="Aptos Display"/>
              </a:rPr>
              <a:t>HISTOGRAM</a:t>
            </a:r>
          </a:p>
        </p:txBody>
      </p:sp>
      <p:graphicFrame>
        <p:nvGraphicFramePr>
          <p:cNvPr id="25" name="Chart" descr="Chart"/>
          <p:cNvGraphicFramePr/>
          <p:nvPr>
            <p:extLst>
              <p:ext uri="{D42A27DB-BD31-4B8C-83A1-F6EECF244321}">
                <p14:modId xmlns:p14="http://schemas.microsoft.com/office/powerpoint/2010/main" val="1106221052"/>
              </p:ext>
            </p:extLst>
          </p:nvPr>
        </p:nvGraphicFramePr>
        <p:xfrm>
          <a:off x="742950" y="2305050"/>
          <a:ext cx="2914650" cy="209550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00000008-0008-4000-8000-000000000000}"/>
              </a:ext>
            </a:extLst>
          </p:cNvPr>
          <p:cNvSpPr>
            <a:spLocks noGrp="1"/>
          </p:cNvSpPr>
          <p:nvPr/>
        </p:nvSpPr>
        <p:spPr>
          <a:xfrm>
            <a:off x="742950" y="4572000"/>
            <a:ext cx="2914650" cy="361950"/>
          </a:xfrm>
          <a:prstGeom prst="rect">
            <a:avLst/>
          </a:prstGeom>
          <a:noFill/>
          <a:ln w="0">
            <a:noFill/>
            <a:prstDash val="solid"/>
          </a:ln>
        </p:spPr>
        <p:txBody>
          <a:bodyPr wrap="square" lIns="0" tIns="0" rIns="0" bIns="0" anchor="ctr">
            <a:normAutofit/>
          </a:bodyPr>
          <a:lstStyle/>
          <a:p>
            <a:pPr algn="ctr">
              <a:lnSpc>
                <a:spcPct val="100000"/>
              </a:lnSpc>
              <a:buNone/>
              <a:defRPr sz="2250" b="1">
                <a:solidFill>
                  <a:srgbClr val="17343A"/>
                </a:solidFill>
                <a:latin typeface="Aptos Display"/>
                <a:ea typeface="Aptos Display"/>
                <a:cs typeface="Aptos Display"/>
              </a:defRPr>
            </a:pPr>
            <a:r>
              <a:rPr sz="2250" b="1">
                <a:solidFill>
                  <a:srgbClr val="17343A"/>
                </a:solidFill>
                <a:latin typeface="Aptos Display"/>
                <a:ea typeface="Aptos Display"/>
                <a:cs typeface="Aptos Display"/>
              </a:rPr>
              <a:t>shape</a:t>
            </a:r>
          </a:p>
        </p:txBody>
      </p:sp>
      <p:sp>
        <p:nvSpPr>
          <p:cNvPr id="10" name="Rectangle 9">
            <a:extLst>
              <a:ext uri="{FF2B5EF4-FFF2-40B4-BE49-F238E27FC236}">
                <a16:creationId xmlns:a16="http://schemas.microsoft.com/office/drawing/2014/main" id="{00000008-0009-4000-8000-000000000000}"/>
              </a:ext>
            </a:extLst>
          </p:cNvPr>
          <p:cNvSpPr>
            <a:spLocks noGrp="1"/>
          </p:cNvSpPr>
          <p:nvPr/>
        </p:nvSpPr>
        <p:spPr>
          <a:xfrm>
            <a:off x="4638675" y="1752600"/>
            <a:ext cx="2914650" cy="323850"/>
          </a:xfrm>
          <a:prstGeom prst="rect">
            <a:avLst/>
          </a:prstGeom>
          <a:noFill/>
          <a:ln w="0">
            <a:noFill/>
            <a:prstDash val="solid"/>
          </a:ln>
        </p:spPr>
        <p:txBody>
          <a:bodyPr wrap="square" lIns="0" tIns="0" rIns="0" bIns="0" anchor="ctr">
            <a:normAutofit/>
          </a:bodyPr>
          <a:lstStyle/>
          <a:p>
            <a:pPr algn="ctr">
              <a:lnSpc>
                <a:spcPct val="100000"/>
              </a:lnSpc>
              <a:buNone/>
              <a:defRPr sz="1500" b="1">
                <a:solidFill>
                  <a:srgbClr val="007C7A"/>
                </a:solidFill>
                <a:latin typeface="Aptos Display"/>
                <a:ea typeface="Aptos Display"/>
                <a:cs typeface="Aptos Display"/>
              </a:defRPr>
            </a:pPr>
            <a:r>
              <a:rPr sz="1500" b="1">
                <a:solidFill>
                  <a:srgbClr val="007C7A"/>
                </a:solidFill>
                <a:latin typeface="Aptos Display"/>
                <a:ea typeface="Aptos Display"/>
                <a:cs typeface="Aptos Display"/>
              </a:rPr>
              <a:t>BAR CHART</a:t>
            </a:r>
          </a:p>
        </p:txBody>
      </p:sp>
      <p:graphicFrame>
        <p:nvGraphicFramePr>
          <p:cNvPr id="28" name="Chart" descr="Chart"/>
          <p:cNvGraphicFramePr/>
          <p:nvPr>
            <p:extLst>
              <p:ext uri="{D42A27DB-BD31-4B8C-83A1-F6EECF244321}">
                <p14:modId xmlns:p14="http://schemas.microsoft.com/office/powerpoint/2010/main" val="664155744"/>
              </p:ext>
            </p:extLst>
          </p:nvPr>
        </p:nvGraphicFramePr>
        <p:xfrm>
          <a:off x="4638675" y="2305050"/>
          <a:ext cx="2914650" cy="2095500"/>
        </p:xfrm>
        <a:graphic>
          <a:graphicData uri="http://schemas.openxmlformats.org/drawingml/2006/chart">
            <c:chart xmlns:c="http://schemas.openxmlformats.org/drawingml/2006/chart" xmlns:r="http://schemas.openxmlformats.org/officeDocument/2006/relationships" r:id="rId4"/>
          </a:graphicData>
        </a:graphic>
      </p:graphicFrame>
      <p:sp>
        <p:nvSpPr>
          <p:cNvPr id="12" name="Rectangle 11">
            <a:extLst>
              <a:ext uri="{FF2B5EF4-FFF2-40B4-BE49-F238E27FC236}">
                <a16:creationId xmlns:a16="http://schemas.microsoft.com/office/drawing/2014/main" id="{00000008-000A-4000-8000-000000000000}"/>
              </a:ext>
            </a:extLst>
          </p:cNvPr>
          <p:cNvSpPr>
            <a:spLocks noGrp="1"/>
          </p:cNvSpPr>
          <p:nvPr/>
        </p:nvSpPr>
        <p:spPr>
          <a:xfrm>
            <a:off x="4638675" y="4572000"/>
            <a:ext cx="2914650" cy="361950"/>
          </a:xfrm>
          <a:prstGeom prst="rect">
            <a:avLst/>
          </a:prstGeom>
          <a:noFill/>
          <a:ln w="0">
            <a:noFill/>
            <a:prstDash val="solid"/>
          </a:ln>
        </p:spPr>
        <p:txBody>
          <a:bodyPr wrap="square" lIns="0" tIns="0" rIns="0" bIns="0" anchor="ctr">
            <a:normAutofit/>
          </a:bodyPr>
          <a:lstStyle/>
          <a:p>
            <a:pPr algn="ctr">
              <a:lnSpc>
                <a:spcPct val="100000"/>
              </a:lnSpc>
              <a:buNone/>
              <a:defRPr sz="2250" b="1">
                <a:solidFill>
                  <a:srgbClr val="17343A"/>
                </a:solidFill>
                <a:latin typeface="Aptos Display"/>
                <a:ea typeface="Aptos Display"/>
                <a:cs typeface="Aptos Display"/>
              </a:defRPr>
            </a:pPr>
            <a:r>
              <a:rPr sz="2250" b="1">
                <a:solidFill>
                  <a:srgbClr val="17343A"/>
                </a:solidFill>
                <a:latin typeface="Aptos Display"/>
                <a:ea typeface="Aptos Display"/>
                <a:cs typeface="Aptos Display"/>
              </a:rPr>
              <a:t>frequency</a:t>
            </a:r>
          </a:p>
        </p:txBody>
      </p:sp>
      <p:sp>
        <p:nvSpPr>
          <p:cNvPr id="13" name="Rectangle 12">
            <a:extLst>
              <a:ext uri="{FF2B5EF4-FFF2-40B4-BE49-F238E27FC236}">
                <a16:creationId xmlns:a16="http://schemas.microsoft.com/office/drawing/2014/main" id="{00000008-000B-4000-8000-000000000000}"/>
              </a:ext>
            </a:extLst>
          </p:cNvPr>
          <p:cNvSpPr>
            <a:spLocks noGrp="1"/>
          </p:cNvSpPr>
          <p:nvPr/>
        </p:nvSpPr>
        <p:spPr>
          <a:xfrm>
            <a:off x="8534400" y="1752600"/>
            <a:ext cx="2914650" cy="323850"/>
          </a:xfrm>
          <a:prstGeom prst="rect">
            <a:avLst/>
          </a:prstGeom>
          <a:noFill/>
          <a:ln w="0">
            <a:noFill/>
            <a:prstDash val="solid"/>
          </a:ln>
        </p:spPr>
        <p:txBody>
          <a:bodyPr wrap="square" lIns="0" tIns="0" rIns="0" bIns="0" anchor="ctr">
            <a:normAutofit/>
          </a:bodyPr>
          <a:lstStyle/>
          <a:p>
            <a:pPr algn="ctr">
              <a:lnSpc>
                <a:spcPct val="100000"/>
              </a:lnSpc>
              <a:buNone/>
              <a:defRPr sz="1500" b="1">
                <a:solidFill>
                  <a:srgbClr val="007C7A"/>
                </a:solidFill>
                <a:latin typeface="Aptos Display"/>
                <a:ea typeface="Aptos Display"/>
                <a:cs typeface="Aptos Display"/>
              </a:defRPr>
            </a:pPr>
            <a:r>
              <a:rPr sz="1500" b="1">
                <a:solidFill>
                  <a:srgbClr val="007C7A"/>
                </a:solidFill>
                <a:latin typeface="Aptos Display"/>
                <a:ea typeface="Aptos Display"/>
                <a:cs typeface="Aptos Display"/>
              </a:rPr>
              <a:t>SCATTER</a:t>
            </a:r>
          </a:p>
        </p:txBody>
      </p:sp>
      <p:graphicFrame>
        <p:nvGraphicFramePr>
          <p:cNvPr id="31" name="Chart" descr="Chart"/>
          <p:cNvGraphicFramePr/>
          <p:nvPr>
            <p:extLst>
              <p:ext uri="{D42A27DB-BD31-4B8C-83A1-F6EECF244321}">
                <p14:modId xmlns:p14="http://schemas.microsoft.com/office/powerpoint/2010/main" val="1017243710"/>
              </p:ext>
            </p:extLst>
          </p:nvPr>
        </p:nvGraphicFramePr>
        <p:xfrm>
          <a:off x="8534400" y="2305050"/>
          <a:ext cx="2914650" cy="2095500"/>
        </p:xfrm>
        <a:graphic>
          <a:graphicData uri="http://schemas.openxmlformats.org/drawingml/2006/chart">
            <c:chart xmlns:c="http://schemas.openxmlformats.org/drawingml/2006/chart" xmlns:r="http://schemas.openxmlformats.org/officeDocument/2006/relationships" r:id="rId5"/>
          </a:graphicData>
        </a:graphic>
      </p:graphicFrame>
      <p:sp>
        <p:nvSpPr>
          <p:cNvPr id="15" name="Rectangle 14">
            <a:extLst>
              <a:ext uri="{FF2B5EF4-FFF2-40B4-BE49-F238E27FC236}">
                <a16:creationId xmlns:a16="http://schemas.microsoft.com/office/drawing/2014/main" id="{00000008-000C-4000-8000-000000000000}"/>
              </a:ext>
            </a:extLst>
          </p:cNvPr>
          <p:cNvSpPr>
            <a:spLocks noGrp="1"/>
          </p:cNvSpPr>
          <p:nvPr/>
        </p:nvSpPr>
        <p:spPr>
          <a:xfrm>
            <a:off x="8534400" y="4572000"/>
            <a:ext cx="2914650" cy="361950"/>
          </a:xfrm>
          <a:prstGeom prst="rect">
            <a:avLst/>
          </a:prstGeom>
          <a:noFill/>
          <a:ln w="0">
            <a:noFill/>
            <a:prstDash val="solid"/>
          </a:ln>
        </p:spPr>
        <p:txBody>
          <a:bodyPr wrap="square" lIns="0" tIns="0" rIns="0" bIns="0" anchor="ctr">
            <a:normAutofit/>
          </a:bodyPr>
          <a:lstStyle/>
          <a:p>
            <a:pPr algn="ctr">
              <a:lnSpc>
                <a:spcPct val="100000"/>
              </a:lnSpc>
              <a:buNone/>
              <a:defRPr sz="2250" b="1">
                <a:solidFill>
                  <a:srgbClr val="17343A"/>
                </a:solidFill>
                <a:latin typeface="Aptos Display"/>
                <a:ea typeface="Aptos Display"/>
                <a:cs typeface="Aptos Display"/>
              </a:defRPr>
            </a:pPr>
            <a:r>
              <a:rPr sz="2250" b="1">
                <a:solidFill>
                  <a:srgbClr val="17343A"/>
                </a:solidFill>
                <a:latin typeface="Aptos Display"/>
                <a:ea typeface="Aptos Display"/>
                <a:cs typeface="Aptos Display"/>
              </a:rPr>
              <a:t>association</a:t>
            </a:r>
          </a:p>
        </p:txBody>
      </p:sp>
      <p:sp>
        <p:nvSpPr>
          <p:cNvPr id="16" name="Rectangle 15">
            <a:extLst>
              <a:ext uri="{FF2B5EF4-FFF2-40B4-BE49-F238E27FC236}">
                <a16:creationId xmlns:a16="http://schemas.microsoft.com/office/drawing/2014/main" id="{00000008-000D-4000-8000-000000000000}"/>
              </a:ext>
            </a:extLst>
          </p:cNvPr>
          <p:cNvSpPr>
            <a:spLocks noGrp="1"/>
          </p:cNvSpPr>
          <p:nvPr/>
        </p:nvSpPr>
        <p:spPr>
          <a:xfrm>
            <a:off x="742950" y="5372100"/>
            <a:ext cx="10668000" cy="419100"/>
          </a:xfrm>
          <a:prstGeom prst="rect">
            <a:avLst/>
          </a:prstGeom>
          <a:noFill/>
          <a:ln w="0">
            <a:noFill/>
            <a:prstDash val="solid"/>
          </a:ln>
        </p:spPr>
        <p:txBody>
          <a:bodyPr wrap="square" lIns="0" tIns="0" rIns="0" bIns="0" anchor="ctr">
            <a:normAutofit/>
          </a:bodyPr>
          <a:lstStyle/>
          <a:p>
            <a:pPr algn="ctr">
              <a:lnSpc>
                <a:spcPct val="100000"/>
              </a:lnSpc>
              <a:buNone/>
              <a:defRPr sz="2100" b="1">
                <a:solidFill>
                  <a:srgbClr val="EF6A5B"/>
                </a:solidFill>
                <a:latin typeface="Aptos Display"/>
                <a:ea typeface="Aptos Display"/>
                <a:cs typeface="Aptos Display"/>
              </a:defRPr>
            </a:pPr>
            <a:r>
              <a:rPr sz="2100" b="1">
                <a:solidFill>
                  <a:srgbClr val="EF6A5B"/>
                </a:solidFill>
                <a:latin typeface="Aptos Display"/>
                <a:ea typeface="Aptos Display"/>
                <a:cs typeface="Aptos Display"/>
              </a:rPr>
              <a:t>Read units · axes · selection · bins</a:t>
            </a:r>
          </a:p>
        </p:txBody>
      </p:sp>
      <p:sp>
        <p:nvSpPr>
          <p:cNvPr id="17" name="Rectangle 16">
            <a:extLst>
              <a:ext uri="{FF2B5EF4-FFF2-40B4-BE49-F238E27FC236}">
                <a16:creationId xmlns:a16="http://schemas.microsoft.com/office/drawing/2014/main" id="{00000008-000E-4000-8000-000000000000}"/>
              </a:ext>
            </a:extLst>
          </p:cNvPr>
          <p:cNvSpPr>
            <a:spLocks noGrp="1"/>
          </p:cNvSpPr>
          <p:nvPr/>
        </p:nvSpPr>
        <p:spPr>
          <a:xfrm>
            <a:off x="742950" y="5924550"/>
            <a:ext cx="10668000" cy="228600"/>
          </a:xfrm>
          <a:prstGeom prst="rect">
            <a:avLst/>
          </a:prstGeom>
          <a:noFill/>
          <a:ln w="0">
            <a:noFill/>
            <a:prstDash val="solid"/>
          </a:ln>
        </p:spPr>
        <p:txBody>
          <a:bodyPr wrap="square" lIns="0" tIns="0" rIns="0" bIns="0" anchor="ctr">
            <a:normAutofit/>
          </a:bodyPr>
          <a:lstStyle/>
          <a:p>
            <a:pPr algn="ctr">
              <a:lnSpc>
                <a:spcPct val="100000"/>
              </a:lnSpc>
              <a:buNone/>
              <a:defRPr sz="1125" b="0">
                <a:solidFill>
                  <a:srgbClr val="5E6F72"/>
                </a:solidFill>
                <a:latin typeface="Aptos"/>
                <a:ea typeface="Aptos"/>
                <a:cs typeface="Aptos"/>
              </a:defRPr>
            </a:pPr>
            <a:r>
              <a:rPr sz="1125" b="0">
                <a:solidFill>
                  <a:srgbClr val="5E6F72"/>
                </a:solidFill>
                <a:latin typeface="Aptos"/>
                <a:ea typeface="Aptos"/>
                <a:cs typeface="Aptos"/>
              </a:rPr>
              <a:t>Illustrative marks only</a:t>
            </a:r>
          </a:p>
        </p:txBody>
      </p:sp>
    </p:spTree>
    <p:extLst>
      <p:ext uri="{BB962C8B-B14F-4D97-AF65-F5344CB8AC3E}">
        <p14:creationId xmlns:p14="http://schemas.microsoft.com/office/powerpoint/2010/main" val="800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00000009-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09-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a:solidFill>
                  <a:srgbClr val="007C7A"/>
                </a:solidFill>
                <a:latin typeface="Aptos Display"/>
                <a:ea typeface="Aptos Display"/>
                <a:cs typeface="Aptos Display"/>
              </a:rPr>
              <a:t>PAIR CHALLENGE</a:t>
            </a:r>
          </a:p>
        </p:txBody>
      </p:sp>
      <p:sp>
        <p:nvSpPr>
          <p:cNvPr id="3" name="Rectangle 2">
            <a:extLst>
              <a:ext uri="{FF2B5EF4-FFF2-40B4-BE49-F238E27FC236}">
                <a16:creationId xmlns:a16="http://schemas.microsoft.com/office/drawing/2014/main" id="{00000009-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Diagnose before you fix</a:t>
            </a:r>
          </a:p>
        </p:txBody>
      </p:sp>
      <p:sp>
        <p:nvSpPr>
          <p:cNvPr id="4" name="Rectangle 3">
            <a:extLst>
              <a:ext uri="{FF2B5EF4-FFF2-40B4-BE49-F238E27FC236}">
                <a16:creationId xmlns:a16="http://schemas.microsoft.com/office/drawing/2014/main" id="{00000009-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fontScale="95003"/>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65–90 min</a:t>
            </a:r>
          </a:p>
        </p:txBody>
      </p:sp>
      <p:sp>
        <p:nvSpPr>
          <p:cNvPr id="5" name="Rectangle 4">
            <a:extLst>
              <a:ext uri="{FF2B5EF4-FFF2-40B4-BE49-F238E27FC236}">
                <a16:creationId xmlns:a16="http://schemas.microsoft.com/office/drawing/2014/main" id="{00000009-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09-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09</a:t>
            </a:r>
          </a:p>
        </p:txBody>
      </p:sp>
      <p:sp>
        <p:nvSpPr>
          <p:cNvPr id="7" name="challenge-1">
            <a:extLst>
              <a:ext uri="{FF2B5EF4-FFF2-40B4-BE49-F238E27FC236}">
                <a16:creationId xmlns:a16="http://schemas.microsoft.com/office/drawing/2014/main" id="{00000009-0007-4000-8000-000000000000}"/>
              </a:ext>
            </a:extLst>
          </p:cNvPr>
          <p:cNvSpPr>
            <a:spLocks noGrp="1"/>
          </p:cNvSpPr>
          <p:nvPr/>
        </p:nvSpPr>
        <p:spPr>
          <a:xfrm>
            <a:off x="1047750" y="2133600"/>
            <a:ext cx="1695450" cy="1695450"/>
          </a:xfrm>
          <a:prstGeom prst="ellipse">
            <a:avLst/>
          </a:prstGeom>
          <a:solidFill>
            <a:srgbClr val="FFFFFF"/>
          </a:solidFill>
          <a:ln w="47625">
            <a:solidFill>
              <a:srgbClr val="007C7A"/>
            </a:solidFill>
            <a:prstDash val="solid"/>
          </a:ln>
        </p:spPr>
        <p:txBody>
          <a:bodyPr/>
          <a:lstStyle/>
          <a:p>
            <a:endParaRPr lang="en-US"/>
          </a:p>
        </p:txBody>
      </p:sp>
      <p:sp>
        <p:nvSpPr>
          <p:cNvPr id="8" name="Rectangle 7">
            <a:extLst>
              <a:ext uri="{FF2B5EF4-FFF2-40B4-BE49-F238E27FC236}">
                <a16:creationId xmlns:a16="http://schemas.microsoft.com/office/drawing/2014/main" id="{00000009-0008-4000-8000-000000000000}"/>
              </a:ext>
            </a:extLst>
          </p:cNvPr>
          <p:cNvSpPr>
            <a:spLocks noGrp="1"/>
          </p:cNvSpPr>
          <p:nvPr/>
        </p:nvSpPr>
        <p:spPr>
          <a:xfrm>
            <a:off x="1047750" y="2133600"/>
            <a:ext cx="1695450" cy="1200150"/>
          </a:xfrm>
          <a:prstGeom prst="rect">
            <a:avLst/>
          </a:prstGeom>
          <a:noFill/>
          <a:ln w="0">
            <a:noFill/>
            <a:prstDash val="solid"/>
          </a:ln>
        </p:spPr>
        <p:txBody>
          <a:bodyPr wrap="square" lIns="0" tIns="0" rIns="0" bIns="0" anchor="ctr">
            <a:normAutofit/>
          </a:bodyPr>
          <a:lstStyle/>
          <a:p>
            <a:pPr algn="ctr">
              <a:lnSpc>
                <a:spcPct val="100000"/>
              </a:lnSpc>
              <a:buNone/>
              <a:defRPr sz="5850" b="1">
                <a:solidFill>
                  <a:srgbClr val="007C7A"/>
                </a:solidFill>
                <a:latin typeface="Aptos Display"/>
                <a:ea typeface="Aptos Display"/>
                <a:cs typeface="Aptos Display"/>
              </a:defRPr>
            </a:pPr>
            <a:r>
              <a:rPr sz="5850" b="1">
                <a:solidFill>
                  <a:srgbClr val="007C7A"/>
                </a:solidFill>
                <a:latin typeface="Aptos Display"/>
                <a:ea typeface="Aptos Display"/>
                <a:cs typeface="Aptos Display"/>
              </a:rPr>
              <a:t>3</a:t>
            </a:r>
          </a:p>
        </p:txBody>
      </p:sp>
      <p:sp>
        <p:nvSpPr>
          <p:cNvPr id="9" name="Rectangle 8">
            <a:extLst>
              <a:ext uri="{FF2B5EF4-FFF2-40B4-BE49-F238E27FC236}">
                <a16:creationId xmlns:a16="http://schemas.microsoft.com/office/drawing/2014/main" id="{00000009-0009-4000-8000-000000000000}"/>
              </a:ext>
            </a:extLst>
          </p:cNvPr>
          <p:cNvSpPr>
            <a:spLocks noGrp="1"/>
          </p:cNvSpPr>
          <p:nvPr/>
        </p:nvSpPr>
        <p:spPr>
          <a:xfrm>
            <a:off x="762000" y="4000500"/>
            <a:ext cx="2266950" cy="666750"/>
          </a:xfrm>
          <a:prstGeom prst="rect">
            <a:avLst/>
          </a:prstGeom>
          <a:noFill/>
          <a:ln w="0">
            <a:noFill/>
            <a:prstDash val="solid"/>
          </a:ln>
        </p:spPr>
        <p:txBody>
          <a:bodyPr wrap="square" lIns="0" tIns="0" rIns="0" bIns="0" anchor="ctr">
            <a:normAutofit/>
          </a:bodyPr>
          <a:lstStyle/>
          <a:p>
            <a:pPr algn="ctr">
              <a:lnSpc>
                <a:spcPct val="100000"/>
              </a:lnSpc>
              <a:buNone/>
              <a:defRPr sz="2250" b="1">
                <a:solidFill>
                  <a:srgbClr val="17343A"/>
                </a:solidFill>
                <a:latin typeface="Aptos Display"/>
                <a:ea typeface="Aptos Display"/>
                <a:cs typeface="Aptos Display"/>
              </a:defRPr>
            </a:pPr>
            <a:r>
              <a:rPr sz="2250" b="1">
                <a:solidFill>
                  <a:srgbClr val="17343A"/>
                </a:solidFill>
                <a:latin typeface="Aptos Display"/>
                <a:ea typeface="Aptos Display"/>
                <a:cs typeface="Aptos Display"/>
              </a:rPr>
              <a:t>quality issues</a:t>
            </a:r>
          </a:p>
        </p:txBody>
      </p:sp>
      <p:sp>
        <p:nvSpPr>
          <p:cNvPr id="10" name="challenge-2">
            <a:extLst>
              <a:ext uri="{FF2B5EF4-FFF2-40B4-BE49-F238E27FC236}">
                <a16:creationId xmlns:a16="http://schemas.microsoft.com/office/drawing/2014/main" id="{00000009-000A-4000-8000-000000000000}"/>
              </a:ext>
            </a:extLst>
          </p:cNvPr>
          <p:cNvSpPr>
            <a:spLocks noGrp="1"/>
          </p:cNvSpPr>
          <p:nvPr/>
        </p:nvSpPr>
        <p:spPr>
          <a:xfrm>
            <a:off x="4476750" y="2133600"/>
            <a:ext cx="1695450" cy="1695450"/>
          </a:xfrm>
          <a:prstGeom prst="ellipse">
            <a:avLst/>
          </a:prstGeom>
          <a:solidFill>
            <a:srgbClr val="FFFFFF"/>
          </a:solidFill>
          <a:ln w="47625">
            <a:solidFill>
              <a:srgbClr val="EF6A5B"/>
            </a:solidFill>
            <a:prstDash val="solid"/>
          </a:ln>
        </p:spPr>
        <p:txBody>
          <a:bodyPr/>
          <a:lstStyle/>
          <a:p>
            <a:endParaRPr lang="en-US"/>
          </a:p>
        </p:txBody>
      </p:sp>
      <p:sp>
        <p:nvSpPr>
          <p:cNvPr id="11" name="Rectangle 10">
            <a:extLst>
              <a:ext uri="{FF2B5EF4-FFF2-40B4-BE49-F238E27FC236}">
                <a16:creationId xmlns:a16="http://schemas.microsoft.com/office/drawing/2014/main" id="{00000009-000B-4000-8000-000000000000}"/>
              </a:ext>
            </a:extLst>
          </p:cNvPr>
          <p:cNvSpPr>
            <a:spLocks noGrp="1"/>
          </p:cNvSpPr>
          <p:nvPr/>
        </p:nvSpPr>
        <p:spPr>
          <a:xfrm>
            <a:off x="4476750" y="2133600"/>
            <a:ext cx="1695450" cy="1200150"/>
          </a:xfrm>
          <a:prstGeom prst="rect">
            <a:avLst/>
          </a:prstGeom>
          <a:noFill/>
          <a:ln w="0">
            <a:noFill/>
            <a:prstDash val="solid"/>
          </a:ln>
        </p:spPr>
        <p:txBody>
          <a:bodyPr wrap="square" lIns="0" tIns="0" rIns="0" bIns="0" anchor="ctr">
            <a:normAutofit/>
          </a:bodyPr>
          <a:lstStyle/>
          <a:p>
            <a:pPr algn="ctr">
              <a:lnSpc>
                <a:spcPct val="100000"/>
              </a:lnSpc>
              <a:buNone/>
              <a:defRPr sz="5850" b="1">
                <a:solidFill>
                  <a:srgbClr val="EF6A5B"/>
                </a:solidFill>
                <a:latin typeface="Aptos Display"/>
                <a:ea typeface="Aptos Display"/>
                <a:cs typeface="Aptos Display"/>
              </a:defRPr>
            </a:pPr>
            <a:r>
              <a:rPr sz="5850" b="1">
                <a:solidFill>
                  <a:srgbClr val="EF6A5B"/>
                </a:solidFill>
                <a:latin typeface="Aptos Display"/>
                <a:ea typeface="Aptos Display"/>
                <a:cs typeface="Aptos Display"/>
              </a:rPr>
              <a:t>3</a:t>
            </a:r>
          </a:p>
        </p:txBody>
      </p:sp>
      <p:sp>
        <p:nvSpPr>
          <p:cNvPr id="12" name="Rectangle 11">
            <a:extLst>
              <a:ext uri="{FF2B5EF4-FFF2-40B4-BE49-F238E27FC236}">
                <a16:creationId xmlns:a16="http://schemas.microsoft.com/office/drawing/2014/main" id="{00000009-000C-4000-8000-000000000000}"/>
              </a:ext>
            </a:extLst>
          </p:cNvPr>
          <p:cNvSpPr>
            <a:spLocks noGrp="1"/>
          </p:cNvSpPr>
          <p:nvPr/>
        </p:nvSpPr>
        <p:spPr>
          <a:xfrm>
            <a:off x="4191000" y="4000500"/>
            <a:ext cx="2266950" cy="666750"/>
          </a:xfrm>
          <a:prstGeom prst="rect">
            <a:avLst/>
          </a:prstGeom>
          <a:noFill/>
          <a:ln w="0">
            <a:noFill/>
            <a:prstDash val="solid"/>
          </a:ln>
        </p:spPr>
        <p:txBody>
          <a:bodyPr wrap="square" lIns="0" tIns="0" rIns="0" bIns="0" anchor="ctr">
            <a:normAutofit fontScale="97222" lnSpcReduction="10000"/>
          </a:bodyPr>
          <a:lstStyle/>
          <a:p>
            <a:pPr algn="ctr">
              <a:lnSpc>
                <a:spcPct val="100000"/>
              </a:lnSpc>
              <a:buNone/>
              <a:defRPr sz="2250" b="1">
                <a:solidFill>
                  <a:srgbClr val="17343A"/>
                </a:solidFill>
                <a:latin typeface="Aptos Display"/>
                <a:ea typeface="Aptos Display"/>
                <a:cs typeface="Aptos Display"/>
              </a:defRPr>
            </a:pPr>
            <a:r>
              <a:rPr sz="2250" b="1">
                <a:solidFill>
                  <a:srgbClr val="17343A"/>
                </a:solidFill>
                <a:latin typeface="Aptos Display"/>
                <a:ea typeface="Aptos Display"/>
                <a:cs typeface="Aptos Display"/>
              </a:rPr>
              <a:t>defensible corrections</a:t>
            </a:r>
          </a:p>
        </p:txBody>
      </p:sp>
      <p:sp>
        <p:nvSpPr>
          <p:cNvPr id="13" name="challenge-3">
            <a:extLst>
              <a:ext uri="{FF2B5EF4-FFF2-40B4-BE49-F238E27FC236}">
                <a16:creationId xmlns:a16="http://schemas.microsoft.com/office/drawing/2014/main" id="{00000009-000D-4000-8000-000000000000}"/>
              </a:ext>
            </a:extLst>
          </p:cNvPr>
          <p:cNvSpPr>
            <a:spLocks noGrp="1"/>
          </p:cNvSpPr>
          <p:nvPr/>
        </p:nvSpPr>
        <p:spPr>
          <a:xfrm>
            <a:off x="7905750" y="2133600"/>
            <a:ext cx="1695450" cy="1695450"/>
          </a:xfrm>
          <a:prstGeom prst="ellipse">
            <a:avLst/>
          </a:prstGeom>
          <a:solidFill>
            <a:srgbClr val="DCEAE4"/>
          </a:solidFill>
          <a:ln w="47625">
            <a:solidFill>
              <a:srgbClr val="17343A"/>
            </a:solidFill>
            <a:prstDash val="solid"/>
          </a:ln>
        </p:spPr>
        <p:txBody>
          <a:bodyPr/>
          <a:lstStyle/>
          <a:p>
            <a:endParaRPr lang="en-US"/>
          </a:p>
        </p:txBody>
      </p:sp>
      <p:sp>
        <p:nvSpPr>
          <p:cNvPr id="14" name="Rectangle 13">
            <a:extLst>
              <a:ext uri="{FF2B5EF4-FFF2-40B4-BE49-F238E27FC236}">
                <a16:creationId xmlns:a16="http://schemas.microsoft.com/office/drawing/2014/main" id="{00000009-000E-4000-8000-000000000000}"/>
              </a:ext>
            </a:extLst>
          </p:cNvPr>
          <p:cNvSpPr>
            <a:spLocks noGrp="1"/>
          </p:cNvSpPr>
          <p:nvPr/>
        </p:nvSpPr>
        <p:spPr>
          <a:xfrm>
            <a:off x="7905750" y="2133600"/>
            <a:ext cx="1695450" cy="1200150"/>
          </a:xfrm>
          <a:prstGeom prst="rect">
            <a:avLst/>
          </a:prstGeom>
          <a:noFill/>
          <a:ln w="0">
            <a:noFill/>
            <a:prstDash val="solid"/>
          </a:ln>
        </p:spPr>
        <p:txBody>
          <a:bodyPr wrap="square" lIns="0" tIns="0" rIns="0" bIns="0" anchor="ctr">
            <a:normAutofit/>
          </a:bodyPr>
          <a:lstStyle/>
          <a:p>
            <a:pPr algn="ctr">
              <a:lnSpc>
                <a:spcPct val="100000"/>
              </a:lnSpc>
              <a:buNone/>
              <a:defRPr sz="5850" b="1">
                <a:solidFill>
                  <a:srgbClr val="17343A"/>
                </a:solidFill>
                <a:latin typeface="Aptos Display"/>
                <a:ea typeface="Aptos Display"/>
                <a:cs typeface="Aptos Display"/>
              </a:defRPr>
            </a:pPr>
            <a:r>
              <a:rPr sz="5850" b="1">
                <a:solidFill>
                  <a:srgbClr val="17343A"/>
                </a:solidFill>
                <a:latin typeface="Aptos Display"/>
                <a:ea typeface="Aptos Display"/>
                <a:cs typeface="Aptos Display"/>
              </a:rPr>
              <a:t>1</a:t>
            </a:r>
          </a:p>
        </p:txBody>
      </p:sp>
      <p:sp>
        <p:nvSpPr>
          <p:cNvPr id="15" name="Rectangle 14">
            <a:extLst>
              <a:ext uri="{FF2B5EF4-FFF2-40B4-BE49-F238E27FC236}">
                <a16:creationId xmlns:a16="http://schemas.microsoft.com/office/drawing/2014/main" id="{00000009-000F-4000-8000-000000000000}"/>
              </a:ext>
            </a:extLst>
          </p:cNvPr>
          <p:cNvSpPr>
            <a:spLocks noGrp="1"/>
          </p:cNvSpPr>
          <p:nvPr/>
        </p:nvSpPr>
        <p:spPr>
          <a:xfrm>
            <a:off x="7620000" y="4000500"/>
            <a:ext cx="2266950" cy="666750"/>
          </a:xfrm>
          <a:prstGeom prst="rect">
            <a:avLst/>
          </a:prstGeom>
          <a:noFill/>
          <a:ln w="0">
            <a:noFill/>
            <a:prstDash val="solid"/>
          </a:ln>
        </p:spPr>
        <p:txBody>
          <a:bodyPr wrap="square" lIns="0" tIns="0" rIns="0" bIns="0" anchor="ctr">
            <a:normAutofit/>
          </a:bodyPr>
          <a:lstStyle/>
          <a:p>
            <a:pPr algn="ctr">
              <a:lnSpc>
                <a:spcPct val="100000"/>
              </a:lnSpc>
              <a:buNone/>
              <a:defRPr sz="2250" b="1">
                <a:solidFill>
                  <a:srgbClr val="17343A"/>
                </a:solidFill>
                <a:latin typeface="Aptos Display"/>
                <a:ea typeface="Aptos Display"/>
                <a:cs typeface="Aptos Display"/>
              </a:defRPr>
            </a:pPr>
            <a:r>
              <a:rPr sz="2250" b="1">
                <a:solidFill>
                  <a:srgbClr val="17343A"/>
                </a:solidFill>
                <a:latin typeface="Aptos Display"/>
                <a:ea typeface="Aptos Display"/>
                <a:cs typeface="Aptos Display"/>
              </a:rPr>
              <a:t>uncertainty</a:t>
            </a:r>
          </a:p>
        </p:txBody>
      </p:sp>
      <p:sp>
        <p:nvSpPr>
          <p:cNvPr id="16" name="Rectangle 15">
            <a:extLst>
              <a:ext uri="{FF2B5EF4-FFF2-40B4-BE49-F238E27FC236}">
                <a16:creationId xmlns:a16="http://schemas.microsoft.com/office/drawing/2014/main" id="{00000009-0010-4000-8000-000000000000}"/>
              </a:ext>
            </a:extLst>
          </p:cNvPr>
          <p:cNvSpPr>
            <a:spLocks noGrp="1"/>
          </p:cNvSpPr>
          <p:nvPr/>
        </p:nvSpPr>
        <p:spPr>
          <a:xfrm>
            <a:off x="1047750" y="1847850"/>
            <a:ext cx="1695450" cy="266700"/>
          </a:xfrm>
          <a:prstGeom prst="rect">
            <a:avLst/>
          </a:prstGeom>
          <a:noFill/>
          <a:ln w="0">
            <a:noFill/>
            <a:prstDash val="solid"/>
          </a:ln>
        </p:spPr>
        <p:txBody>
          <a:bodyPr wrap="square" lIns="0" tIns="0" rIns="0" bIns="0" anchor="ctr">
            <a:normAutofit/>
          </a:bodyPr>
          <a:lstStyle/>
          <a:p>
            <a:pPr algn="ctr">
              <a:lnSpc>
                <a:spcPct val="100000"/>
              </a:lnSpc>
              <a:buNone/>
              <a:defRPr sz="1425" b="1">
                <a:solidFill>
                  <a:srgbClr val="007C7A"/>
                </a:solidFill>
                <a:latin typeface="Aptos Display"/>
                <a:ea typeface="Aptos Display"/>
                <a:cs typeface="Aptos Display"/>
              </a:defRPr>
            </a:pPr>
            <a:r>
              <a:rPr sz="1425" b="1">
                <a:solidFill>
                  <a:srgbClr val="007C7A"/>
                </a:solidFill>
                <a:latin typeface="Aptos Display"/>
                <a:ea typeface="Aptos Display"/>
                <a:cs typeface="Aptos Display"/>
              </a:rPr>
              <a:t>Identify</a:t>
            </a:r>
          </a:p>
        </p:txBody>
      </p:sp>
      <p:sp>
        <p:nvSpPr>
          <p:cNvPr id="17" name="Rectangle 16">
            <a:extLst>
              <a:ext uri="{FF2B5EF4-FFF2-40B4-BE49-F238E27FC236}">
                <a16:creationId xmlns:a16="http://schemas.microsoft.com/office/drawing/2014/main" id="{00000009-0011-4000-8000-000000000000}"/>
              </a:ext>
            </a:extLst>
          </p:cNvPr>
          <p:cNvSpPr>
            <a:spLocks noGrp="1"/>
          </p:cNvSpPr>
          <p:nvPr/>
        </p:nvSpPr>
        <p:spPr>
          <a:xfrm>
            <a:off x="4476750" y="1847850"/>
            <a:ext cx="1695450" cy="266700"/>
          </a:xfrm>
          <a:prstGeom prst="rect">
            <a:avLst/>
          </a:prstGeom>
          <a:noFill/>
          <a:ln w="0">
            <a:noFill/>
            <a:prstDash val="solid"/>
          </a:ln>
        </p:spPr>
        <p:txBody>
          <a:bodyPr wrap="square" lIns="0" tIns="0" rIns="0" bIns="0" anchor="ctr">
            <a:normAutofit/>
          </a:bodyPr>
          <a:lstStyle/>
          <a:p>
            <a:pPr algn="ctr">
              <a:lnSpc>
                <a:spcPct val="100000"/>
              </a:lnSpc>
              <a:buNone/>
              <a:defRPr sz="1425" b="1">
                <a:solidFill>
                  <a:srgbClr val="EF6A5B"/>
                </a:solidFill>
                <a:latin typeface="Aptos Display"/>
                <a:ea typeface="Aptos Display"/>
                <a:cs typeface="Aptos Display"/>
              </a:defRPr>
            </a:pPr>
            <a:r>
              <a:rPr sz="1425" b="1">
                <a:solidFill>
                  <a:srgbClr val="EF6A5B"/>
                </a:solidFill>
                <a:latin typeface="Aptos Display"/>
                <a:ea typeface="Aptos Display"/>
                <a:cs typeface="Aptos Display"/>
              </a:rPr>
              <a:t>Propose</a:t>
            </a:r>
          </a:p>
        </p:txBody>
      </p:sp>
      <p:sp>
        <p:nvSpPr>
          <p:cNvPr id="18" name="Rectangle 17">
            <a:extLst>
              <a:ext uri="{FF2B5EF4-FFF2-40B4-BE49-F238E27FC236}">
                <a16:creationId xmlns:a16="http://schemas.microsoft.com/office/drawing/2014/main" id="{00000009-0012-4000-8000-000000000000}"/>
              </a:ext>
            </a:extLst>
          </p:cNvPr>
          <p:cNvSpPr>
            <a:spLocks noGrp="1"/>
          </p:cNvSpPr>
          <p:nvPr/>
        </p:nvSpPr>
        <p:spPr>
          <a:xfrm>
            <a:off x="7905750" y="1847850"/>
            <a:ext cx="1695450" cy="266700"/>
          </a:xfrm>
          <a:prstGeom prst="rect">
            <a:avLst/>
          </a:prstGeom>
          <a:noFill/>
          <a:ln w="0">
            <a:noFill/>
            <a:prstDash val="solid"/>
          </a:ln>
        </p:spPr>
        <p:txBody>
          <a:bodyPr wrap="square" lIns="0" tIns="0" rIns="0" bIns="0" anchor="ctr">
            <a:normAutofit/>
          </a:bodyPr>
          <a:lstStyle/>
          <a:p>
            <a:pPr algn="ctr">
              <a:lnSpc>
                <a:spcPct val="100000"/>
              </a:lnSpc>
              <a:buNone/>
              <a:defRPr sz="1425" b="1">
                <a:solidFill>
                  <a:srgbClr val="17343A"/>
                </a:solidFill>
                <a:latin typeface="Aptos Display"/>
                <a:ea typeface="Aptos Display"/>
                <a:cs typeface="Aptos Display"/>
              </a:defRPr>
            </a:pPr>
            <a:r>
              <a:rPr sz="1425" b="1">
                <a:solidFill>
                  <a:srgbClr val="17343A"/>
                </a:solidFill>
                <a:latin typeface="Aptos Display"/>
                <a:ea typeface="Aptos Display"/>
                <a:cs typeface="Aptos Display"/>
              </a:rPr>
              <a:t>State</a:t>
            </a:r>
          </a:p>
        </p:txBody>
      </p:sp>
      <p:sp>
        <p:nvSpPr>
          <p:cNvPr id="19" name="driver">
            <a:extLst>
              <a:ext uri="{FF2B5EF4-FFF2-40B4-BE49-F238E27FC236}">
                <a16:creationId xmlns:a16="http://schemas.microsoft.com/office/drawing/2014/main" id="{00000009-0013-4000-8000-000000000000}"/>
              </a:ext>
            </a:extLst>
          </p:cNvPr>
          <p:cNvSpPr>
            <a:spLocks noGrp="1"/>
          </p:cNvSpPr>
          <p:nvPr/>
        </p:nvSpPr>
        <p:spPr>
          <a:xfrm>
            <a:off x="4286250" y="5219700"/>
            <a:ext cx="552450" cy="552450"/>
          </a:xfrm>
          <a:prstGeom prst="ellipse">
            <a:avLst/>
          </a:prstGeom>
          <a:solidFill>
            <a:srgbClr val="007C7A"/>
          </a:solidFill>
          <a:ln w="0">
            <a:noFill/>
            <a:prstDash val="solid"/>
          </a:ln>
        </p:spPr>
        <p:txBody>
          <a:bodyPr/>
          <a:lstStyle/>
          <a:p>
            <a:endParaRPr lang="en-US"/>
          </a:p>
        </p:txBody>
      </p:sp>
      <p:sp>
        <p:nvSpPr>
          <p:cNvPr id="20" name="reviewer">
            <a:extLst>
              <a:ext uri="{FF2B5EF4-FFF2-40B4-BE49-F238E27FC236}">
                <a16:creationId xmlns:a16="http://schemas.microsoft.com/office/drawing/2014/main" id="{00000009-0014-4000-8000-000000000000}"/>
              </a:ext>
            </a:extLst>
          </p:cNvPr>
          <p:cNvSpPr>
            <a:spLocks noGrp="1"/>
          </p:cNvSpPr>
          <p:nvPr/>
        </p:nvSpPr>
        <p:spPr>
          <a:xfrm>
            <a:off x="7353300" y="5219700"/>
            <a:ext cx="552450" cy="552450"/>
          </a:xfrm>
          <a:prstGeom prst="ellipse">
            <a:avLst/>
          </a:prstGeom>
          <a:solidFill>
            <a:srgbClr val="EF6A5B"/>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00000009-0015-4000-8000-000000000000}"/>
              </a:ext>
            </a:extLst>
          </p:cNvPr>
          <p:cNvSpPr>
            <a:spLocks noGrp="1"/>
          </p:cNvSpPr>
          <p:nvPr/>
        </p:nvSpPr>
        <p:spPr>
          <a:xfrm>
            <a:off x="4286250" y="5219700"/>
            <a:ext cx="552450" cy="552450"/>
          </a:xfrm>
          <a:prstGeom prst="rect">
            <a:avLst/>
          </a:prstGeom>
          <a:noFill/>
          <a:ln w="0">
            <a:noFill/>
            <a:prstDash val="solid"/>
          </a:ln>
        </p:spPr>
        <p:txBody>
          <a:bodyPr wrap="square" lIns="0" tIns="0" rIns="0" bIns="0" anchor="ctr">
            <a:normAutofit/>
          </a:bodyPr>
          <a:lstStyle/>
          <a:p>
            <a:pPr algn="ctr">
              <a:lnSpc>
                <a:spcPct val="100000"/>
              </a:lnSpc>
              <a:buNone/>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D</a:t>
            </a:r>
          </a:p>
        </p:txBody>
      </p:sp>
      <p:sp>
        <p:nvSpPr>
          <p:cNvPr id="22" name="Rectangle 21">
            <a:extLst>
              <a:ext uri="{FF2B5EF4-FFF2-40B4-BE49-F238E27FC236}">
                <a16:creationId xmlns:a16="http://schemas.microsoft.com/office/drawing/2014/main" id="{00000009-0016-4000-8000-000000000000}"/>
              </a:ext>
            </a:extLst>
          </p:cNvPr>
          <p:cNvSpPr>
            <a:spLocks noGrp="1"/>
          </p:cNvSpPr>
          <p:nvPr/>
        </p:nvSpPr>
        <p:spPr>
          <a:xfrm>
            <a:off x="7353300" y="5219700"/>
            <a:ext cx="552450" cy="552450"/>
          </a:xfrm>
          <a:prstGeom prst="rect">
            <a:avLst/>
          </a:prstGeom>
          <a:noFill/>
          <a:ln w="0">
            <a:noFill/>
            <a:prstDash val="solid"/>
          </a:ln>
        </p:spPr>
        <p:txBody>
          <a:bodyPr wrap="square" lIns="0" tIns="0" rIns="0" bIns="0" anchor="ctr">
            <a:normAutofit/>
          </a:bodyPr>
          <a:lstStyle/>
          <a:p>
            <a:pPr algn="ctr">
              <a:lnSpc>
                <a:spcPct val="100000"/>
              </a:lnSpc>
              <a:buNone/>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R</a:t>
            </a:r>
          </a:p>
        </p:txBody>
      </p:sp>
      <p:cxnSp>
        <p:nvCxnSpPr>
          <p:cNvPr id="47" name="Straight Arrow Connector 46"/>
          <p:cNvCxnSpPr>
            <a:stCxn id="19" idx="6"/>
            <a:endCxn id="20" idx="2"/>
          </p:cNvCxnSpPr>
          <p:nvPr/>
        </p:nvCxnSpPr>
        <p:spPr>
          <a:xfrm>
            <a:off x="4838700" y="5495925"/>
            <a:ext cx="2514600" cy="0"/>
          </a:xfrm>
          <a:prstGeom prst="straightConnector1">
            <a:avLst/>
          </a:prstGeom>
          <a:ln w="28575">
            <a:solidFill>
              <a:srgbClr val="5E6F72"/>
            </a:solidFill>
            <a:prstDash val="dash"/>
            <a:headEnd type="arrow" w="med" len="med"/>
            <a:tailEnd type="arrow" w="med" len="med"/>
          </a:ln>
        </p:spPr>
      </p:cxnSp>
      <p:sp>
        <p:nvSpPr>
          <p:cNvPr id="24" name="Rectangle 23">
            <a:extLst>
              <a:ext uri="{FF2B5EF4-FFF2-40B4-BE49-F238E27FC236}">
                <a16:creationId xmlns:a16="http://schemas.microsoft.com/office/drawing/2014/main" id="{00000009-0017-4000-8000-000000000000}"/>
              </a:ext>
            </a:extLst>
          </p:cNvPr>
          <p:cNvSpPr>
            <a:spLocks noGrp="1"/>
          </p:cNvSpPr>
          <p:nvPr/>
        </p:nvSpPr>
        <p:spPr>
          <a:xfrm>
            <a:off x="4972050" y="5153025"/>
            <a:ext cx="2247900" cy="361950"/>
          </a:xfrm>
          <a:prstGeom prst="rect">
            <a:avLst/>
          </a:prstGeom>
          <a:noFill/>
          <a:ln w="0">
            <a:noFill/>
            <a:prstDash val="solid"/>
          </a:ln>
        </p:spPr>
        <p:txBody>
          <a:bodyPr wrap="square" lIns="0" tIns="0" rIns="0" bIns="0" anchor="ctr">
            <a:normAutofit fontScale="96034"/>
          </a:bodyPr>
          <a:lstStyle/>
          <a:p>
            <a:pPr algn="ctr">
              <a:lnSpc>
                <a:spcPct val="100000"/>
              </a:lnSpc>
              <a:buNone/>
              <a:defRPr sz="1650" b="1">
                <a:solidFill>
                  <a:srgbClr val="5E6F72"/>
                </a:solidFill>
                <a:latin typeface="Aptos Display"/>
                <a:ea typeface="Aptos Display"/>
                <a:cs typeface="Aptos Display"/>
              </a:defRPr>
            </a:pPr>
            <a:r>
              <a:rPr sz="1650" b="1" dirty="0">
                <a:solidFill>
                  <a:srgbClr val="5E6F72"/>
                </a:solidFill>
                <a:latin typeface="Aptos Display"/>
                <a:ea typeface="Aptos Display"/>
                <a:cs typeface="Aptos Display"/>
              </a:rPr>
              <a:t>rotate driver / reviewer</a:t>
            </a:r>
          </a:p>
        </p:txBody>
      </p:sp>
    </p:spTree>
    <p:extLst>
      <p:ext uri="{BB962C8B-B14F-4D97-AF65-F5344CB8AC3E}">
        <p14:creationId xmlns:p14="http://schemas.microsoft.com/office/powerpoint/2010/main" val="900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7C7A"/>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000000A-0001-4000-8000-000000000000}"/>
              </a:ext>
            </a:extLst>
          </p:cNvPr>
          <p:cNvSpPr>
            <a:spLocks noGrp="1"/>
          </p:cNvSpPr>
          <p:nvPr/>
        </p:nvSpPr>
        <p:spPr>
          <a:xfrm>
            <a:off x="742950" y="552450"/>
            <a:ext cx="3810000" cy="266700"/>
          </a:xfrm>
          <a:prstGeom prst="rect">
            <a:avLst/>
          </a:prstGeom>
          <a:noFill/>
          <a:ln w="0">
            <a:noFill/>
            <a:prstDash val="solid"/>
          </a:ln>
        </p:spPr>
        <p:txBody>
          <a:bodyPr wrap="square" lIns="0" tIns="0" rIns="0" bIns="0" anchor="ctr">
            <a:normAutofit/>
          </a:bodyPr>
          <a:lstStyle/>
          <a:p>
            <a:pPr algn="l">
              <a:lnSpc>
                <a:spcPct val="100000"/>
              </a:lnSpc>
              <a:buNone/>
              <a:defRPr sz="1350" b="1">
                <a:solidFill>
                  <a:srgbClr val="DCEAE4"/>
                </a:solidFill>
                <a:latin typeface="Aptos Display"/>
                <a:ea typeface="Aptos Display"/>
                <a:cs typeface="Aptos Display"/>
              </a:defRPr>
            </a:pPr>
            <a:r>
              <a:rPr sz="1350" b="1">
                <a:solidFill>
                  <a:srgbClr val="DCEAE4"/>
                </a:solidFill>
                <a:latin typeface="Aptos Display"/>
                <a:ea typeface="Aptos Display"/>
                <a:cs typeface="Aptos Display"/>
              </a:rPr>
              <a:t>BREAK + RESET</a:t>
            </a:r>
          </a:p>
        </p:txBody>
      </p:sp>
      <p:sp>
        <p:nvSpPr>
          <p:cNvPr id="2" name="break-clock">
            <a:extLst>
              <a:ext uri="{FF2B5EF4-FFF2-40B4-BE49-F238E27FC236}">
                <a16:creationId xmlns:a16="http://schemas.microsoft.com/office/drawing/2014/main" id="{0000000A-0002-4000-8000-000000000000}"/>
              </a:ext>
            </a:extLst>
          </p:cNvPr>
          <p:cNvSpPr>
            <a:spLocks noGrp="1"/>
          </p:cNvSpPr>
          <p:nvPr/>
        </p:nvSpPr>
        <p:spPr>
          <a:xfrm>
            <a:off x="4762500" y="1485900"/>
            <a:ext cx="2667000" cy="2667000"/>
          </a:xfrm>
          <a:prstGeom prst="ellipse">
            <a:avLst/>
          </a:prstGeom>
          <a:solidFill>
            <a:srgbClr val="F7F4EC"/>
          </a:solidFill>
          <a:ln w="0">
            <a:solidFill>
              <a:srgbClr val="F7F4EC"/>
            </a:solidFill>
            <a:prstDash val="solid"/>
          </a:ln>
        </p:spPr>
        <p:txBody>
          <a:bodyPr/>
          <a:lstStyle/>
          <a:p>
            <a:endParaRPr lang="en-US"/>
          </a:p>
        </p:txBody>
      </p:sp>
      <p:sp>
        <p:nvSpPr>
          <p:cNvPr id="3" name="Rectangle 2">
            <a:extLst>
              <a:ext uri="{FF2B5EF4-FFF2-40B4-BE49-F238E27FC236}">
                <a16:creationId xmlns:a16="http://schemas.microsoft.com/office/drawing/2014/main" id="{0000000A-0003-4000-8000-000000000000}"/>
              </a:ext>
            </a:extLst>
          </p:cNvPr>
          <p:cNvSpPr>
            <a:spLocks noGrp="1"/>
          </p:cNvSpPr>
          <p:nvPr/>
        </p:nvSpPr>
        <p:spPr>
          <a:xfrm>
            <a:off x="4743450" y="2257425"/>
            <a:ext cx="2667000" cy="1428750"/>
          </a:xfrm>
          <a:prstGeom prst="rect">
            <a:avLst/>
          </a:prstGeom>
          <a:noFill/>
          <a:ln w="0">
            <a:noFill/>
            <a:prstDash val="solid"/>
          </a:ln>
        </p:spPr>
        <p:txBody>
          <a:bodyPr wrap="square" lIns="0" tIns="0" rIns="0" bIns="0" anchor="ctr">
            <a:normAutofit/>
          </a:bodyPr>
          <a:lstStyle/>
          <a:p>
            <a:pPr algn="ctr">
              <a:lnSpc>
                <a:spcPct val="100000"/>
              </a:lnSpc>
              <a:buNone/>
              <a:defRPr sz="7800" b="1">
                <a:solidFill>
                  <a:srgbClr val="007C7A"/>
                </a:solidFill>
                <a:latin typeface="Aptos Display"/>
                <a:ea typeface="Aptos Display"/>
                <a:cs typeface="Aptos Display"/>
              </a:defRPr>
            </a:pPr>
            <a:r>
              <a:rPr sz="7800" b="1" dirty="0">
                <a:solidFill>
                  <a:srgbClr val="007C7A"/>
                </a:solidFill>
                <a:latin typeface="Aptos Display"/>
                <a:ea typeface="Aptos Display"/>
                <a:cs typeface="Aptos Display"/>
              </a:rPr>
              <a:t>10</a:t>
            </a:r>
          </a:p>
        </p:txBody>
      </p:sp>
      <p:sp>
        <p:nvSpPr>
          <p:cNvPr id="4" name="Rectangle 3">
            <a:extLst>
              <a:ext uri="{FF2B5EF4-FFF2-40B4-BE49-F238E27FC236}">
                <a16:creationId xmlns:a16="http://schemas.microsoft.com/office/drawing/2014/main" id="{0000000A-0004-4000-8000-000000000000}"/>
              </a:ext>
            </a:extLst>
          </p:cNvPr>
          <p:cNvSpPr>
            <a:spLocks noGrp="1"/>
          </p:cNvSpPr>
          <p:nvPr/>
        </p:nvSpPr>
        <p:spPr>
          <a:xfrm>
            <a:off x="4743450" y="3438880"/>
            <a:ext cx="2667000" cy="457200"/>
          </a:xfrm>
          <a:prstGeom prst="rect">
            <a:avLst/>
          </a:prstGeom>
          <a:noFill/>
          <a:ln w="0">
            <a:noFill/>
            <a:prstDash val="solid"/>
          </a:ln>
        </p:spPr>
        <p:txBody>
          <a:bodyPr wrap="square" lIns="0" tIns="0" rIns="0" bIns="0" anchor="ctr">
            <a:normAutofit/>
          </a:bodyPr>
          <a:lstStyle/>
          <a:p>
            <a:pPr algn="ctr">
              <a:lnSpc>
                <a:spcPct val="100000"/>
              </a:lnSpc>
              <a:buNone/>
              <a:defRPr sz="1800" b="1">
                <a:solidFill>
                  <a:srgbClr val="EF6A5B"/>
                </a:solidFill>
                <a:latin typeface="Aptos Display"/>
                <a:ea typeface="Aptos Display"/>
                <a:cs typeface="Aptos Display"/>
              </a:defRPr>
            </a:pPr>
            <a:r>
              <a:rPr sz="1800" b="1" dirty="0">
                <a:solidFill>
                  <a:srgbClr val="EF6A5B"/>
                </a:solidFill>
                <a:latin typeface="Aptos Display"/>
                <a:ea typeface="Aptos Display"/>
                <a:cs typeface="Aptos Display"/>
              </a:rPr>
              <a:t>MINUTES</a:t>
            </a:r>
          </a:p>
        </p:txBody>
      </p:sp>
      <p:sp>
        <p:nvSpPr>
          <p:cNvPr id="5" name="Rectangle 4">
            <a:extLst>
              <a:ext uri="{FF2B5EF4-FFF2-40B4-BE49-F238E27FC236}">
                <a16:creationId xmlns:a16="http://schemas.microsoft.com/office/drawing/2014/main" id="{0000000A-0005-4000-8000-000000000000}"/>
              </a:ext>
            </a:extLst>
          </p:cNvPr>
          <p:cNvSpPr>
            <a:spLocks noGrp="1"/>
          </p:cNvSpPr>
          <p:nvPr/>
        </p:nvSpPr>
        <p:spPr>
          <a:xfrm>
            <a:off x="2476500" y="4629150"/>
            <a:ext cx="7239000" cy="590550"/>
          </a:xfrm>
          <a:prstGeom prst="rect">
            <a:avLst/>
          </a:prstGeom>
          <a:noFill/>
          <a:ln w="0">
            <a:noFill/>
            <a:prstDash val="solid"/>
          </a:ln>
        </p:spPr>
        <p:txBody>
          <a:bodyPr wrap="square" lIns="0" tIns="0" rIns="0" bIns="0" anchor="ctr">
            <a:normAutofit fontScale="93191"/>
          </a:bodyPr>
          <a:lstStyle/>
          <a:p>
            <a:pPr algn="ctr">
              <a:lnSpc>
                <a:spcPct val="100000"/>
              </a:lnSpc>
              <a:buNone/>
              <a:defRPr sz="2850" b="1">
                <a:solidFill>
                  <a:srgbClr val="FFFFFF"/>
                </a:solidFill>
                <a:latin typeface="Aptos Display"/>
                <a:ea typeface="Aptos Display"/>
                <a:cs typeface="Aptos Display"/>
              </a:defRPr>
            </a:pPr>
            <a:r>
              <a:rPr lang="en-GB" sz="2850" b="1">
                <a:solidFill>
                  <a:srgbClr val="FFFFFF"/>
                </a:solidFill>
                <a:latin typeface="Aptos Display"/>
                <a:ea typeface="Aptos Display"/>
                <a:cs typeface="Aptos Display"/>
              </a:rPr>
              <a:t>Next: avoid leaking held-out information.</a:t>
            </a:r>
          </a:p>
        </p:txBody>
      </p:sp>
      <p:sp>
        <p:nvSpPr>
          <p:cNvPr id="6" name="Rectangle 5">
            <a:extLst>
              <a:ext uri="{FF2B5EF4-FFF2-40B4-BE49-F238E27FC236}">
                <a16:creationId xmlns:a16="http://schemas.microsoft.com/office/drawing/2014/main" id="{0000000A-0006-4000-8000-000000000000}"/>
              </a:ext>
            </a:extLst>
          </p:cNvPr>
          <p:cNvSpPr>
            <a:spLocks noGrp="1"/>
          </p:cNvSpPr>
          <p:nvPr/>
        </p:nvSpPr>
        <p:spPr>
          <a:xfrm>
            <a:off x="3810000" y="5562600"/>
            <a:ext cx="4572000" cy="19050"/>
          </a:xfrm>
          <a:prstGeom prst="rect">
            <a:avLst/>
          </a:prstGeom>
          <a:solidFill>
            <a:srgbClr val="DCEAE4"/>
          </a:solidFill>
          <a:ln w="0">
            <a:solidFill>
              <a:srgbClr val="DCEAE4"/>
            </a:solidFill>
            <a:prstDash val="solid"/>
          </a:ln>
        </p:spPr>
        <p:txBody>
          <a:bodyPr/>
          <a:lstStyle/>
          <a:p>
            <a:endParaRPr lang="en-US"/>
          </a:p>
        </p:txBody>
      </p:sp>
      <p:sp>
        <p:nvSpPr>
          <p:cNvPr id="7" name="Rectangle 6">
            <a:extLst>
              <a:ext uri="{FF2B5EF4-FFF2-40B4-BE49-F238E27FC236}">
                <a16:creationId xmlns:a16="http://schemas.microsoft.com/office/drawing/2014/main" id="{0000000A-0007-4000-8000-000000000000}"/>
              </a:ext>
            </a:extLst>
          </p:cNvPr>
          <p:cNvSpPr>
            <a:spLocks noGrp="1"/>
          </p:cNvSpPr>
          <p:nvPr/>
        </p:nvSpPr>
        <p:spPr>
          <a:xfrm>
            <a:off x="3714750" y="5715000"/>
            <a:ext cx="4762500" cy="323850"/>
          </a:xfrm>
          <a:prstGeom prst="rect">
            <a:avLst/>
          </a:prstGeom>
          <a:noFill/>
          <a:ln w="0">
            <a:noFill/>
            <a:prstDash val="solid"/>
          </a:ln>
        </p:spPr>
        <p:txBody>
          <a:bodyPr wrap="square" lIns="0" tIns="0" rIns="0" bIns="0" anchor="ctr">
            <a:normAutofit/>
          </a:bodyPr>
          <a:lstStyle/>
          <a:p>
            <a:pPr algn="ctr">
              <a:lnSpc>
                <a:spcPct val="100000"/>
              </a:lnSpc>
              <a:buNone/>
              <a:defRPr sz="1800" b="0">
                <a:solidFill>
                  <a:srgbClr val="DCEAE4"/>
                </a:solidFill>
                <a:latin typeface="Aptos"/>
                <a:ea typeface="Aptos"/>
                <a:cs typeface="Aptos"/>
              </a:defRPr>
            </a:pPr>
            <a:r>
              <a:rPr lang="en-GB" sz="1800" b="0">
                <a:solidFill>
                  <a:srgbClr val="DCEAE4"/>
                </a:solidFill>
                <a:latin typeface="Aptos"/>
                <a:ea typeface="Aptos"/>
                <a:cs typeface="Aptos"/>
              </a:rPr>
              <a:t>Return ready to split first.</a:t>
            </a:r>
          </a:p>
        </p:txBody>
      </p:sp>
      <p:sp>
        <p:nvSpPr>
          <p:cNvPr id="8" name="Rectangle 7">
            <a:extLst>
              <a:ext uri="{FF2B5EF4-FFF2-40B4-BE49-F238E27FC236}">
                <a16:creationId xmlns:a16="http://schemas.microsoft.com/office/drawing/2014/main" id="{0000000A-0008-4000-8000-000000000000}"/>
              </a:ext>
            </a:extLst>
          </p:cNvPr>
          <p:cNvSpPr>
            <a:spLocks noGrp="1"/>
          </p:cNvSpPr>
          <p:nvPr/>
        </p:nvSpPr>
        <p:spPr>
          <a:xfrm>
            <a:off x="10287000" y="552450"/>
            <a:ext cx="1143000" cy="228600"/>
          </a:xfrm>
          <a:prstGeom prst="rect">
            <a:avLst/>
          </a:prstGeom>
          <a:noFill/>
          <a:ln w="0">
            <a:noFill/>
            <a:prstDash val="solid"/>
          </a:ln>
        </p:spPr>
        <p:txBody>
          <a:bodyPr wrap="square" lIns="0" tIns="0" rIns="0" bIns="0" anchor="ctr">
            <a:normAutofit/>
          </a:bodyPr>
          <a:lstStyle/>
          <a:p>
            <a:pPr algn="r">
              <a:lnSpc>
                <a:spcPct val="100000"/>
              </a:lnSpc>
              <a:buNone/>
              <a:defRPr sz="1200" b="1">
                <a:solidFill>
                  <a:srgbClr val="DCEAE4"/>
                </a:solidFill>
                <a:latin typeface="Aptos Display"/>
                <a:ea typeface="Aptos Display"/>
                <a:cs typeface="Aptos Display"/>
              </a:defRPr>
            </a:pPr>
            <a:r>
              <a:rPr lang="en-US" sz="1200" b="1">
                <a:solidFill>
                  <a:srgbClr val="DCEAE4"/>
                </a:solidFill>
                <a:latin typeface="Aptos Display"/>
                <a:ea typeface="Aptos Display"/>
                <a:cs typeface="Aptos Display"/>
              </a:rPr>
              <a:t>90–100 min</a:t>
            </a:r>
          </a:p>
        </p:txBody>
      </p:sp>
      <p:sp>
        <p:nvSpPr>
          <p:cNvPr id="9" name="Rectangle 8">
            <a:extLst>
              <a:ext uri="{FF2B5EF4-FFF2-40B4-BE49-F238E27FC236}">
                <a16:creationId xmlns:a16="http://schemas.microsoft.com/office/drawing/2014/main" id="{0000000A-0009-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DCEAE4"/>
                </a:solidFill>
                <a:latin typeface="Aptos Display"/>
                <a:ea typeface="Aptos Display"/>
                <a:cs typeface="Aptos Display"/>
              </a:defRPr>
            </a:pPr>
            <a:r>
              <a:rPr lang="en-US" sz="975" b="1">
                <a:solidFill>
                  <a:srgbClr val="DCEAE4"/>
                </a:solidFill>
                <a:latin typeface="Aptos Display"/>
                <a:ea typeface="Aptos Display"/>
                <a:cs typeface="Aptos Display"/>
              </a:rPr>
              <a:t>10</a:t>
            </a:r>
          </a:p>
        </p:txBody>
      </p:sp>
    </p:spTree>
    <p:extLst>
      <p:ext uri="{BB962C8B-B14F-4D97-AF65-F5344CB8AC3E}">
        <p14:creationId xmlns:p14="http://schemas.microsoft.com/office/powerpoint/2010/main" val="1000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000000B-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0B-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a:solidFill>
                  <a:srgbClr val="007C7A"/>
                </a:solidFill>
                <a:latin typeface="Aptos Display"/>
                <a:ea typeface="Aptos Display"/>
                <a:cs typeface="Aptos Display"/>
              </a:rPr>
              <a:t>LEAKAGE</a:t>
            </a:r>
          </a:p>
        </p:txBody>
      </p:sp>
      <p:sp>
        <p:nvSpPr>
          <p:cNvPr id="3" name="Rectangle 2">
            <a:extLst>
              <a:ext uri="{FF2B5EF4-FFF2-40B4-BE49-F238E27FC236}">
                <a16:creationId xmlns:a16="http://schemas.microsoft.com/office/drawing/2014/main" id="{0000000B-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Split first—or leak information</a:t>
            </a:r>
          </a:p>
        </p:txBody>
      </p:sp>
      <p:sp>
        <p:nvSpPr>
          <p:cNvPr id="4" name="Rectangle 3">
            <a:extLst>
              <a:ext uri="{FF2B5EF4-FFF2-40B4-BE49-F238E27FC236}">
                <a16:creationId xmlns:a16="http://schemas.microsoft.com/office/drawing/2014/main" id="{0000000B-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fontScale="92322" lnSpcReduction="20000"/>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100–112 min</a:t>
            </a:r>
          </a:p>
        </p:txBody>
      </p:sp>
      <p:sp>
        <p:nvSpPr>
          <p:cNvPr id="5" name="Rectangle 4">
            <a:extLst>
              <a:ext uri="{FF2B5EF4-FFF2-40B4-BE49-F238E27FC236}">
                <a16:creationId xmlns:a16="http://schemas.microsoft.com/office/drawing/2014/main" id="{0000000B-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0B-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11</a:t>
            </a:r>
          </a:p>
        </p:txBody>
      </p:sp>
      <p:sp>
        <p:nvSpPr>
          <p:cNvPr id="7" name="Rectangle 6">
            <a:extLst>
              <a:ext uri="{FF2B5EF4-FFF2-40B4-BE49-F238E27FC236}">
                <a16:creationId xmlns:a16="http://schemas.microsoft.com/office/drawing/2014/main" id="{0000000B-0007-4000-8000-000000000000}"/>
              </a:ext>
            </a:extLst>
          </p:cNvPr>
          <p:cNvSpPr>
            <a:spLocks noGrp="1"/>
          </p:cNvSpPr>
          <p:nvPr/>
        </p:nvSpPr>
        <p:spPr>
          <a:xfrm>
            <a:off x="742950" y="1752600"/>
            <a:ext cx="1143000" cy="323850"/>
          </a:xfrm>
          <a:prstGeom prst="rect">
            <a:avLst/>
          </a:prstGeom>
          <a:noFill/>
          <a:ln w="0">
            <a:noFill/>
            <a:prstDash val="solid"/>
          </a:ln>
        </p:spPr>
        <p:txBody>
          <a:bodyPr wrap="square" lIns="0" tIns="0" rIns="0" bIns="0" anchor="ctr">
            <a:normAutofit/>
          </a:bodyPr>
          <a:lstStyle/>
          <a:p>
            <a:pPr algn="l">
              <a:lnSpc>
                <a:spcPct val="100000"/>
              </a:lnSpc>
              <a:buNone/>
              <a:defRPr sz="1500" b="1">
                <a:solidFill>
                  <a:srgbClr val="EF6A5B"/>
                </a:solidFill>
                <a:latin typeface="Aptos Display"/>
                <a:ea typeface="Aptos Display"/>
                <a:cs typeface="Aptos Display"/>
              </a:defRPr>
            </a:pPr>
            <a:r>
              <a:rPr sz="1500" b="1">
                <a:solidFill>
                  <a:srgbClr val="EF6A5B"/>
                </a:solidFill>
                <a:latin typeface="Aptos Display"/>
                <a:ea typeface="Aptos Display"/>
                <a:cs typeface="Aptos Display"/>
              </a:rPr>
              <a:t>WRONG</a:t>
            </a:r>
          </a:p>
        </p:txBody>
      </p:sp>
      <p:sp>
        <p:nvSpPr>
          <p:cNvPr id="8" name="wrong-all-rows">
            <a:extLst>
              <a:ext uri="{FF2B5EF4-FFF2-40B4-BE49-F238E27FC236}">
                <a16:creationId xmlns:a16="http://schemas.microsoft.com/office/drawing/2014/main" id="{0000000B-0008-4000-8000-000000000000}"/>
              </a:ext>
            </a:extLst>
          </p:cNvPr>
          <p:cNvSpPr>
            <a:spLocks noGrp="1"/>
          </p:cNvSpPr>
          <p:nvPr/>
        </p:nvSpPr>
        <p:spPr>
          <a:xfrm>
            <a:off x="2190750" y="1638300"/>
            <a:ext cx="2381250" cy="685800"/>
          </a:xfrm>
          <a:prstGeom prst="rect">
            <a:avLst/>
          </a:prstGeom>
          <a:solidFill>
            <a:srgbClr val="F8DDD7"/>
          </a:solidFill>
          <a:ln w="19050">
            <a:solidFill>
              <a:srgbClr val="EF6A5B"/>
            </a:solidFill>
            <a:prstDash val="solid"/>
          </a:ln>
        </p:spPr>
        <p:txBody>
          <a:bodyPr anchor="ctr"/>
          <a:lstStyle/>
          <a:p>
            <a:pPr algn="ctr">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all rows</a:t>
            </a:r>
          </a:p>
        </p:txBody>
      </p:sp>
      <p:sp>
        <p:nvSpPr>
          <p:cNvPr id="9" name="wrong-fit">
            <a:extLst>
              <a:ext uri="{FF2B5EF4-FFF2-40B4-BE49-F238E27FC236}">
                <a16:creationId xmlns:a16="http://schemas.microsoft.com/office/drawing/2014/main" id="{0000000B-0009-4000-8000-000000000000}"/>
              </a:ext>
            </a:extLst>
          </p:cNvPr>
          <p:cNvSpPr>
            <a:spLocks noGrp="1"/>
          </p:cNvSpPr>
          <p:nvPr/>
        </p:nvSpPr>
        <p:spPr>
          <a:xfrm>
            <a:off x="5715000" y="1638300"/>
            <a:ext cx="2381250" cy="685800"/>
          </a:xfrm>
          <a:prstGeom prst="rect">
            <a:avLst/>
          </a:prstGeom>
          <a:solidFill>
            <a:srgbClr val="F8DDD7"/>
          </a:solidFill>
          <a:ln w="19050">
            <a:solidFill>
              <a:srgbClr val="EF6A5B"/>
            </a:solidFill>
            <a:prstDash val="solid"/>
          </a:ln>
        </p:spPr>
        <p:txBody>
          <a:bodyPr anchor="ctr"/>
          <a:lstStyle/>
          <a:p>
            <a:pPr algn="ctr">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fit scaler</a:t>
            </a:r>
          </a:p>
        </p:txBody>
      </p:sp>
      <p:sp>
        <p:nvSpPr>
          <p:cNvPr id="10" name="wrong-split">
            <a:extLst>
              <a:ext uri="{FF2B5EF4-FFF2-40B4-BE49-F238E27FC236}">
                <a16:creationId xmlns:a16="http://schemas.microsoft.com/office/drawing/2014/main" id="{0000000B-000A-4000-8000-000000000000}"/>
              </a:ext>
            </a:extLst>
          </p:cNvPr>
          <p:cNvSpPr>
            <a:spLocks noGrp="1"/>
          </p:cNvSpPr>
          <p:nvPr/>
        </p:nvSpPr>
        <p:spPr>
          <a:xfrm>
            <a:off x="9239250" y="1638300"/>
            <a:ext cx="2190750" cy="685800"/>
          </a:xfrm>
          <a:prstGeom prst="rect">
            <a:avLst/>
          </a:prstGeom>
          <a:solidFill>
            <a:srgbClr val="F8DDD7"/>
          </a:solidFill>
          <a:ln w="19050">
            <a:solidFill>
              <a:srgbClr val="EF6A5B"/>
            </a:solidFill>
            <a:prstDash val="solid"/>
          </a:ln>
        </p:spPr>
        <p:txBody>
          <a:bodyPr anchor="ctr"/>
          <a:lstStyle/>
          <a:p>
            <a:pPr algn="ctr">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split</a:t>
            </a:r>
          </a:p>
        </p:txBody>
      </p:sp>
      <p:cxnSp>
        <p:nvCxnSpPr>
          <p:cNvPr id="33" name="Straight Arrow Connector 32"/>
          <p:cNvCxnSpPr>
            <a:stCxn id="8" idx="3"/>
            <a:endCxn id="9" idx="1"/>
          </p:cNvCxnSpPr>
          <p:nvPr/>
        </p:nvCxnSpPr>
        <p:spPr>
          <a:xfrm>
            <a:off x="4572000" y="1981200"/>
            <a:ext cx="1143000" cy="0"/>
          </a:xfrm>
          <a:prstGeom prst="straightConnector1">
            <a:avLst/>
          </a:prstGeom>
          <a:ln w="38100">
            <a:solidFill>
              <a:srgbClr val="EF6A5B"/>
            </a:solidFill>
            <a:prstDash val="solid"/>
            <a:tailEnd type="arrow" w="med" len="med"/>
          </a:ln>
        </p:spPr>
      </p:cxnSp>
      <p:cxnSp>
        <p:nvCxnSpPr>
          <p:cNvPr id="34" name="Straight Arrow Connector 33"/>
          <p:cNvCxnSpPr>
            <a:stCxn id="9" idx="3"/>
            <a:endCxn id="10" idx="1"/>
          </p:cNvCxnSpPr>
          <p:nvPr/>
        </p:nvCxnSpPr>
        <p:spPr>
          <a:xfrm>
            <a:off x="8096250" y="1981200"/>
            <a:ext cx="1143000" cy="0"/>
          </a:xfrm>
          <a:prstGeom prst="straightConnector1">
            <a:avLst/>
          </a:prstGeom>
          <a:ln w="38100">
            <a:solidFill>
              <a:srgbClr val="EF6A5B"/>
            </a:solidFill>
            <a:prstDash val="solid"/>
            <a:tailEnd type="arrow" w="med" len="med"/>
          </a:ln>
        </p:spPr>
      </p:cxnSp>
      <p:sp>
        <p:nvSpPr>
          <p:cNvPr id="13" name="Rectangle 12">
            <a:extLst>
              <a:ext uri="{FF2B5EF4-FFF2-40B4-BE49-F238E27FC236}">
                <a16:creationId xmlns:a16="http://schemas.microsoft.com/office/drawing/2014/main" id="{0000000B-000B-4000-8000-000000000000}"/>
              </a:ext>
            </a:extLst>
          </p:cNvPr>
          <p:cNvSpPr>
            <a:spLocks noGrp="1"/>
          </p:cNvSpPr>
          <p:nvPr/>
        </p:nvSpPr>
        <p:spPr>
          <a:xfrm>
            <a:off x="2190750" y="2495550"/>
            <a:ext cx="9239250" cy="323850"/>
          </a:xfrm>
          <a:prstGeom prst="rect">
            <a:avLst/>
          </a:prstGeom>
          <a:noFill/>
          <a:ln w="0">
            <a:noFill/>
            <a:prstDash val="solid"/>
          </a:ln>
        </p:spPr>
        <p:txBody>
          <a:bodyPr wrap="square" lIns="0" tIns="0" rIns="0" bIns="0" anchor="ctr">
            <a:normAutofit/>
          </a:bodyPr>
          <a:lstStyle/>
          <a:p>
            <a:pPr algn="l">
              <a:lnSpc>
                <a:spcPct val="100000"/>
              </a:lnSpc>
              <a:buNone/>
              <a:defRPr sz="1800" b="1">
                <a:solidFill>
                  <a:srgbClr val="EF6A5B"/>
                </a:solidFill>
                <a:latin typeface="Aptos Display"/>
                <a:ea typeface="Aptos Display"/>
                <a:cs typeface="Aptos Display"/>
              </a:defRPr>
            </a:pPr>
            <a:r>
              <a:rPr sz="1800" b="1">
                <a:solidFill>
                  <a:srgbClr val="EF6A5B"/>
                </a:solidFill>
                <a:latin typeface="Aptos Display"/>
                <a:ea typeface="Aptos Display"/>
                <a:cs typeface="Aptos Display"/>
              </a:rPr>
              <a:t>Holdout statistics already influenced the scaler.</a:t>
            </a:r>
          </a:p>
        </p:txBody>
      </p:sp>
      <p:sp>
        <p:nvSpPr>
          <p:cNvPr id="14" name="Rectangle 13">
            <a:extLst>
              <a:ext uri="{FF2B5EF4-FFF2-40B4-BE49-F238E27FC236}">
                <a16:creationId xmlns:a16="http://schemas.microsoft.com/office/drawing/2014/main" id="{0000000B-000C-4000-8000-000000000000}"/>
              </a:ext>
            </a:extLst>
          </p:cNvPr>
          <p:cNvSpPr>
            <a:spLocks noGrp="1"/>
          </p:cNvSpPr>
          <p:nvPr/>
        </p:nvSpPr>
        <p:spPr>
          <a:xfrm>
            <a:off x="742950" y="3105150"/>
            <a:ext cx="10668000" cy="19050"/>
          </a:xfrm>
          <a:prstGeom prst="rect">
            <a:avLst/>
          </a:prstGeom>
          <a:solidFill>
            <a:srgbClr val="DCEAE4"/>
          </a:solidFill>
          <a:ln w="0">
            <a:solidFill>
              <a:srgbClr val="DCEAE4"/>
            </a:solidFill>
            <a:prstDash val="solid"/>
          </a:ln>
        </p:spPr>
        <p:txBody>
          <a:bodyPr/>
          <a:lstStyle/>
          <a:p>
            <a:endParaRPr lang="en-US"/>
          </a:p>
        </p:txBody>
      </p:sp>
      <p:sp>
        <p:nvSpPr>
          <p:cNvPr id="15" name="Rectangle 14">
            <a:extLst>
              <a:ext uri="{FF2B5EF4-FFF2-40B4-BE49-F238E27FC236}">
                <a16:creationId xmlns:a16="http://schemas.microsoft.com/office/drawing/2014/main" id="{0000000B-000D-4000-8000-000000000000}"/>
              </a:ext>
            </a:extLst>
          </p:cNvPr>
          <p:cNvSpPr>
            <a:spLocks noGrp="1"/>
          </p:cNvSpPr>
          <p:nvPr/>
        </p:nvSpPr>
        <p:spPr>
          <a:xfrm>
            <a:off x="742950" y="3467100"/>
            <a:ext cx="1143000" cy="323850"/>
          </a:xfrm>
          <a:prstGeom prst="rect">
            <a:avLst/>
          </a:prstGeom>
          <a:noFill/>
          <a:ln w="0">
            <a:noFill/>
            <a:prstDash val="solid"/>
          </a:ln>
        </p:spPr>
        <p:txBody>
          <a:bodyPr wrap="square" lIns="0" tIns="0" rIns="0" bIns="0" anchor="ctr">
            <a:normAutofit/>
          </a:bodyPr>
          <a:lstStyle/>
          <a:p>
            <a:pPr algn="l">
              <a:lnSpc>
                <a:spcPct val="100000"/>
              </a:lnSpc>
              <a:buNone/>
              <a:defRPr sz="1500" b="1">
                <a:solidFill>
                  <a:srgbClr val="007C7A"/>
                </a:solidFill>
                <a:latin typeface="Aptos Display"/>
                <a:ea typeface="Aptos Display"/>
                <a:cs typeface="Aptos Display"/>
              </a:defRPr>
            </a:pPr>
            <a:r>
              <a:rPr sz="1500" b="1">
                <a:solidFill>
                  <a:srgbClr val="007C7A"/>
                </a:solidFill>
                <a:latin typeface="Aptos Display"/>
                <a:ea typeface="Aptos Display"/>
                <a:cs typeface="Aptos Display"/>
              </a:rPr>
              <a:t>RIGHT</a:t>
            </a:r>
          </a:p>
        </p:txBody>
      </p:sp>
      <p:sp>
        <p:nvSpPr>
          <p:cNvPr id="16" name="right-split">
            <a:extLst>
              <a:ext uri="{FF2B5EF4-FFF2-40B4-BE49-F238E27FC236}">
                <a16:creationId xmlns:a16="http://schemas.microsoft.com/office/drawing/2014/main" id="{0000000B-000E-4000-8000-000000000000}"/>
              </a:ext>
            </a:extLst>
          </p:cNvPr>
          <p:cNvSpPr>
            <a:spLocks noGrp="1"/>
          </p:cNvSpPr>
          <p:nvPr/>
        </p:nvSpPr>
        <p:spPr>
          <a:xfrm>
            <a:off x="2190750" y="3352800"/>
            <a:ext cx="2381250" cy="685800"/>
          </a:xfrm>
          <a:prstGeom prst="rect">
            <a:avLst/>
          </a:prstGeom>
          <a:solidFill>
            <a:srgbClr val="FFFFFF"/>
          </a:solidFill>
          <a:ln w="28575">
            <a:solidFill>
              <a:srgbClr val="007C7A"/>
            </a:solidFill>
            <a:prstDash val="solid"/>
          </a:ln>
        </p:spPr>
        <p:txBody>
          <a:bodyPr anchor="ctr"/>
          <a:lstStyle/>
          <a:p>
            <a:pPr algn="ctr">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split</a:t>
            </a:r>
          </a:p>
        </p:txBody>
      </p:sp>
      <p:sp>
        <p:nvSpPr>
          <p:cNvPr id="17" name="right-fit">
            <a:extLst>
              <a:ext uri="{FF2B5EF4-FFF2-40B4-BE49-F238E27FC236}">
                <a16:creationId xmlns:a16="http://schemas.microsoft.com/office/drawing/2014/main" id="{0000000B-000F-4000-8000-000000000000}"/>
              </a:ext>
            </a:extLst>
          </p:cNvPr>
          <p:cNvSpPr>
            <a:spLocks noGrp="1"/>
          </p:cNvSpPr>
          <p:nvPr/>
        </p:nvSpPr>
        <p:spPr>
          <a:xfrm>
            <a:off x="5715000" y="3352800"/>
            <a:ext cx="2381250" cy="685800"/>
          </a:xfrm>
          <a:prstGeom prst="rect">
            <a:avLst/>
          </a:prstGeom>
          <a:solidFill>
            <a:srgbClr val="FFFFFF"/>
          </a:solidFill>
          <a:ln w="28575">
            <a:solidFill>
              <a:srgbClr val="007C7A"/>
            </a:solidFill>
            <a:prstDash val="solid"/>
          </a:ln>
        </p:spPr>
        <p:txBody>
          <a:bodyPr anchor="ctr"/>
          <a:lstStyle/>
          <a:p>
            <a:pPr algn="ctr">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fit on train</a:t>
            </a:r>
          </a:p>
        </p:txBody>
      </p:sp>
      <p:sp>
        <p:nvSpPr>
          <p:cNvPr id="18" name="right-transform">
            <a:extLst>
              <a:ext uri="{FF2B5EF4-FFF2-40B4-BE49-F238E27FC236}">
                <a16:creationId xmlns:a16="http://schemas.microsoft.com/office/drawing/2014/main" id="{0000000B-0010-4000-8000-000000000000}"/>
              </a:ext>
            </a:extLst>
          </p:cNvPr>
          <p:cNvSpPr>
            <a:spLocks noGrp="1"/>
          </p:cNvSpPr>
          <p:nvPr/>
        </p:nvSpPr>
        <p:spPr>
          <a:xfrm>
            <a:off x="9239250" y="3352800"/>
            <a:ext cx="2190750" cy="685800"/>
          </a:xfrm>
          <a:prstGeom prst="rect">
            <a:avLst/>
          </a:prstGeom>
          <a:solidFill>
            <a:srgbClr val="007C7A"/>
          </a:solidFill>
          <a:ln w="28575">
            <a:solidFill>
              <a:srgbClr val="007C7A"/>
            </a:solidFill>
            <a:prstDash val="solid"/>
          </a:ln>
        </p:spPr>
        <p:txBody>
          <a:bodyPr anchor="ctr">
            <a:normAutofit fontScale="96296"/>
          </a:bodyPr>
          <a:lstStyle/>
          <a:p>
            <a:pPr algn="ctr">
              <a:defRPr sz="2025" b="1">
                <a:solidFill>
                  <a:srgbClr val="FFFFFF"/>
                </a:solidFill>
                <a:latin typeface="Aptos Display"/>
                <a:ea typeface="Aptos Display"/>
                <a:cs typeface="Aptos Display"/>
              </a:defRPr>
            </a:pPr>
            <a:r>
              <a:rPr sz="2025" b="1">
                <a:solidFill>
                  <a:srgbClr val="FFFFFF"/>
                </a:solidFill>
                <a:latin typeface="Aptos Display"/>
                <a:ea typeface="Aptos Display"/>
                <a:cs typeface="Aptos Display"/>
              </a:rPr>
              <a:t>transform holdout</a:t>
            </a:r>
          </a:p>
        </p:txBody>
      </p:sp>
      <p:cxnSp>
        <p:nvCxnSpPr>
          <p:cNvPr id="41" name="Straight Arrow Connector 40"/>
          <p:cNvCxnSpPr>
            <a:stCxn id="16" idx="3"/>
            <a:endCxn id="17" idx="1"/>
          </p:cNvCxnSpPr>
          <p:nvPr/>
        </p:nvCxnSpPr>
        <p:spPr>
          <a:xfrm>
            <a:off x="4572000" y="3695700"/>
            <a:ext cx="1143000" cy="0"/>
          </a:xfrm>
          <a:prstGeom prst="straightConnector1">
            <a:avLst/>
          </a:prstGeom>
          <a:ln w="38100">
            <a:solidFill>
              <a:srgbClr val="007C7A"/>
            </a:solidFill>
            <a:prstDash val="solid"/>
            <a:tailEnd type="arrow" w="med" len="med"/>
          </a:ln>
        </p:spPr>
      </p:cxnSp>
      <p:cxnSp>
        <p:nvCxnSpPr>
          <p:cNvPr id="42" name="Straight Arrow Connector 41"/>
          <p:cNvCxnSpPr>
            <a:stCxn id="17" idx="3"/>
            <a:endCxn id="18" idx="1"/>
          </p:cNvCxnSpPr>
          <p:nvPr/>
        </p:nvCxnSpPr>
        <p:spPr>
          <a:xfrm>
            <a:off x="8096250" y="3695700"/>
            <a:ext cx="1143000" cy="0"/>
          </a:xfrm>
          <a:prstGeom prst="straightConnector1">
            <a:avLst/>
          </a:prstGeom>
          <a:ln w="38100">
            <a:solidFill>
              <a:srgbClr val="007C7A"/>
            </a:solidFill>
            <a:prstDash val="solid"/>
            <a:tailEnd type="arrow" w="med" len="med"/>
          </a:ln>
        </p:spPr>
      </p:cxnSp>
      <p:sp>
        <p:nvSpPr>
          <p:cNvPr id="21" name="Rectangle 20">
            <a:extLst>
              <a:ext uri="{FF2B5EF4-FFF2-40B4-BE49-F238E27FC236}">
                <a16:creationId xmlns:a16="http://schemas.microsoft.com/office/drawing/2014/main" id="{0000000B-0011-4000-8000-000000000000}"/>
              </a:ext>
            </a:extLst>
          </p:cNvPr>
          <p:cNvSpPr>
            <a:spLocks noGrp="1"/>
          </p:cNvSpPr>
          <p:nvPr/>
        </p:nvSpPr>
        <p:spPr>
          <a:xfrm>
            <a:off x="2190750" y="4229100"/>
            <a:ext cx="9239250" cy="323850"/>
          </a:xfrm>
          <a:prstGeom prst="rect">
            <a:avLst/>
          </a:prstGeom>
          <a:noFill/>
          <a:ln w="0">
            <a:noFill/>
            <a:prstDash val="solid"/>
          </a:ln>
        </p:spPr>
        <p:txBody>
          <a:bodyPr wrap="square" lIns="0" tIns="0" rIns="0" bIns="0" anchor="ctr">
            <a:normAutofit/>
          </a:bodyPr>
          <a:lstStyle/>
          <a:p>
            <a:pPr algn="l">
              <a:lnSpc>
                <a:spcPct val="100000"/>
              </a:lnSpc>
              <a:buNone/>
              <a:defRPr sz="1800" b="1">
                <a:solidFill>
                  <a:srgbClr val="007C7A"/>
                </a:solidFill>
                <a:latin typeface="Aptos Display"/>
                <a:ea typeface="Aptos Display"/>
                <a:cs typeface="Aptos Display"/>
              </a:defRPr>
            </a:pPr>
            <a:r>
              <a:rPr sz="1800" b="1">
                <a:solidFill>
                  <a:srgbClr val="007C7A"/>
                </a:solidFill>
                <a:latin typeface="Aptos Display"/>
                <a:ea typeface="Aptos Display"/>
                <a:cs typeface="Aptos Display"/>
              </a:rPr>
              <a:t>The holdout stays unseen until transformation.</a:t>
            </a:r>
          </a:p>
        </p:txBody>
      </p:sp>
      <p:sp>
        <p:nvSpPr>
          <p:cNvPr id="22" name="Rectangle 21">
            <a:extLst>
              <a:ext uri="{FF2B5EF4-FFF2-40B4-BE49-F238E27FC236}">
                <a16:creationId xmlns:a16="http://schemas.microsoft.com/office/drawing/2014/main" id="{0000000B-0012-4000-8000-000000000000}"/>
              </a:ext>
            </a:extLst>
          </p:cNvPr>
          <p:cNvSpPr>
            <a:spLocks noGrp="1"/>
          </p:cNvSpPr>
          <p:nvPr/>
        </p:nvSpPr>
        <p:spPr>
          <a:xfrm>
            <a:off x="1790700" y="5257800"/>
            <a:ext cx="8610600" cy="495300"/>
          </a:xfrm>
          <a:prstGeom prst="rect">
            <a:avLst/>
          </a:prstGeom>
          <a:noFill/>
          <a:ln w="0">
            <a:noFill/>
            <a:prstDash val="solid"/>
          </a:ln>
        </p:spPr>
        <p:txBody>
          <a:bodyPr wrap="square" lIns="0" tIns="0" rIns="0" bIns="0" anchor="ctr">
            <a:normAutofit fontScale="92527"/>
          </a:bodyPr>
          <a:lstStyle/>
          <a:p>
            <a:pPr algn="ctr">
              <a:lnSpc>
                <a:spcPct val="100000"/>
              </a:lnSpc>
              <a:buNone/>
              <a:defRPr sz="2400" b="1">
                <a:solidFill>
                  <a:srgbClr val="17343A"/>
                </a:solidFill>
                <a:latin typeface="Aptos Display"/>
                <a:ea typeface="Aptos Display"/>
                <a:cs typeface="Aptos Display"/>
              </a:defRPr>
            </a:pPr>
            <a:r>
              <a:rPr sz="2400" b="1">
                <a:solidFill>
                  <a:srgbClr val="17343A"/>
                </a:solidFill>
                <a:latin typeface="Aptos Display"/>
                <a:ea typeface="Aptos Display"/>
                <a:cs typeface="Aptos Display"/>
              </a:rPr>
              <a:t>Even target-free holdout summaries leak information.</a:t>
            </a:r>
          </a:p>
        </p:txBody>
      </p:sp>
    </p:spTree>
    <p:extLst>
      <p:ext uri="{BB962C8B-B14F-4D97-AF65-F5344CB8AC3E}">
        <p14:creationId xmlns:p14="http://schemas.microsoft.com/office/powerpoint/2010/main" val="1100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000000C-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0C-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a:solidFill>
                  <a:srgbClr val="007C7A"/>
                </a:solidFill>
                <a:latin typeface="Aptos Display"/>
                <a:ea typeface="Aptos Display"/>
                <a:cs typeface="Aptos Display"/>
              </a:rPr>
              <a:t>FITTED PARAMETERS</a:t>
            </a:r>
          </a:p>
        </p:txBody>
      </p:sp>
      <p:sp>
        <p:nvSpPr>
          <p:cNvPr id="3" name="Rectangle 2">
            <a:extLst>
              <a:ext uri="{FF2B5EF4-FFF2-40B4-BE49-F238E27FC236}">
                <a16:creationId xmlns:a16="http://schemas.microsoft.com/office/drawing/2014/main" id="{0000000C-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fontScale="97168"/>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Transformations learn from training data</a:t>
            </a:r>
          </a:p>
        </p:txBody>
      </p:sp>
      <p:sp>
        <p:nvSpPr>
          <p:cNvPr id="4" name="Rectangle 3">
            <a:extLst>
              <a:ext uri="{FF2B5EF4-FFF2-40B4-BE49-F238E27FC236}">
                <a16:creationId xmlns:a16="http://schemas.microsoft.com/office/drawing/2014/main" id="{0000000C-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fontScale="84822" lnSpcReduction="10000"/>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112–125 min</a:t>
            </a:r>
          </a:p>
        </p:txBody>
      </p:sp>
      <p:sp>
        <p:nvSpPr>
          <p:cNvPr id="5" name="Rectangle 4">
            <a:extLst>
              <a:ext uri="{FF2B5EF4-FFF2-40B4-BE49-F238E27FC236}">
                <a16:creationId xmlns:a16="http://schemas.microsoft.com/office/drawing/2014/main" id="{0000000C-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0C-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12</a:t>
            </a:r>
          </a:p>
        </p:txBody>
      </p:sp>
      <p:sp>
        <p:nvSpPr>
          <p:cNvPr id="7" name="training-hub">
            <a:extLst>
              <a:ext uri="{FF2B5EF4-FFF2-40B4-BE49-F238E27FC236}">
                <a16:creationId xmlns:a16="http://schemas.microsoft.com/office/drawing/2014/main" id="{0000000C-0007-4000-8000-000000000000}"/>
              </a:ext>
            </a:extLst>
          </p:cNvPr>
          <p:cNvSpPr>
            <a:spLocks noGrp="1"/>
          </p:cNvSpPr>
          <p:nvPr/>
        </p:nvSpPr>
        <p:spPr>
          <a:xfrm>
            <a:off x="4762500" y="2647950"/>
            <a:ext cx="2095500" cy="2095500"/>
          </a:xfrm>
          <a:prstGeom prst="ellipse">
            <a:avLst/>
          </a:prstGeom>
          <a:solidFill>
            <a:srgbClr val="007C7A"/>
          </a:solidFill>
          <a:ln w="0">
            <a:noFill/>
            <a:prstDash val="solid"/>
          </a:ln>
        </p:spPr>
        <p:txBody>
          <a:bodyPr/>
          <a:lstStyle/>
          <a:p>
            <a:endParaRPr lang="en-US"/>
          </a:p>
        </p:txBody>
      </p:sp>
      <p:sp>
        <p:nvSpPr>
          <p:cNvPr id="8" name="Rectangle 7">
            <a:extLst>
              <a:ext uri="{FF2B5EF4-FFF2-40B4-BE49-F238E27FC236}">
                <a16:creationId xmlns:a16="http://schemas.microsoft.com/office/drawing/2014/main" id="{0000000C-0008-4000-8000-000000000000}"/>
              </a:ext>
            </a:extLst>
          </p:cNvPr>
          <p:cNvSpPr>
            <a:spLocks noGrp="1"/>
          </p:cNvSpPr>
          <p:nvPr/>
        </p:nvSpPr>
        <p:spPr>
          <a:xfrm>
            <a:off x="4762500" y="3286124"/>
            <a:ext cx="2095500" cy="714375"/>
          </a:xfrm>
          <a:prstGeom prst="rect">
            <a:avLst/>
          </a:prstGeom>
          <a:noFill/>
          <a:ln w="0">
            <a:noFill/>
            <a:prstDash val="solid"/>
          </a:ln>
        </p:spPr>
        <p:txBody>
          <a:bodyPr wrap="square" lIns="0" tIns="0" rIns="0" bIns="0" anchor="ctr">
            <a:normAutofit/>
          </a:bodyPr>
          <a:lstStyle/>
          <a:p>
            <a:pPr algn="ctr">
              <a:lnSpc>
                <a:spcPct val="100000"/>
              </a:lnSpc>
              <a:buNone/>
              <a:defRPr sz="3300" b="1">
                <a:solidFill>
                  <a:srgbClr val="FFFFFF"/>
                </a:solidFill>
                <a:latin typeface="Aptos Mono"/>
                <a:ea typeface="Aptos Mono"/>
                <a:cs typeface="Aptos Mono"/>
              </a:defRPr>
            </a:pPr>
            <a:r>
              <a:rPr lang="en-US" sz="3300" b="1">
                <a:solidFill>
                  <a:srgbClr val="FFFFFF"/>
                </a:solidFill>
                <a:latin typeface="Aptos Mono"/>
                <a:ea typeface="Aptos Mono"/>
                <a:cs typeface="Aptos Mono"/>
              </a:rPr>
              <a:t>X_train</a:t>
            </a:r>
          </a:p>
        </p:txBody>
      </p:sp>
      <p:sp>
        <p:nvSpPr>
          <p:cNvPr id="9" name="Rectangle 8">
            <a:extLst>
              <a:ext uri="{FF2B5EF4-FFF2-40B4-BE49-F238E27FC236}">
                <a16:creationId xmlns:a16="http://schemas.microsoft.com/office/drawing/2014/main" id="{0000000C-0009-4000-8000-000000000000}"/>
              </a:ext>
            </a:extLst>
          </p:cNvPr>
          <p:cNvSpPr>
            <a:spLocks noGrp="1"/>
          </p:cNvSpPr>
          <p:nvPr/>
        </p:nvSpPr>
        <p:spPr>
          <a:xfrm>
            <a:off x="4762500" y="3886200"/>
            <a:ext cx="2095500" cy="323850"/>
          </a:xfrm>
          <a:prstGeom prst="rect">
            <a:avLst/>
          </a:prstGeom>
          <a:noFill/>
          <a:ln w="0">
            <a:noFill/>
            <a:prstDash val="solid"/>
          </a:ln>
        </p:spPr>
        <p:txBody>
          <a:bodyPr wrap="square" lIns="0" tIns="0" rIns="0" bIns="0" anchor="ctr">
            <a:normAutofit/>
          </a:bodyPr>
          <a:lstStyle/>
          <a:p>
            <a:pPr algn="ctr">
              <a:lnSpc>
                <a:spcPct val="100000"/>
              </a:lnSpc>
              <a:buNone/>
              <a:defRPr sz="1650" b="1">
                <a:solidFill>
                  <a:srgbClr val="DCEAE4"/>
                </a:solidFill>
                <a:latin typeface="Aptos Display"/>
                <a:ea typeface="Aptos Display"/>
                <a:cs typeface="Aptos Display"/>
              </a:defRPr>
            </a:pPr>
            <a:r>
              <a:rPr sz="1650" b="1">
                <a:solidFill>
                  <a:srgbClr val="DCEAE4"/>
                </a:solidFill>
                <a:latin typeface="Aptos Display"/>
                <a:ea typeface="Aptos Display"/>
                <a:cs typeface="Aptos Display"/>
              </a:rPr>
              <a:t>fit here</a:t>
            </a:r>
          </a:p>
        </p:txBody>
      </p:sp>
      <p:sp>
        <p:nvSpPr>
          <p:cNvPr id="10" name="median-parameter">
            <a:extLst>
              <a:ext uri="{FF2B5EF4-FFF2-40B4-BE49-F238E27FC236}">
                <a16:creationId xmlns:a16="http://schemas.microsoft.com/office/drawing/2014/main" id="{0000000C-000A-4000-8000-000000000000}"/>
              </a:ext>
            </a:extLst>
          </p:cNvPr>
          <p:cNvSpPr>
            <a:spLocks noGrp="1"/>
          </p:cNvSpPr>
          <p:nvPr/>
        </p:nvSpPr>
        <p:spPr>
          <a:xfrm>
            <a:off x="819150" y="2152650"/>
            <a:ext cx="2609850" cy="933450"/>
          </a:xfrm>
          <a:prstGeom prst="rect">
            <a:avLst/>
          </a:prstGeom>
          <a:solidFill>
            <a:srgbClr val="FFFFFF"/>
          </a:solidFill>
          <a:ln w="19050">
            <a:solidFill>
              <a:srgbClr val="DCEAE4"/>
            </a:solidFill>
            <a:prstDash val="solid"/>
          </a:ln>
        </p:spPr>
        <p:txBody>
          <a:bodyPr lIns="76200" tIns="76200" rIns="76200" bIns="76200" anchor="ctr">
            <a:normAutofit fontScale="98611"/>
          </a:bodyPr>
          <a:lstStyle/>
          <a:p>
            <a:pPr algn="ctr">
              <a:defRPr sz="1875" b="1">
                <a:solidFill>
                  <a:srgbClr val="17343A"/>
                </a:solidFill>
                <a:latin typeface="Aptos Display"/>
                <a:ea typeface="Aptos Display"/>
                <a:cs typeface="Aptos Display"/>
              </a:defRPr>
            </a:pPr>
            <a:r>
              <a:rPr sz="1875" b="1">
                <a:solidFill>
                  <a:srgbClr val="17343A"/>
                </a:solidFill>
                <a:latin typeface="Aptos Display"/>
                <a:ea typeface="Aptos Display"/>
                <a:cs typeface="Aptos Display"/>
              </a:rPr>
              <a:t>MEDIAN</a:t>
            </a:r>
          </a:p>
          <a:p>
            <a:pPr algn="ctr">
              <a:defRPr sz="1875" b="1">
                <a:solidFill>
                  <a:srgbClr val="17343A"/>
                </a:solidFill>
                <a:latin typeface="Aptos Display"/>
                <a:ea typeface="Aptos Display"/>
                <a:cs typeface="Aptos Display"/>
              </a:defRPr>
            </a:pPr>
            <a:r>
              <a:rPr sz="1875" b="1">
                <a:solidFill>
                  <a:srgbClr val="17343A"/>
                </a:solidFill>
                <a:latin typeface="Aptos Display"/>
                <a:ea typeface="Aptos Display"/>
                <a:cs typeface="Aptos Display"/>
              </a:rPr>
              <a:t>missing numeric values</a:t>
            </a:r>
          </a:p>
        </p:txBody>
      </p:sp>
      <p:sp>
        <p:nvSpPr>
          <p:cNvPr id="11" name="scale-parameters">
            <a:extLst>
              <a:ext uri="{FF2B5EF4-FFF2-40B4-BE49-F238E27FC236}">
                <a16:creationId xmlns:a16="http://schemas.microsoft.com/office/drawing/2014/main" id="{0000000C-000B-4000-8000-000000000000}"/>
              </a:ext>
            </a:extLst>
          </p:cNvPr>
          <p:cNvSpPr>
            <a:spLocks noGrp="1"/>
          </p:cNvSpPr>
          <p:nvPr/>
        </p:nvSpPr>
        <p:spPr>
          <a:xfrm>
            <a:off x="819150" y="3943350"/>
            <a:ext cx="2609850" cy="933450"/>
          </a:xfrm>
          <a:prstGeom prst="rect">
            <a:avLst/>
          </a:prstGeom>
          <a:solidFill>
            <a:srgbClr val="FFFFFF"/>
          </a:solidFill>
          <a:ln w="19050">
            <a:solidFill>
              <a:srgbClr val="DCEAE4"/>
            </a:solidFill>
            <a:prstDash val="solid"/>
          </a:ln>
        </p:spPr>
        <p:txBody>
          <a:bodyPr lIns="76200" tIns="76200" rIns="76200" bIns="76200" anchor="ctr">
            <a:normAutofit/>
          </a:bodyPr>
          <a:lstStyle/>
          <a:p>
            <a:pPr algn="ctr">
              <a:defRPr sz="1875" b="1">
                <a:solidFill>
                  <a:srgbClr val="17343A"/>
                </a:solidFill>
                <a:latin typeface="Aptos Display"/>
                <a:ea typeface="Aptos Display"/>
                <a:cs typeface="Aptos Display"/>
              </a:defRPr>
            </a:pPr>
            <a:r>
              <a:rPr sz="1875" b="1">
                <a:solidFill>
                  <a:srgbClr val="17343A"/>
                </a:solidFill>
                <a:latin typeface="Aptos Display"/>
                <a:ea typeface="Aptos Display"/>
                <a:cs typeface="Aptos Display"/>
              </a:rPr>
              <a:t>MEAN + STD</a:t>
            </a:r>
          </a:p>
          <a:p>
            <a:pPr algn="ctr">
              <a:defRPr sz="1875" b="1">
                <a:solidFill>
                  <a:srgbClr val="17343A"/>
                </a:solidFill>
                <a:latin typeface="Aptos Display"/>
                <a:ea typeface="Aptos Display"/>
                <a:cs typeface="Aptos Display"/>
              </a:defRPr>
            </a:pPr>
            <a:r>
              <a:rPr sz="1875" b="1">
                <a:solidFill>
                  <a:srgbClr val="17343A"/>
                </a:solidFill>
                <a:latin typeface="Aptos Display"/>
                <a:ea typeface="Aptos Display"/>
                <a:cs typeface="Aptos Display"/>
              </a:rPr>
              <a:t>standardization</a:t>
            </a:r>
          </a:p>
        </p:txBody>
      </p:sp>
      <p:sp>
        <p:nvSpPr>
          <p:cNvPr id="12" name="vocabulary-parameter">
            <a:extLst>
              <a:ext uri="{FF2B5EF4-FFF2-40B4-BE49-F238E27FC236}">
                <a16:creationId xmlns:a16="http://schemas.microsoft.com/office/drawing/2014/main" id="{0000000C-000C-4000-8000-000000000000}"/>
              </a:ext>
            </a:extLst>
          </p:cNvPr>
          <p:cNvSpPr>
            <a:spLocks noGrp="1"/>
          </p:cNvSpPr>
          <p:nvPr/>
        </p:nvSpPr>
        <p:spPr>
          <a:xfrm>
            <a:off x="8724900" y="3028950"/>
            <a:ext cx="2667000" cy="1047750"/>
          </a:xfrm>
          <a:prstGeom prst="rect">
            <a:avLst/>
          </a:prstGeom>
          <a:solidFill>
            <a:srgbClr val="FFFFFF"/>
          </a:solidFill>
          <a:ln w="19050">
            <a:solidFill>
              <a:srgbClr val="DCEAE4"/>
            </a:solidFill>
            <a:prstDash val="solid"/>
          </a:ln>
        </p:spPr>
        <p:txBody>
          <a:bodyPr lIns="76200" tIns="76200" rIns="76200" bIns="76200" anchor="ctr">
            <a:normAutofit/>
          </a:bodyPr>
          <a:lstStyle/>
          <a:p>
            <a:pPr algn="ctr">
              <a:defRPr sz="1875" b="1">
                <a:solidFill>
                  <a:srgbClr val="17343A"/>
                </a:solidFill>
                <a:latin typeface="Aptos Display"/>
                <a:ea typeface="Aptos Display"/>
                <a:cs typeface="Aptos Display"/>
              </a:defRPr>
            </a:pPr>
            <a:r>
              <a:rPr sz="1875" b="1">
                <a:solidFill>
                  <a:srgbClr val="17343A"/>
                </a:solidFill>
                <a:latin typeface="Aptos Display"/>
                <a:ea typeface="Aptos Display"/>
                <a:cs typeface="Aptos Display"/>
              </a:rPr>
              <a:t>CATEGORY VOCABULARY</a:t>
            </a:r>
          </a:p>
          <a:p>
            <a:pPr algn="ctr">
              <a:defRPr sz="1875" b="1">
                <a:solidFill>
                  <a:srgbClr val="17343A"/>
                </a:solidFill>
                <a:latin typeface="Aptos Display"/>
                <a:ea typeface="Aptos Display"/>
                <a:cs typeface="Aptos Display"/>
              </a:defRPr>
            </a:pPr>
            <a:r>
              <a:rPr sz="1875" b="1">
                <a:solidFill>
                  <a:srgbClr val="17343A"/>
                </a:solidFill>
                <a:latin typeface="Aptos Display"/>
                <a:ea typeface="Aptos Display"/>
                <a:cs typeface="Aptos Display"/>
              </a:rPr>
              <a:t>one-hot encoding</a:t>
            </a:r>
          </a:p>
        </p:txBody>
      </p:sp>
      <p:cxnSp>
        <p:nvCxnSpPr>
          <p:cNvPr id="31" name="Straight Arrow Connector 30"/>
          <p:cNvCxnSpPr>
            <a:stCxn id="7" idx="2"/>
            <a:endCxn id="10" idx="3"/>
          </p:cNvCxnSpPr>
          <p:nvPr/>
        </p:nvCxnSpPr>
        <p:spPr>
          <a:xfrm flipH="1" flipV="1">
            <a:off x="3429000" y="2619375"/>
            <a:ext cx="1333500" cy="1076325"/>
          </a:xfrm>
          <a:prstGeom prst="straightConnector1">
            <a:avLst/>
          </a:prstGeom>
          <a:ln w="28575">
            <a:solidFill>
              <a:srgbClr val="007C7A"/>
            </a:solidFill>
            <a:prstDash val="solid"/>
            <a:tailEnd type="arrow" w="med" len="med"/>
          </a:ln>
        </p:spPr>
      </p:cxnSp>
      <p:cxnSp>
        <p:nvCxnSpPr>
          <p:cNvPr id="32" name="Straight Arrow Connector 31"/>
          <p:cNvCxnSpPr>
            <a:stCxn id="7" idx="2"/>
            <a:endCxn id="11" idx="3"/>
          </p:cNvCxnSpPr>
          <p:nvPr/>
        </p:nvCxnSpPr>
        <p:spPr>
          <a:xfrm flipH="1">
            <a:off x="3429000" y="3695700"/>
            <a:ext cx="1333500" cy="714375"/>
          </a:xfrm>
          <a:prstGeom prst="straightConnector1">
            <a:avLst/>
          </a:prstGeom>
          <a:ln w="28575">
            <a:solidFill>
              <a:srgbClr val="007C7A"/>
            </a:solidFill>
            <a:prstDash val="solid"/>
            <a:tailEnd type="arrow" w="med" len="med"/>
          </a:ln>
        </p:spPr>
      </p:cxnSp>
      <p:cxnSp>
        <p:nvCxnSpPr>
          <p:cNvPr id="33" name="Straight Arrow Connector 32"/>
          <p:cNvCxnSpPr>
            <a:stCxn id="7" idx="6"/>
            <a:endCxn id="12" idx="1"/>
          </p:cNvCxnSpPr>
          <p:nvPr/>
        </p:nvCxnSpPr>
        <p:spPr>
          <a:xfrm flipV="1">
            <a:off x="6858000" y="3552825"/>
            <a:ext cx="1866900" cy="142875"/>
          </a:xfrm>
          <a:prstGeom prst="straightConnector1">
            <a:avLst/>
          </a:prstGeom>
          <a:ln w="28575">
            <a:solidFill>
              <a:srgbClr val="007C7A"/>
            </a:solidFill>
            <a:prstDash val="solid"/>
            <a:tailEnd type="arrow" w="med" len="med"/>
          </a:ln>
        </p:spPr>
      </p:cxnSp>
      <p:sp>
        <p:nvSpPr>
          <p:cNvPr id="16" name="Rectangle 15">
            <a:extLst>
              <a:ext uri="{FF2B5EF4-FFF2-40B4-BE49-F238E27FC236}">
                <a16:creationId xmlns:a16="http://schemas.microsoft.com/office/drawing/2014/main" id="{0000000C-000D-4000-8000-000000000000}"/>
              </a:ext>
            </a:extLst>
          </p:cNvPr>
          <p:cNvSpPr>
            <a:spLocks noGrp="1"/>
          </p:cNvSpPr>
          <p:nvPr/>
        </p:nvSpPr>
        <p:spPr>
          <a:xfrm>
            <a:off x="3905250" y="1809750"/>
            <a:ext cx="3810000" cy="400050"/>
          </a:xfrm>
          <a:prstGeom prst="rect">
            <a:avLst/>
          </a:prstGeom>
          <a:noFill/>
          <a:ln w="0">
            <a:noFill/>
            <a:prstDash val="solid"/>
          </a:ln>
        </p:spPr>
        <p:txBody>
          <a:bodyPr wrap="square" lIns="0" tIns="0" rIns="0" bIns="0" anchor="ctr">
            <a:normAutofit fontScale="97238"/>
          </a:bodyPr>
          <a:lstStyle/>
          <a:p>
            <a:pPr algn="ctr">
              <a:lnSpc>
                <a:spcPct val="100000"/>
              </a:lnSpc>
              <a:buNone/>
              <a:defRPr sz="2250" b="1">
                <a:solidFill>
                  <a:srgbClr val="EF6A5B"/>
                </a:solidFill>
                <a:latin typeface="Aptos Display"/>
                <a:ea typeface="Aptos Display"/>
                <a:cs typeface="Aptos Display"/>
              </a:defRPr>
            </a:pPr>
            <a:r>
              <a:rPr sz="2250" b="1">
                <a:solidFill>
                  <a:srgbClr val="EF6A5B"/>
                </a:solidFill>
                <a:latin typeface="Aptos Display"/>
                <a:ea typeface="Aptos Display"/>
                <a:cs typeface="Aptos Display"/>
              </a:rPr>
              <a:t>These are fitted parameters.</a:t>
            </a:r>
          </a:p>
        </p:txBody>
      </p:sp>
      <p:sp>
        <p:nvSpPr>
          <p:cNvPr id="17" name="Rectangle 16">
            <a:extLst>
              <a:ext uri="{FF2B5EF4-FFF2-40B4-BE49-F238E27FC236}">
                <a16:creationId xmlns:a16="http://schemas.microsoft.com/office/drawing/2014/main" id="{0000000C-000E-4000-8000-000000000000}"/>
              </a:ext>
            </a:extLst>
          </p:cNvPr>
          <p:cNvSpPr>
            <a:spLocks noGrp="1"/>
          </p:cNvSpPr>
          <p:nvPr/>
        </p:nvSpPr>
        <p:spPr>
          <a:xfrm>
            <a:off x="2362200" y="5372100"/>
            <a:ext cx="7467600" cy="381000"/>
          </a:xfrm>
          <a:prstGeom prst="rect">
            <a:avLst/>
          </a:prstGeom>
          <a:noFill/>
          <a:ln w="0">
            <a:noFill/>
            <a:prstDash val="solid"/>
          </a:ln>
        </p:spPr>
        <p:txBody>
          <a:bodyPr wrap="square" lIns="0" tIns="0" rIns="0" bIns="0" anchor="ctr">
            <a:normAutofit/>
          </a:bodyPr>
          <a:lstStyle/>
          <a:p>
            <a:pPr algn="ctr">
              <a:lnSpc>
                <a:spcPct val="100000"/>
              </a:lnSpc>
              <a:buNone/>
              <a:defRPr sz="2250" b="1">
                <a:solidFill>
                  <a:srgbClr val="17343A"/>
                </a:solidFill>
                <a:latin typeface="Aptos Mono"/>
                <a:ea typeface="Aptos Mono"/>
                <a:cs typeface="Aptos Mono"/>
              </a:defRPr>
            </a:pPr>
            <a:r>
              <a:rPr sz="2250" b="1" dirty="0">
                <a:solidFill>
                  <a:srgbClr val="17343A"/>
                </a:solidFill>
                <a:latin typeface="Aptos Mono"/>
                <a:ea typeface="Aptos Mono"/>
                <a:cs typeface="Aptos Mono"/>
              </a:rPr>
              <a:t>z = (x − </a:t>
            </a:r>
            <a:r>
              <a:rPr sz="2250" b="1" dirty="0" err="1">
                <a:solidFill>
                  <a:srgbClr val="17343A"/>
                </a:solidFill>
                <a:latin typeface="Aptos Mono"/>
                <a:ea typeface="Aptos Mono"/>
                <a:cs typeface="Aptos Mono"/>
              </a:rPr>
              <a:t>mean_train</a:t>
            </a:r>
            <a:r>
              <a:rPr sz="2250" b="1" dirty="0">
                <a:solidFill>
                  <a:srgbClr val="17343A"/>
                </a:solidFill>
                <a:latin typeface="Aptos Mono"/>
                <a:ea typeface="Aptos Mono"/>
                <a:cs typeface="Aptos Mono"/>
              </a:rPr>
              <a:t>) / </a:t>
            </a:r>
            <a:r>
              <a:rPr sz="2250" b="1" dirty="0" err="1">
                <a:solidFill>
                  <a:srgbClr val="17343A"/>
                </a:solidFill>
                <a:latin typeface="Aptos Mono"/>
                <a:ea typeface="Aptos Mono"/>
                <a:cs typeface="Aptos Mono"/>
              </a:rPr>
              <a:t>std_train</a:t>
            </a:r>
            <a:endParaRPr sz="2250" b="1" dirty="0">
              <a:solidFill>
                <a:srgbClr val="17343A"/>
              </a:solidFill>
              <a:latin typeface="Aptos Mono"/>
              <a:ea typeface="Aptos Mono"/>
              <a:cs typeface="Aptos Mono"/>
            </a:endParaRPr>
          </a:p>
        </p:txBody>
      </p:sp>
      <p:sp>
        <p:nvSpPr>
          <p:cNvPr id="18" name="Rectangle 17">
            <a:extLst>
              <a:ext uri="{FF2B5EF4-FFF2-40B4-BE49-F238E27FC236}">
                <a16:creationId xmlns:a16="http://schemas.microsoft.com/office/drawing/2014/main" id="{0000000C-000F-4000-8000-000000000000}"/>
              </a:ext>
            </a:extLst>
          </p:cNvPr>
          <p:cNvSpPr>
            <a:spLocks noGrp="1"/>
          </p:cNvSpPr>
          <p:nvPr/>
        </p:nvSpPr>
        <p:spPr>
          <a:xfrm>
            <a:off x="2190750" y="5867400"/>
            <a:ext cx="7810500" cy="285750"/>
          </a:xfrm>
          <a:prstGeom prst="rect">
            <a:avLst/>
          </a:prstGeom>
          <a:noFill/>
          <a:ln w="0">
            <a:noFill/>
            <a:prstDash val="solid"/>
          </a:ln>
        </p:spPr>
        <p:txBody>
          <a:bodyPr wrap="square" lIns="0" tIns="0" rIns="0" bIns="0" anchor="ctr">
            <a:normAutofit/>
          </a:bodyPr>
          <a:lstStyle/>
          <a:p>
            <a:pPr algn="ctr">
              <a:lnSpc>
                <a:spcPct val="100000"/>
              </a:lnSpc>
              <a:buNone/>
              <a:defRPr sz="1650" b="0">
                <a:solidFill>
                  <a:srgbClr val="5E6F72"/>
                </a:solidFill>
                <a:latin typeface="Aptos"/>
                <a:ea typeface="Aptos"/>
                <a:cs typeface="Aptos"/>
              </a:defRPr>
            </a:pPr>
            <a:r>
              <a:rPr sz="1650" b="0">
                <a:solidFill>
                  <a:srgbClr val="5E6F72"/>
                </a:solidFill>
                <a:latin typeface="Aptos"/>
                <a:ea typeface="Aptos"/>
                <a:cs typeface="Aptos"/>
              </a:rPr>
              <a:t>Not a normality claim. Not guaranteed within [−1, 1].</a:t>
            </a:r>
          </a:p>
        </p:txBody>
      </p:sp>
    </p:spTree>
    <p:extLst>
      <p:ext uri="{BB962C8B-B14F-4D97-AF65-F5344CB8AC3E}">
        <p14:creationId xmlns:p14="http://schemas.microsoft.com/office/powerpoint/2010/main" val="1200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000000D-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0D-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a:solidFill>
                  <a:srgbClr val="007C7A"/>
                </a:solidFill>
                <a:latin typeface="Aptos Display"/>
                <a:ea typeface="Aptos Display"/>
                <a:cs typeface="Aptos Display"/>
              </a:rPr>
              <a:t>PIPELINES</a:t>
            </a:r>
          </a:p>
        </p:txBody>
      </p:sp>
      <p:sp>
        <p:nvSpPr>
          <p:cNvPr id="3" name="Rectangle 2">
            <a:extLst>
              <a:ext uri="{FF2B5EF4-FFF2-40B4-BE49-F238E27FC236}">
                <a16:creationId xmlns:a16="http://schemas.microsoft.com/office/drawing/2014/main" id="{0000000D-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fontScale="95507"/>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Two pipelines produce one feature matrix</a:t>
            </a:r>
          </a:p>
        </p:txBody>
      </p:sp>
      <p:sp>
        <p:nvSpPr>
          <p:cNvPr id="4" name="Rectangle 3">
            <a:extLst>
              <a:ext uri="{FF2B5EF4-FFF2-40B4-BE49-F238E27FC236}">
                <a16:creationId xmlns:a16="http://schemas.microsoft.com/office/drawing/2014/main" id="{0000000D-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fontScale="92322" lnSpcReduction="20000"/>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125–138 min</a:t>
            </a:r>
          </a:p>
        </p:txBody>
      </p:sp>
      <p:sp>
        <p:nvSpPr>
          <p:cNvPr id="5" name="Rectangle 4">
            <a:extLst>
              <a:ext uri="{FF2B5EF4-FFF2-40B4-BE49-F238E27FC236}">
                <a16:creationId xmlns:a16="http://schemas.microsoft.com/office/drawing/2014/main" id="{0000000D-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0D-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13</a:t>
            </a:r>
          </a:p>
        </p:txBody>
      </p:sp>
      <p:sp>
        <p:nvSpPr>
          <p:cNvPr id="7" name="Rectangle 6">
            <a:extLst>
              <a:ext uri="{FF2B5EF4-FFF2-40B4-BE49-F238E27FC236}">
                <a16:creationId xmlns:a16="http://schemas.microsoft.com/office/drawing/2014/main" id="{0000000D-0007-4000-8000-000000000000}"/>
              </a:ext>
            </a:extLst>
          </p:cNvPr>
          <p:cNvSpPr>
            <a:spLocks noGrp="1"/>
          </p:cNvSpPr>
          <p:nvPr/>
        </p:nvSpPr>
        <p:spPr>
          <a:xfrm>
            <a:off x="742950" y="1619250"/>
            <a:ext cx="3048000" cy="323850"/>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007C7A"/>
                </a:solidFill>
                <a:latin typeface="Aptos Mono"/>
                <a:ea typeface="Aptos Mono"/>
                <a:cs typeface="Aptos Mono"/>
              </a:defRPr>
            </a:pPr>
            <a:r>
              <a:rPr sz="1650" b="1">
                <a:solidFill>
                  <a:srgbClr val="007C7A"/>
                </a:solidFill>
                <a:latin typeface="Aptos Mono"/>
                <a:ea typeface="Aptos Mono"/>
                <a:cs typeface="Aptos Mono"/>
              </a:rPr>
              <a:t>ColumnTransformer</a:t>
            </a:r>
          </a:p>
        </p:txBody>
      </p:sp>
      <p:sp>
        <p:nvSpPr>
          <p:cNvPr id="8" name="Rectangle 7">
            <a:extLst>
              <a:ext uri="{FF2B5EF4-FFF2-40B4-BE49-F238E27FC236}">
                <a16:creationId xmlns:a16="http://schemas.microsoft.com/office/drawing/2014/main" id="{0000000D-0008-4000-8000-000000000000}"/>
              </a:ext>
            </a:extLst>
          </p:cNvPr>
          <p:cNvSpPr>
            <a:spLocks noGrp="1"/>
          </p:cNvSpPr>
          <p:nvPr/>
        </p:nvSpPr>
        <p:spPr>
          <a:xfrm>
            <a:off x="742950" y="2419350"/>
            <a:ext cx="1238250" cy="285750"/>
          </a:xfrm>
          <a:prstGeom prst="rect">
            <a:avLst/>
          </a:prstGeom>
          <a:noFill/>
          <a:ln w="0">
            <a:noFill/>
            <a:prstDash val="solid"/>
          </a:ln>
        </p:spPr>
        <p:txBody>
          <a:bodyPr wrap="square" lIns="0" tIns="0" rIns="0" bIns="0" anchor="ctr">
            <a:normAutofit/>
          </a:bodyPr>
          <a:lstStyle/>
          <a:p>
            <a:pPr algn="l">
              <a:lnSpc>
                <a:spcPct val="100000"/>
              </a:lnSpc>
              <a:buNone/>
              <a:defRPr sz="1350" b="1">
                <a:solidFill>
                  <a:srgbClr val="007C7A"/>
                </a:solidFill>
                <a:latin typeface="Aptos Display"/>
                <a:ea typeface="Aptos Display"/>
                <a:cs typeface="Aptos Display"/>
              </a:defRPr>
            </a:pPr>
            <a:r>
              <a:rPr sz="1350" b="1">
                <a:solidFill>
                  <a:srgbClr val="007C7A"/>
                </a:solidFill>
                <a:latin typeface="Aptos Display"/>
                <a:ea typeface="Aptos Display"/>
                <a:cs typeface="Aptos Display"/>
              </a:rPr>
              <a:t>NUMERIC</a:t>
            </a:r>
          </a:p>
        </p:txBody>
      </p:sp>
      <p:sp>
        <p:nvSpPr>
          <p:cNvPr id="9" name="numeric-input">
            <a:extLst>
              <a:ext uri="{FF2B5EF4-FFF2-40B4-BE49-F238E27FC236}">
                <a16:creationId xmlns:a16="http://schemas.microsoft.com/office/drawing/2014/main" id="{0000000D-0009-4000-8000-000000000000}"/>
              </a:ext>
            </a:extLst>
          </p:cNvPr>
          <p:cNvSpPr>
            <a:spLocks noGrp="1"/>
          </p:cNvSpPr>
          <p:nvPr/>
        </p:nvSpPr>
        <p:spPr>
          <a:xfrm>
            <a:off x="2095500" y="2190750"/>
            <a:ext cx="1809750" cy="742950"/>
          </a:xfrm>
          <a:prstGeom prst="rect">
            <a:avLst/>
          </a:prstGeom>
          <a:solidFill>
            <a:srgbClr val="FFFFFF"/>
          </a:solidFill>
          <a:ln w="19050">
            <a:solidFill>
              <a:srgbClr val="007C7A"/>
            </a:solidFill>
            <a:prstDash val="solid"/>
          </a:ln>
        </p:spPr>
        <p:txBody>
          <a:bodyPr anchor="ctr"/>
          <a:lstStyle/>
          <a:p>
            <a:pPr algn="ctr">
              <a:defRPr sz="1875" b="1">
                <a:solidFill>
                  <a:srgbClr val="17343A"/>
                </a:solidFill>
                <a:latin typeface="Aptos Display"/>
                <a:ea typeface="Aptos Display"/>
                <a:cs typeface="Aptos Display"/>
              </a:defRPr>
            </a:pPr>
            <a:r>
              <a:rPr sz="1875" b="1">
                <a:solidFill>
                  <a:srgbClr val="17343A"/>
                </a:solidFill>
                <a:latin typeface="Aptos Display"/>
                <a:ea typeface="Aptos Display"/>
                <a:cs typeface="Aptos Display"/>
              </a:rPr>
              <a:t>numeric columns</a:t>
            </a:r>
          </a:p>
        </p:txBody>
      </p:sp>
      <p:sp>
        <p:nvSpPr>
          <p:cNvPr id="10" name="numeric-median">
            <a:extLst>
              <a:ext uri="{FF2B5EF4-FFF2-40B4-BE49-F238E27FC236}">
                <a16:creationId xmlns:a16="http://schemas.microsoft.com/office/drawing/2014/main" id="{0000000D-000A-4000-8000-000000000000}"/>
              </a:ext>
            </a:extLst>
          </p:cNvPr>
          <p:cNvSpPr>
            <a:spLocks noGrp="1"/>
          </p:cNvSpPr>
          <p:nvPr/>
        </p:nvSpPr>
        <p:spPr>
          <a:xfrm>
            <a:off x="4762500" y="2190750"/>
            <a:ext cx="1619250" cy="742950"/>
          </a:xfrm>
          <a:prstGeom prst="rect">
            <a:avLst/>
          </a:prstGeom>
          <a:solidFill>
            <a:srgbClr val="DCEAE4"/>
          </a:solidFill>
          <a:ln w="19050">
            <a:solidFill>
              <a:srgbClr val="DCEAE4"/>
            </a:solidFill>
            <a:prstDash val="solid"/>
          </a:ln>
        </p:spPr>
        <p:txBody>
          <a:bodyPr anchor="ctr"/>
          <a:lstStyle/>
          <a:p>
            <a:pPr algn="ctr">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median</a:t>
            </a:r>
          </a:p>
        </p:txBody>
      </p:sp>
      <p:sp>
        <p:nvSpPr>
          <p:cNvPr id="11" name="numeric-scale">
            <a:extLst>
              <a:ext uri="{FF2B5EF4-FFF2-40B4-BE49-F238E27FC236}">
                <a16:creationId xmlns:a16="http://schemas.microsoft.com/office/drawing/2014/main" id="{0000000D-000B-4000-8000-000000000000}"/>
              </a:ext>
            </a:extLst>
          </p:cNvPr>
          <p:cNvSpPr>
            <a:spLocks noGrp="1"/>
          </p:cNvSpPr>
          <p:nvPr/>
        </p:nvSpPr>
        <p:spPr>
          <a:xfrm>
            <a:off x="7239000" y="2190750"/>
            <a:ext cx="1809750" cy="742950"/>
          </a:xfrm>
          <a:prstGeom prst="rect">
            <a:avLst/>
          </a:prstGeom>
          <a:solidFill>
            <a:srgbClr val="DCEAE4"/>
          </a:solidFill>
          <a:ln w="19050">
            <a:solidFill>
              <a:srgbClr val="DCEAE4"/>
            </a:solidFill>
            <a:prstDash val="solid"/>
          </a:ln>
        </p:spPr>
        <p:txBody>
          <a:bodyPr anchor="ctr"/>
          <a:lstStyle/>
          <a:p>
            <a:pPr algn="ctr">
              <a:defRPr sz="2025" b="1">
                <a:solidFill>
                  <a:srgbClr val="17343A"/>
                </a:solidFill>
                <a:latin typeface="Aptos Display"/>
                <a:ea typeface="Aptos Display"/>
                <a:cs typeface="Aptos Display"/>
              </a:defRPr>
            </a:pPr>
            <a:r>
              <a:rPr sz="2025" b="1">
                <a:solidFill>
                  <a:srgbClr val="17343A"/>
                </a:solidFill>
                <a:latin typeface="Aptos Display"/>
                <a:ea typeface="Aptos Display"/>
                <a:cs typeface="Aptos Display"/>
              </a:rPr>
              <a:t>standardize</a:t>
            </a:r>
          </a:p>
        </p:txBody>
      </p:sp>
      <p:sp>
        <p:nvSpPr>
          <p:cNvPr id="12" name="Rectangle 11">
            <a:extLst>
              <a:ext uri="{FF2B5EF4-FFF2-40B4-BE49-F238E27FC236}">
                <a16:creationId xmlns:a16="http://schemas.microsoft.com/office/drawing/2014/main" id="{0000000D-000C-4000-8000-000000000000}"/>
              </a:ext>
            </a:extLst>
          </p:cNvPr>
          <p:cNvSpPr>
            <a:spLocks noGrp="1"/>
          </p:cNvSpPr>
          <p:nvPr/>
        </p:nvSpPr>
        <p:spPr>
          <a:xfrm>
            <a:off x="742950" y="3924300"/>
            <a:ext cx="1238250" cy="285750"/>
          </a:xfrm>
          <a:prstGeom prst="rect">
            <a:avLst/>
          </a:prstGeom>
          <a:noFill/>
          <a:ln w="0">
            <a:noFill/>
            <a:prstDash val="solid"/>
          </a:ln>
        </p:spPr>
        <p:txBody>
          <a:bodyPr wrap="square" lIns="0" tIns="0" rIns="0" bIns="0" anchor="ctr">
            <a:normAutofit fontScale="93142"/>
          </a:bodyPr>
          <a:lstStyle/>
          <a:p>
            <a:pPr algn="l">
              <a:lnSpc>
                <a:spcPct val="100000"/>
              </a:lnSpc>
              <a:buNone/>
              <a:defRPr sz="1350" b="1">
                <a:solidFill>
                  <a:srgbClr val="EF6A5B"/>
                </a:solidFill>
                <a:latin typeface="Aptos Display"/>
                <a:ea typeface="Aptos Display"/>
                <a:cs typeface="Aptos Display"/>
              </a:defRPr>
            </a:pPr>
            <a:r>
              <a:rPr sz="1350" b="1">
                <a:solidFill>
                  <a:srgbClr val="EF6A5B"/>
                </a:solidFill>
                <a:latin typeface="Aptos Display"/>
                <a:ea typeface="Aptos Display"/>
                <a:cs typeface="Aptos Display"/>
              </a:rPr>
              <a:t>CATEGORICAL</a:t>
            </a:r>
          </a:p>
        </p:txBody>
      </p:sp>
      <p:sp>
        <p:nvSpPr>
          <p:cNvPr id="13" name="categorical-input">
            <a:extLst>
              <a:ext uri="{FF2B5EF4-FFF2-40B4-BE49-F238E27FC236}">
                <a16:creationId xmlns:a16="http://schemas.microsoft.com/office/drawing/2014/main" id="{0000000D-000D-4000-8000-000000000000}"/>
              </a:ext>
            </a:extLst>
          </p:cNvPr>
          <p:cNvSpPr>
            <a:spLocks noGrp="1"/>
          </p:cNvSpPr>
          <p:nvPr/>
        </p:nvSpPr>
        <p:spPr>
          <a:xfrm>
            <a:off x="2095500" y="3695700"/>
            <a:ext cx="1809750" cy="742950"/>
          </a:xfrm>
          <a:prstGeom prst="rect">
            <a:avLst/>
          </a:prstGeom>
          <a:solidFill>
            <a:srgbClr val="FFFFFF"/>
          </a:solidFill>
          <a:ln w="19050">
            <a:solidFill>
              <a:srgbClr val="EF6A5B"/>
            </a:solidFill>
            <a:prstDash val="solid"/>
          </a:ln>
        </p:spPr>
        <p:txBody>
          <a:bodyPr anchor="ctr">
            <a:normAutofit/>
          </a:bodyPr>
          <a:lstStyle/>
          <a:p>
            <a:pPr algn="ctr">
              <a:defRPr sz="1800" b="1">
                <a:solidFill>
                  <a:srgbClr val="17343A"/>
                </a:solidFill>
                <a:latin typeface="Aptos Display"/>
                <a:ea typeface="Aptos Display"/>
                <a:cs typeface="Aptos Display"/>
              </a:defRPr>
            </a:pPr>
            <a:r>
              <a:rPr sz="1800" b="1">
                <a:solidFill>
                  <a:srgbClr val="17343A"/>
                </a:solidFill>
                <a:latin typeface="Aptos Display"/>
                <a:ea typeface="Aptos Display"/>
                <a:cs typeface="Aptos Display"/>
              </a:rPr>
              <a:t>categorical columns</a:t>
            </a:r>
          </a:p>
        </p:txBody>
      </p:sp>
      <p:sp>
        <p:nvSpPr>
          <p:cNvPr id="14" name="categorical-mode">
            <a:extLst>
              <a:ext uri="{FF2B5EF4-FFF2-40B4-BE49-F238E27FC236}">
                <a16:creationId xmlns:a16="http://schemas.microsoft.com/office/drawing/2014/main" id="{0000000D-000E-4000-8000-000000000000}"/>
              </a:ext>
            </a:extLst>
          </p:cNvPr>
          <p:cNvSpPr>
            <a:spLocks noGrp="1"/>
          </p:cNvSpPr>
          <p:nvPr/>
        </p:nvSpPr>
        <p:spPr>
          <a:xfrm>
            <a:off x="4762500" y="3695700"/>
            <a:ext cx="1619250" cy="742950"/>
          </a:xfrm>
          <a:prstGeom prst="rect">
            <a:avLst/>
          </a:prstGeom>
          <a:solidFill>
            <a:srgbClr val="F8DDD7"/>
          </a:solidFill>
          <a:ln w="19050">
            <a:solidFill>
              <a:srgbClr val="F8DDD7"/>
            </a:solidFill>
            <a:prstDash val="solid"/>
          </a:ln>
        </p:spPr>
        <p:txBody>
          <a:bodyPr anchor="ctr"/>
          <a:lstStyle/>
          <a:p>
            <a:pPr algn="ctr">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mode</a:t>
            </a:r>
          </a:p>
        </p:txBody>
      </p:sp>
      <p:sp>
        <p:nvSpPr>
          <p:cNvPr id="15" name="categorical-onehot">
            <a:extLst>
              <a:ext uri="{FF2B5EF4-FFF2-40B4-BE49-F238E27FC236}">
                <a16:creationId xmlns:a16="http://schemas.microsoft.com/office/drawing/2014/main" id="{0000000D-000F-4000-8000-000000000000}"/>
              </a:ext>
            </a:extLst>
          </p:cNvPr>
          <p:cNvSpPr>
            <a:spLocks noGrp="1"/>
          </p:cNvSpPr>
          <p:nvPr/>
        </p:nvSpPr>
        <p:spPr>
          <a:xfrm>
            <a:off x="7239000" y="3695700"/>
            <a:ext cx="1809750" cy="742950"/>
          </a:xfrm>
          <a:prstGeom prst="rect">
            <a:avLst/>
          </a:prstGeom>
          <a:solidFill>
            <a:srgbClr val="F8DDD7"/>
          </a:solidFill>
          <a:ln w="19050">
            <a:solidFill>
              <a:srgbClr val="F8DDD7"/>
            </a:solidFill>
            <a:prstDash val="solid"/>
          </a:ln>
        </p:spPr>
        <p:txBody>
          <a:bodyPr anchor="ctr"/>
          <a:lstStyle/>
          <a:p>
            <a:pPr algn="ctr">
              <a:defRPr sz="2025" b="1">
                <a:solidFill>
                  <a:srgbClr val="17343A"/>
                </a:solidFill>
                <a:latin typeface="Aptos Display"/>
                <a:ea typeface="Aptos Display"/>
                <a:cs typeface="Aptos Display"/>
              </a:defRPr>
            </a:pPr>
            <a:r>
              <a:rPr sz="2025" b="1">
                <a:solidFill>
                  <a:srgbClr val="17343A"/>
                </a:solidFill>
                <a:latin typeface="Aptos Display"/>
                <a:ea typeface="Aptos Display"/>
                <a:cs typeface="Aptos Display"/>
              </a:rPr>
              <a:t>one-hot</a:t>
            </a:r>
          </a:p>
        </p:txBody>
      </p:sp>
      <p:sp>
        <p:nvSpPr>
          <p:cNvPr id="16" name="feature-matrix">
            <a:extLst>
              <a:ext uri="{FF2B5EF4-FFF2-40B4-BE49-F238E27FC236}">
                <a16:creationId xmlns:a16="http://schemas.microsoft.com/office/drawing/2014/main" id="{0000000D-0010-4000-8000-000000000000}"/>
              </a:ext>
            </a:extLst>
          </p:cNvPr>
          <p:cNvSpPr>
            <a:spLocks noGrp="1"/>
          </p:cNvSpPr>
          <p:nvPr/>
        </p:nvSpPr>
        <p:spPr>
          <a:xfrm>
            <a:off x="9810750" y="2667000"/>
            <a:ext cx="1619250" cy="1295400"/>
          </a:xfrm>
          <a:prstGeom prst="rect">
            <a:avLst/>
          </a:prstGeom>
          <a:solidFill>
            <a:srgbClr val="007C7A"/>
          </a:solidFill>
          <a:ln w="19050">
            <a:solidFill>
              <a:srgbClr val="007C7A"/>
            </a:solidFill>
            <a:prstDash val="solid"/>
          </a:ln>
        </p:spPr>
        <p:txBody>
          <a:bodyPr anchor="ctr"/>
          <a:lstStyle/>
          <a:p>
            <a:pPr algn="ctr">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FEATURE</a:t>
            </a:r>
          </a:p>
          <a:p>
            <a:pPr algn="ctr">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MATRIX</a:t>
            </a:r>
          </a:p>
        </p:txBody>
      </p:sp>
      <p:cxnSp>
        <p:nvCxnSpPr>
          <p:cNvPr id="40" name="Straight Arrow Connector 39"/>
          <p:cNvCxnSpPr>
            <a:stCxn id="9" idx="3"/>
            <a:endCxn id="10" idx="1"/>
          </p:cNvCxnSpPr>
          <p:nvPr/>
        </p:nvCxnSpPr>
        <p:spPr>
          <a:xfrm>
            <a:off x="3905250" y="2562225"/>
            <a:ext cx="857250" cy="0"/>
          </a:xfrm>
          <a:prstGeom prst="straightConnector1">
            <a:avLst/>
          </a:prstGeom>
          <a:ln w="28575">
            <a:solidFill>
              <a:srgbClr val="007C7A"/>
            </a:solidFill>
            <a:prstDash val="solid"/>
            <a:tailEnd type="arrow" w="med" len="med"/>
          </a:ln>
        </p:spPr>
      </p:cxnSp>
      <p:cxnSp>
        <p:nvCxnSpPr>
          <p:cNvPr id="41" name="Straight Arrow Connector 40"/>
          <p:cNvCxnSpPr>
            <a:stCxn id="10" idx="3"/>
            <a:endCxn id="11" idx="1"/>
          </p:cNvCxnSpPr>
          <p:nvPr/>
        </p:nvCxnSpPr>
        <p:spPr>
          <a:xfrm>
            <a:off x="6381750" y="2562225"/>
            <a:ext cx="857250" cy="0"/>
          </a:xfrm>
          <a:prstGeom prst="straightConnector1">
            <a:avLst/>
          </a:prstGeom>
          <a:ln w="28575">
            <a:solidFill>
              <a:srgbClr val="007C7A"/>
            </a:solidFill>
            <a:prstDash val="solid"/>
            <a:tailEnd type="arrow" w="med" len="med"/>
          </a:ln>
        </p:spPr>
      </p:cxnSp>
      <p:cxnSp>
        <p:nvCxnSpPr>
          <p:cNvPr id="42" name="Straight Arrow Connector 41"/>
          <p:cNvCxnSpPr>
            <a:stCxn id="13" idx="3"/>
            <a:endCxn id="14" idx="1"/>
          </p:cNvCxnSpPr>
          <p:nvPr/>
        </p:nvCxnSpPr>
        <p:spPr>
          <a:xfrm>
            <a:off x="3905250" y="4067175"/>
            <a:ext cx="857250" cy="0"/>
          </a:xfrm>
          <a:prstGeom prst="straightConnector1">
            <a:avLst/>
          </a:prstGeom>
          <a:ln w="28575">
            <a:solidFill>
              <a:srgbClr val="EF6A5B"/>
            </a:solidFill>
            <a:prstDash val="solid"/>
            <a:tailEnd type="arrow" w="med" len="med"/>
          </a:ln>
        </p:spPr>
      </p:cxnSp>
      <p:cxnSp>
        <p:nvCxnSpPr>
          <p:cNvPr id="43" name="Straight Arrow Connector 42"/>
          <p:cNvCxnSpPr>
            <a:stCxn id="14" idx="3"/>
            <a:endCxn id="15" idx="1"/>
          </p:cNvCxnSpPr>
          <p:nvPr/>
        </p:nvCxnSpPr>
        <p:spPr>
          <a:xfrm>
            <a:off x="6381750" y="4067175"/>
            <a:ext cx="857250" cy="0"/>
          </a:xfrm>
          <a:prstGeom prst="straightConnector1">
            <a:avLst/>
          </a:prstGeom>
          <a:ln w="28575">
            <a:solidFill>
              <a:srgbClr val="EF6A5B"/>
            </a:solidFill>
            <a:prstDash val="solid"/>
            <a:tailEnd type="arrow" w="med" len="med"/>
          </a:ln>
        </p:spPr>
      </p:cxnSp>
      <p:cxnSp>
        <p:nvCxnSpPr>
          <p:cNvPr id="44" name="Connector: Elbow 43"/>
          <p:cNvCxnSpPr>
            <a:stCxn id="11" idx="3"/>
            <a:endCxn id="16" idx="0"/>
          </p:cNvCxnSpPr>
          <p:nvPr/>
        </p:nvCxnSpPr>
        <p:spPr>
          <a:xfrm>
            <a:off x="9048750" y="2438400"/>
            <a:ext cx="1571625" cy="228600"/>
          </a:xfrm>
          <a:prstGeom prst="bentConnector4">
            <a:avLst/>
          </a:prstGeom>
          <a:ln w="28575">
            <a:solidFill>
              <a:srgbClr val="007C7A"/>
            </a:solidFill>
            <a:prstDash val="solid"/>
            <a:tailEnd type="arrow" w="med" len="med"/>
          </a:ln>
        </p:spPr>
      </p:cxnSp>
      <p:cxnSp>
        <p:nvCxnSpPr>
          <p:cNvPr id="45" name="Connector: Elbow 44"/>
          <p:cNvCxnSpPr>
            <a:stCxn id="15" idx="3"/>
            <a:endCxn id="16" idx="2"/>
          </p:cNvCxnSpPr>
          <p:nvPr/>
        </p:nvCxnSpPr>
        <p:spPr>
          <a:xfrm flipV="1">
            <a:off x="9048750" y="3962400"/>
            <a:ext cx="1571625" cy="228600"/>
          </a:xfrm>
          <a:prstGeom prst="bentConnector4">
            <a:avLst/>
          </a:prstGeom>
          <a:ln w="28575">
            <a:solidFill>
              <a:srgbClr val="EF6A5B"/>
            </a:solidFill>
            <a:prstDash val="solid"/>
            <a:tailEnd type="arrow" w="med" len="med"/>
          </a:ln>
        </p:spPr>
      </p:cxnSp>
      <p:sp>
        <p:nvSpPr>
          <p:cNvPr id="23" name="Rectangle 22">
            <a:extLst>
              <a:ext uri="{FF2B5EF4-FFF2-40B4-BE49-F238E27FC236}">
                <a16:creationId xmlns:a16="http://schemas.microsoft.com/office/drawing/2014/main" id="{0000000D-0011-4000-8000-000000000000}"/>
              </a:ext>
            </a:extLst>
          </p:cNvPr>
          <p:cNvSpPr>
            <a:spLocks noGrp="1"/>
          </p:cNvSpPr>
          <p:nvPr/>
        </p:nvSpPr>
        <p:spPr>
          <a:xfrm>
            <a:off x="2533650" y="5219700"/>
            <a:ext cx="7124700" cy="400050"/>
          </a:xfrm>
          <a:prstGeom prst="rect">
            <a:avLst/>
          </a:prstGeom>
          <a:noFill/>
          <a:ln w="0">
            <a:noFill/>
            <a:prstDash val="solid"/>
          </a:ln>
        </p:spPr>
        <p:txBody>
          <a:bodyPr wrap="square" lIns="0" tIns="0" rIns="0" bIns="0" anchor="ctr">
            <a:normAutofit/>
          </a:bodyPr>
          <a:lstStyle/>
          <a:p>
            <a:pPr algn="ctr">
              <a:lnSpc>
                <a:spcPct val="100000"/>
              </a:lnSpc>
              <a:buNone/>
              <a:defRPr sz="2100" b="1">
                <a:solidFill>
                  <a:srgbClr val="17343A"/>
                </a:solidFill>
                <a:latin typeface="Aptos Display"/>
                <a:ea typeface="Aptos Display"/>
                <a:cs typeface="Aptos Display"/>
              </a:defRPr>
            </a:pPr>
            <a:r>
              <a:rPr sz="2100" b="1">
                <a:solidFill>
                  <a:srgbClr val="17343A"/>
                </a:solidFill>
                <a:latin typeface="Aptos Display"/>
                <a:ea typeface="Aptos Display"/>
                <a:cs typeface="Aptos Display"/>
              </a:rPr>
              <a:t>Pipeline preserves sequence: fit → transform</a:t>
            </a:r>
          </a:p>
        </p:txBody>
      </p:sp>
    </p:spTree>
    <p:extLst>
      <p:ext uri="{BB962C8B-B14F-4D97-AF65-F5344CB8AC3E}">
        <p14:creationId xmlns:p14="http://schemas.microsoft.com/office/powerpoint/2010/main" val="1300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000000E-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0E-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a:solidFill>
                  <a:srgbClr val="007C7A"/>
                </a:solidFill>
                <a:latin typeface="Aptos Display"/>
                <a:ea typeface="Aptos Display"/>
                <a:cs typeface="Aptos Display"/>
              </a:rPr>
              <a:t>ENCODING</a:t>
            </a:r>
          </a:p>
        </p:txBody>
      </p:sp>
      <p:sp>
        <p:nvSpPr>
          <p:cNvPr id="3" name="Rectangle 2">
            <a:extLst>
              <a:ext uri="{FF2B5EF4-FFF2-40B4-BE49-F238E27FC236}">
                <a16:creationId xmlns:a16="http://schemas.microsoft.com/office/drawing/2014/main" id="{0000000E-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fontScale="97461"/>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One category can become many columns</a:t>
            </a:r>
          </a:p>
        </p:txBody>
      </p:sp>
      <p:sp>
        <p:nvSpPr>
          <p:cNvPr id="4" name="Rectangle 3">
            <a:extLst>
              <a:ext uri="{FF2B5EF4-FFF2-40B4-BE49-F238E27FC236}">
                <a16:creationId xmlns:a16="http://schemas.microsoft.com/office/drawing/2014/main" id="{0000000E-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fontScale="92322" lnSpcReduction="20000"/>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138–148 min</a:t>
            </a:r>
          </a:p>
        </p:txBody>
      </p:sp>
      <p:sp>
        <p:nvSpPr>
          <p:cNvPr id="5" name="Rectangle 4">
            <a:extLst>
              <a:ext uri="{FF2B5EF4-FFF2-40B4-BE49-F238E27FC236}">
                <a16:creationId xmlns:a16="http://schemas.microsoft.com/office/drawing/2014/main" id="{0000000E-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0E-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14</a:t>
            </a:r>
          </a:p>
        </p:txBody>
      </p:sp>
      <p:sp>
        <p:nvSpPr>
          <p:cNvPr id="7" name="Rectangle 6">
            <a:extLst>
              <a:ext uri="{FF2B5EF4-FFF2-40B4-BE49-F238E27FC236}">
                <a16:creationId xmlns:a16="http://schemas.microsoft.com/office/drawing/2014/main" id="{0000000E-0007-4000-8000-000000000000}"/>
              </a:ext>
            </a:extLst>
          </p:cNvPr>
          <p:cNvSpPr>
            <a:spLocks noGrp="1"/>
          </p:cNvSpPr>
          <p:nvPr/>
        </p:nvSpPr>
        <p:spPr>
          <a:xfrm>
            <a:off x="914400" y="1809750"/>
            <a:ext cx="1714500" cy="266700"/>
          </a:xfrm>
          <a:prstGeom prst="rect">
            <a:avLst/>
          </a:prstGeom>
          <a:noFill/>
          <a:ln w="0">
            <a:noFill/>
            <a:prstDash val="solid"/>
          </a:ln>
        </p:spPr>
        <p:txBody>
          <a:bodyPr wrap="square" lIns="0" tIns="0" rIns="0" bIns="0" anchor="ctr">
            <a:normAutofit/>
          </a:bodyPr>
          <a:lstStyle/>
          <a:p>
            <a:pPr algn="ctr">
              <a:lnSpc>
                <a:spcPct val="100000"/>
              </a:lnSpc>
              <a:buNone/>
              <a:defRPr sz="1350" b="1">
                <a:solidFill>
                  <a:srgbClr val="007C7A"/>
                </a:solidFill>
                <a:latin typeface="Aptos Display"/>
                <a:ea typeface="Aptos Display"/>
                <a:cs typeface="Aptos Display"/>
              </a:defRPr>
            </a:pPr>
            <a:r>
              <a:rPr sz="1350" b="1">
                <a:solidFill>
                  <a:srgbClr val="007C7A"/>
                </a:solidFill>
                <a:latin typeface="Aptos Display"/>
                <a:ea typeface="Aptos Display"/>
                <a:cs typeface="Aptos Display"/>
              </a:rPr>
              <a:t>INPUT</a:t>
            </a:r>
          </a:p>
        </p:txBody>
      </p:sp>
      <p:sp>
        <p:nvSpPr>
          <p:cNvPr id="8" name="category-input">
            <a:extLst>
              <a:ext uri="{FF2B5EF4-FFF2-40B4-BE49-F238E27FC236}">
                <a16:creationId xmlns:a16="http://schemas.microsoft.com/office/drawing/2014/main" id="{0000000E-0008-4000-8000-000000000000}"/>
              </a:ext>
            </a:extLst>
          </p:cNvPr>
          <p:cNvSpPr>
            <a:spLocks noGrp="1"/>
          </p:cNvSpPr>
          <p:nvPr/>
        </p:nvSpPr>
        <p:spPr>
          <a:xfrm>
            <a:off x="914400" y="2571750"/>
            <a:ext cx="2286000" cy="1257300"/>
          </a:xfrm>
          <a:prstGeom prst="rect">
            <a:avLst/>
          </a:prstGeom>
          <a:solidFill>
            <a:srgbClr val="FFFFFF"/>
          </a:solidFill>
          <a:ln w="28575">
            <a:solidFill>
              <a:srgbClr val="007C7A"/>
            </a:solidFill>
            <a:prstDash val="solid"/>
          </a:ln>
        </p:spPr>
        <p:txBody>
          <a:bodyPr anchor="ctr"/>
          <a:lstStyle/>
          <a:p>
            <a:pPr algn="ctr">
              <a:defRPr sz="2850" b="1">
                <a:solidFill>
                  <a:srgbClr val="17343A"/>
                </a:solidFill>
                <a:latin typeface="Aptos Mono"/>
                <a:ea typeface="Aptos Mono"/>
                <a:cs typeface="Aptos Mono"/>
              </a:defRPr>
            </a:pPr>
            <a:r>
              <a:rPr sz="2850" b="1">
                <a:solidFill>
                  <a:srgbClr val="17343A"/>
                </a:solidFill>
                <a:latin typeface="Aptos Mono"/>
                <a:ea typeface="Aptos Mono"/>
                <a:cs typeface="Aptos Mono"/>
              </a:rPr>
              <a:t>channel</a:t>
            </a:r>
          </a:p>
        </p:txBody>
      </p:sp>
      <p:sp>
        <p:nvSpPr>
          <p:cNvPr id="9" name="Rectangle 8">
            <a:extLst>
              <a:ext uri="{FF2B5EF4-FFF2-40B4-BE49-F238E27FC236}">
                <a16:creationId xmlns:a16="http://schemas.microsoft.com/office/drawing/2014/main" id="{0000000E-0009-4000-8000-000000000000}"/>
              </a:ext>
            </a:extLst>
          </p:cNvPr>
          <p:cNvSpPr>
            <a:spLocks noGrp="1"/>
          </p:cNvSpPr>
          <p:nvPr/>
        </p:nvSpPr>
        <p:spPr>
          <a:xfrm>
            <a:off x="914400" y="4000500"/>
            <a:ext cx="2286000" cy="323850"/>
          </a:xfrm>
          <a:prstGeom prst="rect">
            <a:avLst/>
          </a:prstGeom>
          <a:noFill/>
          <a:ln w="0">
            <a:noFill/>
            <a:prstDash val="solid"/>
          </a:ln>
        </p:spPr>
        <p:txBody>
          <a:bodyPr wrap="square" lIns="0" tIns="0" rIns="0" bIns="0" anchor="ctr">
            <a:normAutofit/>
          </a:bodyPr>
          <a:lstStyle/>
          <a:p>
            <a:pPr algn="ctr">
              <a:lnSpc>
                <a:spcPct val="100000"/>
              </a:lnSpc>
              <a:buNone/>
              <a:defRPr sz="1650" b="0">
                <a:solidFill>
                  <a:srgbClr val="5E6F72"/>
                </a:solidFill>
                <a:latin typeface="Aptos"/>
                <a:ea typeface="Aptos"/>
                <a:cs typeface="Aptos"/>
              </a:defRPr>
            </a:pPr>
            <a:r>
              <a:rPr sz="1650" b="0">
                <a:solidFill>
                  <a:srgbClr val="5E6F72"/>
                </a:solidFill>
                <a:latin typeface="Aptos"/>
                <a:ea typeface="Aptos"/>
                <a:cs typeface="Aptos"/>
              </a:rPr>
              <a:t>1 column</a:t>
            </a:r>
          </a:p>
        </p:txBody>
      </p:sp>
      <p:sp>
        <p:nvSpPr>
          <p:cNvPr id="10" name="Rectangle 9">
            <a:extLst>
              <a:ext uri="{FF2B5EF4-FFF2-40B4-BE49-F238E27FC236}">
                <a16:creationId xmlns:a16="http://schemas.microsoft.com/office/drawing/2014/main" id="{0000000E-000A-4000-8000-000000000000}"/>
              </a:ext>
            </a:extLst>
          </p:cNvPr>
          <p:cNvSpPr>
            <a:spLocks noGrp="1"/>
          </p:cNvSpPr>
          <p:nvPr/>
        </p:nvSpPr>
        <p:spPr>
          <a:xfrm>
            <a:off x="4991100" y="1809750"/>
            <a:ext cx="4762500" cy="266700"/>
          </a:xfrm>
          <a:prstGeom prst="rect">
            <a:avLst/>
          </a:prstGeom>
          <a:noFill/>
          <a:ln w="0">
            <a:noFill/>
            <a:prstDash val="solid"/>
          </a:ln>
        </p:spPr>
        <p:txBody>
          <a:bodyPr wrap="square" lIns="0" tIns="0" rIns="0" bIns="0" anchor="ctr">
            <a:normAutofit/>
          </a:bodyPr>
          <a:lstStyle/>
          <a:p>
            <a:pPr algn="l">
              <a:lnSpc>
                <a:spcPct val="100000"/>
              </a:lnSpc>
              <a:buNone/>
              <a:defRPr sz="1350" b="1">
                <a:solidFill>
                  <a:srgbClr val="EF6A5B"/>
                </a:solidFill>
                <a:latin typeface="Aptos Display"/>
                <a:ea typeface="Aptos Display"/>
                <a:cs typeface="Aptos Display"/>
              </a:defRPr>
            </a:pPr>
            <a:r>
              <a:rPr sz="1350" b="1">
                <a:solidFill>
                  <a:srgbClr val="EF6A5B"/>
                </a:solidFill>
                <a:latin typeface="Aptos Display"/>
                <a:ea typeface="Aptos Display"/>
                <a:cs typeface="Aptos Display"/>
              </a:rPr>
              <a:t>ENCODED FEATURE SPACE</a:t>
            </a:r>
          </a:p>
        </p:txBody>
      </p:sp>
      <p:sp>
        <p:nvSpPr>
          <p:cNvPr id="11" name="encoded-1">
            <a:extLst>
              <a:ext uri="{FF2B5EF4-FFF2-40B4-BE49-F238E27FC236}">
                <a16:creationId xmlns:a16="http://schemas.microsoft.com/office/drawing/2014/main" id="{0000000E-000B-4000-8000-000000000000}"/>
              </a:ext>
            </a:extLst>
          </p:cNvPr>
          <p:cNvSpPr>
            <a:spLocks noGrp="1"/>
          </p:cNvSpPr>
          <p:nvPr/>
        </p:nvSpPr>
        <p:spPr>
          <a:xfrm>
            <a:off x="4991100" y="2190750"/>
            <a:ext cx="2857500" cy="723900"/>
          </a:xfrm>
          <a:prstGeom prst="rect">
            <a:avLst/>
          </a:prstGeom>
          <a:solidFill>
            <a:srgbClr val="DCEAE4"/>
          </a:solidFill>
          <a:ln w="0">
            <a:noFill/>
            <a:prstDash val="solid"/>
          </a:ln>
        </p:spPr>
        <p:txBody>
          <a:bodyPr anchor="ctr"/>
          <a:lstStyle/>
          <a:p>
            <a:pPr algn="ctr">
              <a:defRPr sz="2025" b="1">
                <a:solidFill>
                  <a:srgbClr val="17343A"/>
                </a:solidFill>
                <a:latin typeface="Aptos Mono"/>
                <a:ea typeface="Aptos Mono"/>
                <a:cs typeface="Aptos Mono"/>
              </a:defRPr>
            </a:pPr>
            <a:r>
              <a:rPr sz="2025" b="1">
                <a:solidFill>
                  <a:srgbClr val="17343A"/>
                </a:solidFill>
                <a:latin typeface="Aptos Mono"/>
                <a:ea typeface="Aptos Mono"/>
                <a:cs typeface="Aptos Mono"/>
              </a:rPr>
              <a:t>channel_A</a:t>
            </a:r>
          </a:p>
        </p:txBody>
      </p:sp>
      <p:cxnSp>
        <p:nvCxnSpPr>
          <p:cNvPr id="34" name="Straight Arrow Connector 33"/>
          <p:cNvCxnSpPr>
            <a:stCxn id="8" idx="3"/>
            <a:endCxn id="11" idx="1"/>
          </p:cNvCxnSpPr>
          <p:nvPr/>
        </p:nvCxnSpPr>
        <p:spPr>
          <a:xfrm flipV="1">
            <a:off x="3200400" y="2552700"/>
            <a:ext cx="1790700" cy="647700"/>
          </a:xfrm>
          <a:prstGeom prst="straightConnector1">
            <a:avLst/>
          </a:prstGeom>
          <a:ln w="19050">
            <a:solidFill>
              <a:srgbClr val="007C7A"/>
            </a:solidFill>
            <a:prstDash val="solid"/>
            <a:tailEnd type="arrow" w="sm" len="sm"/>
          </a:ln>
        </p:spPr>
      </p:cxnSp>
      <p:sp>
        <p:nvSpPr>
          <p:cNvPr id="13" name="encoded-2">
            <a:extLst>
              <a:ext uri="{FF2B5EF4-FFF2-40B4-BE49-F238E27FC236}">
                <a16:creationId xmlns:a16="http://schemas.microsoft.com/office/drawing/2014/main" id="{0000000E-000C-4000-8000-000000000000}"/>
              </a:ext>
            </a:extLst>
          </p:cNvPr>
          <p:cNvSpPr>
            <a:spLocks noGrp="1"/>
          </p:cNvSpPr>
          <p:nvPr/>
        </p:nvSpPr>
        <p:spPr>
          <a:xfrm>
            <a:off x="4991100" y="3257550"/>
            <a:ext cx="2857500" cy="723900"/>
          </a:xfrm>
          <a:prstGeom prst="rect">
            <a:avLst/>
          </a:prstGeom>
          <a:solidFill>
            <a:srgbClr val="DCEAE4"/>
          </a:solidFill>
          <a:ln w="0">
            <a:noFill/>
            <a:prstDash val="solid"/>
          </a:ln>
        </p:spPr>
        <p:txBody>
          <a:bodyPr anchor="ctr"/>
          <a:lstStyle/>
          <a:p>
            <a:pPr algn="ctr">
              <a:defRPr sz="2025" b="1">
                <a:solidFill>
                  <a:srgbClr val="17343A"/>
                </a:solidFill>
                <a:latin typeface="Aptos Mono"/>
                <a:ea typeface="Aptos Mono"/>
                <a:cs typeface="Aptos Mono"/>
              </a:defRPr>
            </a:pPr>
            <a:r>
              <a:rPr sz="2025" b="1">
                <a:solidFill>
                  <a:srgbClr val="17343A"/>
                </a:solidFill>
                <a:latin typeface="Aptos Mono"/>
                <a:ea typeface="Aptos Mono"/>
                <a:cs typeface="Aptos Mono"/>
              </a:rPr>
              <a:t>channel_B</a:t>
            </a:r>
          </a:p>
        </p:txBody>
      </p:sp>
      <p:cxnSp>
        <p:nvCxnSpPr>
          <p:cNvPr id="36" name="Straight Arrow Connector 35"/>
          <p:cNvCxnSpPr>
            <a:stCxn id="8" idx="3"/>
            <a:endCxn id="13" idx="1"/>
          </p:cNvCxnSpPr>
          <p:nvPr/>
        </p:nvCxnSpPr>
        <p:spPr>
          <a:xfrm>
            <a:off x="3200400" y="3200400"/>
            <a:ext cx="1790700" cy="419100"/>
          </a:xfrm>
          <a:prstGeom prst="straightConnector1">
            <a:avLst/>
          </a:prstGeom>
          <a:ln w="19050">
            <a:solidFill>
              <a:srgbClr val="007C7A"/>
            </a:solidFill>
            <a:prstDash val="solid"/>
            <a:tailEnd type="arrow" w="sm" len="sm"/>
          </a:ln>
        </p:spPr>
      </p:cxnSp>
      <p:sp>
        <p:nvSpPr>
          <p:cNvPr id="15" name="encoded-3">
            <a:extLst>
              <a:ext uri="{FF2B5EF4-FFF2-40B4-BE49-F238E27FC236}">
                <a16:creationId xmlns:a16="http://schemas.microsoft.com/office/drawing/2014/main" id="{0000000E-000D-4000-8000-000000000000}"/>
              </a:ext>
            </a:extLst>
          </p:cNvPr>
          <p:cNvSpPr>
            <a:spLocks noGrp="1"/>
          </p:cNvSpPr>
          <p:nvPr/>
        </p:nvSpPr>
        <p:spPr>
          <a:xfrm>
            <a:off x="4991100" y="4324350"/>
            <a:ext cx="2857500" cy="723900"/>
          </a:xfrm>
          <a:prstGeom prst="rect">
            <a:avLst/>
          </a:prstGeom>
          <a:solidFill>
            <a:srgbClr val="F8DDD7"/>
          </a:solidFill>
          <a:ln w="0">
            <a:noFill/>
            <a:prstDash val="solid"/>
          </a:ln>
        </p:spPr>
        <p:txBody>
          <a:bodyPr anchor="ctr"/>
          <a:lstStyle/>
          <a:p>
            <a:pPr algn="ctr">
              <a:defRPr sz="2025" b="1">
                <a:solidFill>
                  <a:srgbClr val="17343A"/>
                </a:solidFill>
                <a:latin typeface="Aptos Mono"/>
                <a:ea typeface="Aptos Mono"/>
                <a:cs typeface="Aptos Mono"/>
              </a:defRPr>
            </a:pPr>
            <a:r>
              <a:rPr sz="2025" b="1">
                <a:solidFill>
                  <a:srgbClr val="17343A"/>
                </a:solidFill>
                <a:latin typeface="Aptos Mono"/>
                <a:ea typeface="Aptos Mono"/>
                <a:cs typeface="Aptos Mono"/>
              </a:rPr>
              <a:t>channel_C</a:t>
            </a:r>
          </a:p>
        </p:txBody>
      </p:sp>
      <p:cxnSp>
        <p:nvCxnSpPr>
          <p:cNvPr id="38" name="Straight Arrow Connector 37"/>
          <p:cNvCxnSpPr>
            <a:stCxn id="8" idx="3"/>
            <a:endCxn id="15" idx="1"/>
          </p:cNvCxnSpPr>
          <p:nvPr/>
        </p:nvCxnSpPr>
        <p:spPr>
          <a:xfrm>
            <a:off x="3200400" y="3200400"/>
            <a:ext cx="1790700" cy="1485900"/>
          </a:xfrm>
          <a:prstGeom prst="straightConnector1">
            <a:avLst/>
          </a:prstGeom>
          <a:ln w="19050">
            <a:solidFill>
              <a:srgbClr val="007C7A"/>
            </a:solidFill>
            <a:prstDash val="solid"/>
            <a:tailEnd type="arrow" w="sm" len="sm"/>
          </a:ln>
        </p:spPr>
      </p:cxnSp>
      <p:sp>
        <p:nvSpPr>
          <p:cNvPr id="17" name="Rectangle 16">
            <a:extLst>
              <a:ext uri="{FF2B5EF4-FFF2-40B4-BE49-F238E27FC236}">
                <a16:creationId xmlns:a16="http://schemas.microsoft.com/office/drawing/2014/main" id="{0000000E-000E-4000-8000-000000000000}"/>
              </a:ext>
            </a:extLst>
          </p:cNvPr>
          <p:cNvSpPr>
            <a:spLocks noGrp="1"/>
          </p:cNvSpPr>
          <p:nvPr/>
        </p:nvSpPr>
        <p:spPr>
          <a:xfrm>
            <a:off x="4991100" y="5486400"/>
            <a:ext cx="2857500" cy="304800"/>
          </a:xfrm>
          <a:prstGeom prst="rect">
            <a:avLst/>
          </a:prstGeom>
          <a:noFill/>
          <a:ln w="0">
            <a:noFill/>
            <a:prstDash val="solid"/>
          </a:ln>
        </p:spPr>
        <p:txBody>
          <a:bodyPr wrap="square" lIns="0" tIns="0" rIns="0" bIns="0" anchor="ctr">
            <a:normAutofit/>
          </a:bodyPr>
          <a:lstStyle/>
          <a:p>
            <a:pPr algn="ctr">
              <a:lnSpc>
                <a:spcPct val="100000"/>
              </a:lnSpc>
              <a:buNone/>
              <a:defRPr sz="1650" b="0">
                <a:solidFill>
                  <a:srgbClr val="5E6F72"/>
                </a:solidFill>
                <a:latin typeface="Aptos"/>
                <a:ea typeface="Aptos"/>
                <a:cs typeface="Aptos"/>
              </a:defRPr>
            </a:pPr>
            <a:r>
              <a:rPr sz="1650" b="0">
                <a:solidFill>
                  <a:srgbClr val="5E6F72"/>
                </a:solidFill>
                <a:latin typeface="Aptos"/>
                <a:ea typeface="Aptos"/>
                <a:cs typeface="Aptos"/>
              </a:rPr>
              <a:t>3 binary columns</a:t>
            </a:r>
          </a:p>
        </p:txBody>
      </p:sp>
      <p:sp>
        <p:nvSpPr>
          <p:cNvPr id="18" name="Rectangle 17">
            <a:extLst>
              <a:ext uri="{FF2B5EF4-FFF2-40B4-BE49-F238E27FC236}">
                <a16:creationId xmlns:a16="http://schemas.microsoft.com/office/drawing/2014/main" id="{0000000E-000F-4000-8000-000000000000}"/>
              </a:ext>
            </a:extLst>
          </p:cNvPr>
          <p:cNvSpPr>
            <a:spLocks noGrp="1"/>
          </p:cNvSpPr>
          <p:nvPr/>
        </p:nvSpPr>
        <p:spPr>
          <a:xfrm>
            <a:off x="8572500" y="2019300"/>
            <a:ext cx="28575" cy="3676650"/>
          </a:xfrm>
          <a:prstGeom prst="rect">
            <a:avLst/>
          </a:prstGeom>
          <a:solidFill>
            <a:srgbClr val="DCEAE4"/>
          </a:solidFill>
          <a:ln w="0">
            <a:solidFill>
              <a:srgbClr val="DCEAE4"/>
            </a:solidFill>
            <a:prstDash val="solid"/>
          </a:ln>
        </p:spPr>
        <p:txBody>
          <a:bodyPr/>
          <a:lstStyle/>
          <a:p>
            <a:endParaRPr lang="en-US"/>
          </a:p>
        </p:txBody>
      </p:sp>
      <p:sp>
        <p:nvSpPr>
          <p:cNvPr id="19" name="Rectangle 18">
            <a:extLst>
              <a:ext uri="{FF2B5EF4-FFF2-40B4-BE49-F238E27FC236}">
                <a16:creationId xmlns:a16="http://schemas.microsoft.com/office/drawing/2014/main" id="{0000000E-0010-4000-8000-000000000000}"/>
              </a:ext>
            </a:extLst>
          </p:cNvPr>
          <p:cNvSpPr>
            <a:spLocks noGrp="1"/>
          </p:cNvSpPr>
          <p:nvPr/>
        </p:nvSpPr>
        <p:spPr>
          <a:xfrm>
            <a:off x="8991600" y="2247900"/>
            <a:ext cx="2381250" cy="285750"/>
          </a:xfrm>
          <a:prstGeom prst="rect">
            <a:avLst/>
          </a:prstGeom>
          <a:noFill/>
          <a:ln w="0">
            <a:noFill/>
            <a:prstDash val="solid"/>
          </a:ln>
        </p:spPr>
        <p:txBody>
          <a:bodyPr wrap="square" lIns="0" tIns="0" rIns="0" bIns="0" anchor="ctr">
            <a:normAutofit/>
          </a:bodyPr>
          <a:lstStyle/>
          <a:p>
            <a:pPr algn="l">
              <a:lnSpc>
                <a:spcPct val="100000"/>
              </a:lnSpc>
              <a:buNone/>
              <a:defRPr sz="1350" b="1">
                <a:solidFill>
                  <a:srgbClr val="EF6A5B"/>
                </a:solidFill>
                <a:latin typeface="Aptos Display"/>
                <a:ea typeface="Aptos Display"/>
                <a:cs typeface="Aptos Display"/>
              </a:defRPr>
            </a:pPr>
            <a:r>
              <a:rPr sz="1350" b="1">
                <a:solidFill>
                  <a:srgbClr val="EF6A5B"/>
                </a:solidFill>
                <a:latin typeface="Aptos Display"/>
                <a:ea typeface="Aptos Display"/>
                <a:cs typeface="Aptos Display"/>
              </a:rPr>
              <a:t>UNSEEN VALUE</a:t>
            </a:r>
          </a:p>
        </p:txBody>
      </p:sp>
      <p:sp>
        <p:nvSpPr>
          <p:cNvPr id="20" name="Rectangle 19">
            <a:extLst>
              <a:ext uri="{FF2B5EF4-FFF2-40B4-BE49-F238E27FC236}">
                <a16:creationId xmlns:a16="http://schemas.microsoft.com/office/drawing/2014/main" id="{0000000E-0011-4000-8000-000000000000}"/>
              </a:ext>
            </a:extLst>
          </p:cNvPr>
          <p:cNvSpPr>
            <a:spLocks noGrp="1"/>
          </p:cNvSpPr>
          <p:nvPr/>
        </p:nvSpPr>
        <p:spPr>
          <a:xfrm>
            <a:off x="8991600" y="2609850"/>
            <a:ext cx="2381250" cy="704850"/>
          </a:xfrm>
          <a:prstGeom prst="rect">
            <a:avLst/>
          </a:prstGeom>
          <a:noFill/>
          <a:ln w="0">
            <a:noFill/>
            <a:prstDash val="solid"/>
          </a:ln>
        </p:spPr>
        <p:txBody>
          <a:bodyPr wrap="square" lIns="0" tIns="0" rIns="0" bIns="0" anchor="ctr">
            <a:normAutofit fontScale="96354"/>
          </a:bodyPr>
          <a:lstStyle/>
          <a:p>
            <a:pPr algn="l">
              <a:lnSpc>
                <a:spcPct val="100000"/>
              </a:lnSpc>
              <a:buNone/>
              <a:defRPr sz="2400" b="1">
                <a:solidFill>
                  <a:srgbClr val="17343A"/>
                </a:solidFill>
                <a:latin typeface="Aptos Display"/>
                <a:ea typeface="Aptos Display"/>
                <a:cs typeface="Aptos Display"/>
              </a:defRPr>
            </a:pPr>
            <a:r>
              <a:rPr sz="2400" b="1">
                <a:solidFill>
                  <a:srgbClr val="17343A"/>
                </a:solidFill>
                <a:latin typeface="Aptos Display"/>
                <a:ea typeface="Aptos Display"/>
                <a:cs typeface="Aptos Display"/>
              </a:rPr>
              <a:t>requires a policy</a:t>
            </a:r>
          </a:p>
        </p:txBody>
      </p:sp>
      <p:sp>
        <p:nvSpPr>
          <p:cNvPr id="21" name="Rectangle 20">
            <a:extLst>
              <a:ext uri="{FF2B5EF4-FFF2-40B4-BE49-F238E27FC236}">
                <a16:creationId xmlns:a16="http://schemas.microsoft.com/office/drawing/2014/main" id="{0000000E-0012-4000-8000-000000000000}"/>
              </a:ext>
            </a:extLst>
          </p:cNvPr>
          <p:cNvSpPr>
            <a:spLocks noGrp="1"/>
          </p:cNvSpPr>
          <p:nvPr/>
        </p:nvSpPr>
        <p:spPr>
          <a:xfrm>
            <a:off x="8991600" y="3657600"/>
            <a:ext cx="2381250" cy="1104900"/>
          </a:xfrm>
          <a:prstGeom prst="rect">
            <a:avLst/>
          </a:prstGeom>
          <a:noFill/>
          <a:ln w="0">
            <a:noFill/>
            <a:prstDash val="solid"/>
          </a:ln>
        </p:spPr>
        <p:txBody>
          <a:bodyPr wrap="square" lIns="0" tIns="0" rIns="0" bIns="0" anchor="ctr">
            <a:normAutofit/>
          </a:bodyPr>
          <a:lstStyle/>
          <a:p>
            <a:pPr algn="l">
              <a:lnSpc>
                <a:spcPct val="100000"/>
              </a:lnSpc>
              <a:buNone/>
              <a:defRPr sz="1875" b="0">
                <a:solidFill>
                  <a:srgbClr val="5E6F72"/>
                </a:solidFill>
                <a:latin typeface="Aptos"/>
                <a:ea typeface="Aptos"/>
                <a:cs typeface="Aptos"/>
              </a:defRPr>
            </a:pPr>
            <a:r>
              <a:rPr sz="1875" b="0">
                <a:solidFill>
                  <a:srgbClr val="5E6F72"/>
                </a:solidFill>
                <a:latin typeface="Aptos"/>
                <a:ea typeface="Aptos"/>
                <a:cs typeface="Aptos"/>
              </a:rPr>
              <a:t>Interpret with feature names—not column positions.</a:t>
            </a:r>
          </a:p>
        </p:txBody>
      </p:sp>
      <p:sp>
        <p:nvSpPr>
          <p:cNvPr id="22" name="Rectangle 21">
            <a:extLst>
              <a:ext uri="{FF2B5EF4-FFF2-40B4-BE49-F238E27FC236}">
                <a16:creationId xmlns:a16="http://schemas.microsoft.com/office/drawing/2014/main" id="{0000000E-0013-4000-8000-000000000000}"/>
              </a:ext>
            </a:extLst>
          </p:cNvPr>
          <p:cNvSpPr>
            <a:spLocks noGrp="1"/>
          </p:cNvSpPr>
          <p:nvPr/>
        </p:nvSpPr>
        <p:spPr>
          <a:xfrm>
            <a:off x="8991600" y="5010150"/>
            <a:ext cx="2381250" cy="781050"/>
          </a:xfrm>
          <a:prstGeom prst="rect">
            <a:avLst/>
          </a:prstGeom>
          <a:noFill/>
          <a:ln w="0">
            <a:noFill/>
            <a:prstDash val="solid"/>
          </a:ln>
        </p:spPr>
        <p:txBody>
          <a:bodyPr wrap="square" lIns="0" tIns="0" rIns="0" bIns="0" anchor="ctr">
            <a:normAutofit fontScale="94907"/>
          </a:bodyPr>
          <a:lstStyle/>
          <a:p>
            <a:pPr algn="l">
              <a:lnSpc>
                <a:spcPct val="100000"/>
              </a:lnSpc>
              <a:buNone/>
              <a:defRPr sz="1800" b="1">
                <a:solidFill>
                  <a:srgbClr val="EF6A5B"/>
                </a:solidFill>
                <a:latin typeface="Aptos Display"/>
                <a:ea typeface="Aptos Display"/>
                <a:cs typeface="Aptos Display"/>
              </a:defRPr>
            </a:pPr>
            <a:r>
              <a:rPr sz="1800" b="1">
                <a:solidFill>
                  <a:srgbClr val="EF6A5B"/>
                </a:solidFill>
                <a:latin typeface="Aptos Display"/>
                <a:ea typeface="Aptos Display"/>
                <a:cs typeface="Aptos Display"/>
              </a:rPr>
              <a:t>⚠ Unique identifiers can explode the space.</a:t>
            </a:r>
          </a:p>
        </p:txBody>
      </p:sp>
    </p:spTree>
    <p:extLst>
      <p:ext uri="{BB962C8B-B14F-4D97-AF65-F5344CB8AC3E}">
        <p14:creationId xmlns:p14="http://schemas.microsoft.com/office/powerpoint/2010/main" val="1400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000000F-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0F-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a:solidFill>
                  <a:srgbClr val="007C7A"/>
                </a:solidFill>
                <a:latin typeface="Aptos Display"/>
                <a:ea typeface="Aptos Display"/>
                <a:cs typeface="Aptos Display"/>
              </a:rPr>
              <a:t>LAB</a:t>
            </a:r>
          </a:p>
        </p:txBody>
      </p:sp>
      <p:sp>
        <p:nvSpPr>
          <p:cNvPr id="3" name="Rectangle 2">
            <a:extLst>
              <a:ext uri="{FF2B5EF4-FFF2-40B4-BE49-F238E27FC236}">
                <a16:creationId xmlns:a16="http://schemas.microsoft.com/office/drawing/2014/main" id="{0000000F-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fontScale="94272"/>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Fit once on train; transform both datasets</a:t>
            </a:r>
          </a:p>
        </p:txBody>
      </p:sp>
      <p:sp>
        <p:nvSpPr>
          <p:cNvPr id="4" name="Rectangle 3">
            <a:extLst>
              <a:ext uri="{FF2B5EF4-FFF2-40B4-BE49-F238E27FC236}">
                <a16:creationId xmlns:a16="http://schemas.microsoft.com/office/drawing/2014/main" id="{0000000F-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fontScale="92322" lnSpcReduction="20000"/>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148–155 min</a:t>
            </a:r>
          </a:p>
        </p:txBody>
      </p:sp>
      <p:sp>
        <p:nvSpPr>
          <p:cNvPr id="5" name="Rectangle 4">
            <a:extLst>
              <a:ext uri="{FF2B5EF4-FFF2-40B4-BE49-F238E27FC236}">
                <a16:creationId xmlns:a16="http://schemas.microsoft.com/office/drawing/2014/main" id="{0000000F-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0F-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15</a:t>
            </a:r>
          </a:p>
        </p:txBody>
      </p:sp>
      <p:sp>
        <p:nvSpPr>
          <p:cNvPr id="7" name="Rectangle 6">
            <a:extLst>
              <a:ext uri="{FF2B5EF4-FFF2-40B4-BE49-F238E27FC236}">
                <a16:creationId xmlns:a16="http://schemas.microsoft.com/office/drawing/2014/main" id="{0000000F-0007-4000-8000-000000000000}"/>
              </a:ext>
            </a:extLst>
          </p:cNvPr>
          <p:cNvSpPr>
            <a:spLocks noGrp="1"/>
          </p:cNvSpPr>
          <p:nvPr/>
        </p:nvSpPr>
        <p:spPr>
          <a:xfrm>
            <a:off x="742950" y="1733550"/>
            <a:ext cx="952500" cy="266700"/>
          </a:xfrm>
          <a:prstGeom prst="rect">
            <a:avLst/>
          </a:prstGeom>
          <a:noFill/>
          <a:ln w="0">
            <a:noFill/>
            <a:prstDash val="solid"/>
          </a:ln>
        </p:spPr>
        <p:txBody>
          <a:bodyPr wrap="square" lIns="0" tIns="0" rIns="0" bIns="0" anchor="ctr">
            <a:normAutofit/>
          </a:bodyPr>
          <a:lstStyle/>
          <a:p>
            <a:pPr algn="l">
              <a:lnSpc>
                <a:spcPct val="100000"/>
              </a:lnSpc>
              <a:buNone/>
              <a:defRPr sz="1350" b="1">
                <a:solidFill>
                  <a:srgbClr val="EF6A5B"/>
                </a:solidFill>
                <a:latin typeface="Aptos Display"/>
                <a:ea typeface="Aptos Display"/>
                <a:cs typeface="Aptos Display"/>
              </a:defRPr>
            </a:pPr>
            <a:r>
              <a:rPr sz="1350" b="1">
                <a:solidFill>
                  <a:srgbClr val="EF6A5B"/>
                </a:solidFill>
                <a:latin typeface="Aptos Display"/>
                <a:ea typeface="Aptos Display"/>
                <a:cs typeface="Aptos Display"/>
              </a:rPr>
              <a:t>FIT</a:t>
            </a:r>
          </a:p>
        </p:txBody>
      </p:sp>
      <p:sp>
        <p:nvSpPr>
          <p:cNvPr id="8" name="lab-train-input">
            <a:extLst>
              <a:ext uri="{FF2B5EF4-FFF2-40B4-BE49-F238E27FC236}">
                <a16:creationId xmlns:a16="http://schemas.microsoft.com/office/drawing/2014/main" id="{0000000F-0008-4000-8000-000000000000}"/>
              </a:ext>
            </a:extLst>
          </p:cNvPr>
          <p:cNvSpPr>
            <a:spLocks noGrp="1"/>
          </p:cNvSpPr>
          <p:nvPr/>
        </p:nvSpPr>
        <p:spPr>
          <a:xfrm>
            <a:off x="857250" y="2324100"/>
            <a:ext cx="2000250" cy="819150"/>
          </a:xfrm>
          <a:prstGeom prst="rect">
            <a:avLst/>
          </a:prstGeom>
          <a:solidFill>
            <a:srgbClr val="FFFFFF"/>
          </a:solidFill>
          <a:ln w="28575">
            <a:solidFill>
              <a:srgbClr val="007C7A"/>
            </a:solidFill>
            <a:prstDash val="solid"/>
          </a:ln>
        </p:spPr>
        <p:txBody>
          <a:bodyPr anchor="ctr"/>
          <a:lstStyle/>
          <a:p>
            <a:pPr algn="ctr">
              <a:defRPr sz="2400" b="1">
                <a:solidFill>
                  <a:srgbClr val="17343A"/>
                </a:solidFill>
                <a:latin typeface="Aptos Mono"/>
                <a:ea typeface="Aptos Mono"/>
                <a:cs typeface="Aptos Mono"/>
              </a:defRPr>
            </a:pPr>
            <a:r>
              <a:rPr sz="2400" b="1">
                <a:solidFill>
                  <a:srgbClr val="17343A"/>
                </a:solidFill>
                <a:latin typeface="Aptos Mono"/>
                <a:ea typeface="Aptos Mono"/>
                <a:cs typeface="Aptos Mono"/>
              </a:rPr>
              <a:t>X_train</a:t>
            </a:r>
          </a:p>
        </p:txBody>
      </p:sp>
      <p:sp>
        <p:nvSpPr>
          <p:cNvPr id="9" name="lab-holdout-input">
            <a:extLst>
              <a:ext uri="{FF2B5EF4-FFF2-40B4-BE49-F238E27FC236}">
                <a16:creationId xmlns:a16="http://schemas.microsoft.com/office/drawing/2014/main" id="{0000000F-0009-4000-8000-000000000000}"/>
              </a:ext>
            </a:extLst>
          </p:cNvPr>
          <p:cNvSpPr>
            <a:spLocks noGrp="1"/>
          </p:cNvSpPr>
          <p:nvPr/>
        </p:nvSpPr>
        <p:spPr>
          <a:xfrm>
            <a:off x="857250" y="3924300"/>
            <a:ext cx="2000250" cy="819150"/>
          </a:xfrm>
          <a:prstGeom prst="rect">
            <a:avLst/>
          </a:prstGeom>
          <a:solidFill>
            <a:srgbClr val="FFFFFF"/>
          </a:solidFill>
          <a:ln w="28575">
            <a:solidFill>
              <a:srgbClr val="DCEAE4"/>
            </a:solidFill>
            <a:prstDash val="solid"/>
          </a:ln>
        </p:spPr>
        <p:txBody>
          <a:bodyPr anchor="ctr"/>
          <a:lstStyle/>
          <a:p>
            <a:pPr algn="ctr">
              <a:defRPr sz="2325" b="1">
                <a:solidFill>
                  <a:srgbClr val="17343A"/>
                </a:solidFill>
                <a:latin typeface="Aptos Mono"/>
                <a:ea typeface="Aptos Mono"/>
                <a:cs typeface="Aptos Mono"/>
              </a:defRPr>
            </a:pPr>
            <a:r>
              <a:rPr sz="2325" b="1">
                <a:solidFill>
                  <a:srgbClr val="17343A"/>
                </a:solidFill>
                <a:latin typeface="Aptos Mono"/>
                <a:ea typeface="Aptos Mono"/>
                <a:cs typeface="Aptos Mono"/>
              </a:rPr>
              <a:t>X_holdout</a:t>
            </a:r>
          </a:p>
        </p:txBody>
      </p:sp>
      <p:sp>
        <p:nvSpPr>
          <p:cNvPr id="10" name="fitted-process">
            <a:extLst>
              <a:ext uri="{FF2B5EF4-FFF2-40B4-BE49-F238E27FC236}">
                <a16:creationId xmlns:a16="http://schemas.microsoft.com/office/drawing/2014/main" id="{0000000F-000A-4000-8000-000000000000}"/>
              </a:ext>
            </a:extLst>
          </p:cNvPr>
          <p:cNvSpPr>
            <a:spLocks noGrp="1"/>
          </p:cNvSpPr>
          <p:nvPr/>
        </p:nvSpPr>
        <p:spPr>
          <a:xfrm>
            <a:off x="4572000" y="2609850"/>
            <a:ext cx="2857500" cy="1847850"/>
          </a:xfrm>
          <a:prstGeom prst="rect">
            <a:avLst/>
          </a:prstGeom>
          <a:solidFill>
            <a:srgbClr val="007C7A"/>
          </a:solidFill>
          <a:ln w="28575">
            <a:solidFill>
              <a:srgbClr val="007C7A"/>
            </a:solidFill>
            <a:prstDash val="solid"/>
          </a:ln>
        </p:spPr>
        <p:txBody>
          <a:bodyPr lIns="114300" tIns="114300" rIns="114300" bIns="114300" anchor="ctr">
            <a:normAutofit/>
          </a:bodyPr>
          <a:lstStyle/>
          <a:p>
            <a:pPr algn="ctr">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FITTED PROCESS</a:t>
            </a:r>
          </a:p>
          <a:p>
            <a:pPr algn="ctr">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median · scale · encode</a:t>
            </a:r>
          </a:p>
        </p:txBody>
      </p:sp>
      <p:sp>
        <p:nvSpPr>
          <p:cNvPr id="11" name="lab-train-output">
            <a:extLst>
              <a:ext uri="{FF2B5EF4-FFF2-40B4-BE49-F238E27FC236}">
                <a16:creationId xmlns:a16="http://schemas.microsoft.com/office/drawing/2014/main" id="{0000000F-000B-4000-8000-000000000000}"/>
              </a:ext>
            </a:extLst>
          </p:cNvPr>
          <p:cNvSpPr>
            <a:spLocks noGrp="1"/>
          </p:cNvSpPr>
          <p:nvPr/>
        </p:nvSpPr>
        <p:spPr>
          <a:xfrm>
            <a:off x="9163050" y="2324100"/>
            <a:ext cx="2266950" cy="819150"/>
          </a:xfrm>
          <a:prstGeom prst="rect">
            <a:avLst/>
          </a:prstGeom>
          <a:solidFill>
            <a:srgbClr val="DCEAE4"/>
          </a:solidFill>
          <a:ln w="0">
            <a:noFill/>
            <a:prstDash val="solid"/>
          </a:ln>
        </p:spPr>
        <p:txBody>
          <a:bodyPr anchor="ctr"/>
          <a:lstStyle/>
          <a:p>
            <a:pPr algn="ctr">
              <a:defRPr sz="2325" b="1">
                <a:solidFill>
                  <a:srgbClr val="17343A"/>
                </a:solidFill>
                <a:latin typeface="Aptos Mono"/>
                <a:ea typeface="Aptos Mono"/>
                <a:cs typeface="Aptos Mono"/>
              </a:defRPr>
            </a:pPr>
            <a:r>
              <a:rPr sz="2325" b="1">
                <a:solidFill>
                  <a:srgbClr val="17343A"/>
                </a:solidFill>
                <a:latin typeface="Aptos Mono"/>
                <a:ea typeface="Aptos Mono"/>
                <a:cs typeface="Aptos Mono"/>
              </a:rPr>
              <a:t>X_train*</a:t>
            </a:r>
          </a:p>
        </p:txBody>
      </p:sp>
      <p:sp>
        <p:nvSpPr>
          <p:cNvPr id="12" name="lab-holdout-output">
            <a:extLst>
              <a:ext uri="{FF2B5EF4-FFF2-40B4-BE49-F238E27FC236}">
                <a16:creationId xmlns:a16="http://schemas.microsoft.com/office/drawing/2014/main" id="{0000000F-000C-4000-8000-000000000000}"/>
              </a:ext>
            </a:extLst>
          </p:cNvPr>
          <p:cNvSpPr>
            <a:spLocks noGrp="1"/>
          </p:cNvSpPr>
          <p:nvPr/>
        </p:nvSpPr>
        <p:spPr>
          <a:xfrm>
            <a:off x="9163050" y="3924300"/>
            <a:ext cx="2266950" cy="819150"/>
          </a:xfrm>
          <a:prstGeom prst="rect">
            <a:avLst/>
          </a:prstGeom>
          <a:solidFill>
            <a:srgbClr val="DCEAE4"/>
          </a:solidFill>
          <a:ln w="0">
            <a:noFill/>
            <a:prstDash val="solid"/>
          </a:ln>
        </p:spPr>
        <p:txBody>
          <a:bodyPr anchor="ctr"/>
          <a:lstStyle/>
          <a:p>
            <a:pPr algn="ctr">
              <a:defRPr sz="2250" b="1">
                <a:solidFill>
                  <a:srgbClr val="17343A"/>
                </a:solidFill>
                <a:latin typeface="Aptos Mono"/>
                <a:ea typeface="Aptos Mono"/>
                <a:cs typeface="Aptos Mono"/>
              </a:defRPr>
            </a:pPr>
            <a:r>
              <a:rPr sz="2250" b="1">
                <a:solidFill>
                  <a:srgbClr val="17343A"/>
                </a:solidFill>
                <a:latin typeface="Aptos Mono"/>
                <a:ea typeface="Aptos Mono"/>
                <a:cs typeface="Aptos Mono"/>
              </a:rPr>
              <a:t>X_holdout*</a:t>
            </a:r>
          </a:p>
        </p:txBody>
      </p:sp>
      <p:cxnSp>
        <p:nvCxnSpPr>
          <p:cNvPr id="33" name="Connector: Elbow 32"/>
          <p:cNvCxnSpPr>
            <a:stCxn id="8" idx="3"/>
            <a:endCxn id="10" idx="1"/>
          </p:cNvCxnSpPr>
          <p:nvPr/>
        </p:nvCxnSpPr>
        <p:spPr>
          <a:xfrm>
            <a:off x="2857500" y="2733675"/>
            <a:ext cx="1714500" cy="800100"/>
          </a:xfrm>
          <a:prstGeom prst="bentConnector3">
            <a:avLst>
              <a:gd name="adj1" fmla="val 50000"/>
            </a:avLst>
          </a:prstGeom>
          <a:ln w="38100">
            <a:solidFill>
              <a:srgbClr val="EF6A5B"/>
            </a:solidFill>
            <a:prstDash val="solid"/>
            <a:tailEnd type="arrow" w="med" len="med"/>
          </a:ln>
        </p:spPr>
      </p:cxnSp>
      <p:cxnSp>
        <p:nvCxnSpPr>
          <p:cNvPr id="34" name="Connector: Elbow 33"/>
          <p:cNvCxnSpPr>
            <a:stCxn id="9" idx="3"/>
            <a:endCxn id="10" idx="1"/>
          </p:cNvCxnSpPr>
          <p:nvPr/>
        </p:nvCxnSpPr>
        <p:spPr>
          <a:xfrm flipV="1">
            <a:off x="2857500" y="3533775"/>
            <a:ext cx="1714500" cy="800100"/>
          </a:xfrm>
          <a:prstGeom prst="bentConnector3">
            <a:avLst>
              <a:gd name="adj1" fmla="val 50000"/>
            </a:avLst>
          </a:prstGeom>
          <a:ln w="28575">
            <a:solidFill>
              <a:srgbClr val="5E6F72"/>
            </a:solidFill>
            <a:prstDash val="solid"/>
            <a:tailEnd type="arrow" w="med" len="med"/>
          </a:ln>
        </p:spPr>
      </p:cxnSp>
      <p:cxnSp>
        <p:nvCxnSpPr>
          <p:cNvPr id="35" name="Connector: Elbow 34"/>
          <p:cNvCxnSpPr>
            <a:stCxn id="10" idx="3"/>
            <a:endCxn id="11" idx="1"/>
          </p:cNvCxnSpPr>
          <p:nvPr/>
        </p:nvCxnSpPr>
        <p:spPr>
          <a:xfrm flipV="1">
            <a:off x="7429500" y="2733675"/>
            <a:ext cx="1733550" cy="800100"/>
          </a:xfrm>
          <a:prstGeom prst="bentConnector3">
            <a:avLst>
              <a:gd name="adj1" fmla="val 50000"/>
            </a:avLst>
          </a:prstGeom>
          <a:ln w="28575">
            <a:solidFill>
              <a:srgbClr val="007C7A"/>
            </a:solidFill>
            <a:prstDash val="solid"/>
            <a:tailEnd type="arrow" w="med" len="med"/>
          </a:ln>
        </p:spPr>
      </p:cxnSp>
      <p:cxnSp>
        <p:nvCxnSpPr>
          <p:cNvPr id="36" name="Connector: Elbow 35"/>
          <p:cNvCxnSpPr>
            <a:stCxn id="10" idx="3"/>
            <a:endCxn id="12" idx="1"/>
          </p:cNvCxnSpPr>
          <p:nvPr/>
        </p:nvCxnSpPr>
        <p:spPr>
          <a:xfrm>
            <a:off x="7429500" y="3533775"/>
            <a:ext cx="1733550" cy="800100"/>
          </a:xfrm>
          <a:prstGeom prst="bentConnector3">
            <a:avLst>
              <a:gd name="adj1" fmla="val 50000"/>
            </a:avLst>
          </a:prstGeom>
          <a:ln w="28575">
            <a:solidFill>
              <a:srgbClr val="007C7A"/>
            </a:solidFill>
            <a:prstDash val="solid"/>
            <a:tailEnd type="arrow" w="med" len="med"/>
          </a:ln>
        </p:spPr>
      </p:cxnSp>
      <p:sp>
        <p:nvSpPr>
          <p:cNvPr id="17" name="Rectangle 16">
            <a:extLst>
              <a:ext uri="{FF2B5EF4-FFF2-40B4-BE49-F238E27FC236}">
                <a16:creationId xmlns:a16="http://schemas.microsoft.com/office/drawing/2014/main" id="{0000000F-000D-4000-8000-000000000000}"/>
              </a:ext>
            </a:extLst>
          </p:cNvPr>
          <p:cNvSpPr>
            <a:spLocks noGrp="1"/>
          </p:cNvSpPr>
          <p:nvPr/>
        </p:nvSpPr>
        <p:spPr>
          <a:xfrm>
            <a:off x="3143250" y="2324100"/>
            <a:ext cx="1143000" cy="323850"/>
          </a:xfrm>
          <a:prstGeom prst="rect">
            <a:avLst/>
          </a:prstGeom>
          <a:noFill/>
          <a:ln w="0">
            <a:noFill/>
            <a:prstDash val="solid"/>
          </a:ln>
        </p:spPr>
        <p:txBody>
          <a:bodyPr wrap="square" lIns="0" tIns="0" rIns="0" bIns="0" anchor="ctr">
            <a:normAutofit/>
          </a:bodyPr>
          <a:lstStyle/>
          <a:p>
            <a:pPr algn="ctr">
              <a:lnSpc>
                <a:spcPct val="100000"/>
              </a:lnSpc>
              <a:buNone/>
              <a:defRPr sz="1650" b="1">
                <a:solidFill>
                  <a:srgbClr val="EF6A5B"/>
                </a:solidFill>
                <a:latin typeface="Aptos Display"/>
                <a:ea typeface="Aptos Display"/>
                <a:cs typeface="Aptos Display"/>
              </a:defRPr>
            </a:pPr>
            <a:r>
              <a:rPr sz="1650" b="1">
                <a:solidFill>
                  <a:srgbClr val="EF6A5B"/>
                </a:solidFill>
                <a:latin typeface="Aptos Display"/>
                <a:ea typeface="Aptos Display"/>
                <a:cs typeface="Aptos Display"/>
              </a:rPr>
              <a:t>fit only</a:t>
            </a:r>
          </a:p>
        </p:txBody>
      </p:sp>
      <p:sp>
        <p:nvSpPr>
          <p:cNvPr id="18" name="Rectangle 17">
            <a:extLst>
              <a:ext uri="{FF2B5EF4-FFF2-40B4-BE49-F238E27FC236}">
                <a16:creationId xmlns:a16="http://schemas.microsoft.com/office/drawing/2014/main" id="{0000000F-000E-4000-8000-000000000000}"/>
              </a:ext>
            </a:extLst>
          </p:cNvPr>
          <p:cNvSpPr>
            <a:spLocks noGrp="1"/>
          </p:cNvSpPr>
          <p:nvPr/>
        </p:nvSpPr>
        <p:spPr>
          <a:xfrm>
            <a:off x="7753350" y="2324100"/>
            <a:ext cx="1143000" cy="323850"/>
          </a:xfrm>
          <a:prstGeom prst="rect">
            <a:avLst/>
          </a:prstGeom>
          <a:noFill/>
          <a:ln w="0">
            <a:noFill/>
            <a:prstDash val="solid"/>
          </a:ln>
        </p:spPr>
        <p:txBody>
          <a:bodyPr wrap="square" lIns="0" tIns="0" rIns="0" bIns="0" anchor="ctr">
            <a:normAutofit fontScale="97370"/>
          </a:bodyPr>
          <a:lstStyle/>
          <a:p>
            <a:pPr algn="ctr">
              <a:lnSpc>
                <a:spcPct val="100000"/>
              </a:lnSpc>
              <a:buNone/>
              <a:defRPr sz="1650" b="1">
                <a:solidFill>
                  <a:srgbClr val="007C7A"/>
                </a:solidFill>
                <a:latin typeface="Aptos Display"/>
                <a:ea typeface="Aptos Display"/>
                <a:cs typeface="Aptos Display"/>
              </a:defRPr>
            </a:pPr>
            <a:r>
              <a:rPr sz="1650" b="1">
                <a:solidFill>
                  <a:srgbClr val="007C7A"/>
                </a:solidFill>
                <a:latin typeface="Aptos Display"/>
                <a:ea typeface="Aptos Display"/>
                <a:cs typeface="Aptos Display"/>
              </a:rPr>
              <a:t>transform</a:t>
            </a:r>
          </a:p>
        </p:txBody>
      </p:sp>
      <p:sp>
        <p:nvSpPr>
          <p:cNvPr id="19" name="Rectangle 18">
            <a:extLst>
              <a:ext uri="{FF2B5EF4-FFF2-40B4-BE49-F238E27FC236}">
                <a16:creationId xmlns:a16="http://schemas.microsoft.com/office/drawing/2014/main" id="{0000000F-000F-4000-8000-000000000000}"/>
              </a:ext>
            </a:extLst>
          </p:cNvPr>
          <p:cNvSpPr>
            <a:spLocks noGrp="1"/>
          </p:cNvSpPr>
          <p:nvPr/>
        </p:nvSpPr>
        <p:spPr>
          <a:xfrm>
            <a:off x="7753350" y="3924300"/>
            <a:ext cx="1143000" cy="323850"/>
          </a:xfrm>
          <a:prstGeom prst="rect">
            <a:avLst/>
          </a:prstGeom>
          <a:noFill/>
          <a:ln w="0">
            <a:noFill/>
            <a:prstDash val="solid"/>
          </a:ln>
        </p:spPr>
        <p:txBody>
          <a:bodyPr wrap="square" lIns="0" tIns="0" rIns="0" bIns="0" anchor="ctr">
            <a:normAutofit fontScale="97370"/>
          </a:bodyPr>
          <a:lstStyle/>
          <a:p>
            <a:pPr algn="ctr">
              <a:lnSpc>
                <a:spcPct val="100000"/>
              </a:lnSpc>
              <a:buNone/>
              <a:defRPr sz="1650" b="1">
                <a:solidFill>
                  <a:srgbClr val="007C7A"/>
                </a:solidFill>
                <a:latin typeface="Aptos Display"/>
                <a:ea typeface="Aptos Display"/>
                <a:cs typeface="Aptos Display"/>
              </a:defRPr>
            </a:pPr>
            <a:r>
              <a:rPr sz="1650" b="1">
                <a:solidFill>
                  <a:srgbClr val="007C7A"/>
                </a:solidFill>
                <a:latin typeface="Aptos Display"/>
                <a:ea typeface="Aptos Display"/>
                <a:cs typeface="Aptos Display"/>
              </a:rPr>
              <a:t>transform</a:t>
            </a:r>
          </a:p>
        </p:txBody>
      </p:sp>
      <p:sp>
        <p:nvSpPr>
          <p:cNvPr id="20" name="Rectangle 19">
            <a:extLst>
              <a:ext uri="{FF2B5EF4-FFF2-40B4-BE49-F238E27FC236}">
                <a16:creationId xmlns:a16="http://schemas.microsoft.com/office/drawing/2014/main" id="{0000000F-0010-4000-8000-000000000000}"/>
              </a:ext>
            </a:extLst>
          </p:cNvPr>
          <p:cNvSpPr>
            <a:spLocks noGrp="1"/>
          </p:cNvSpPr>
          <p:nvPr/>
        </p:nvSpPr>
        <p:spPr>
          <a:xfrm>
            <a:off x="2667000" y="5353050"/>
            <a:ext cx="6858000" cy="457200"/>
          </a:xfrm>
          <a:prstGeom prst="rect">
            <a:avLst/>
          </a:prstGeom>
          <a:noFill/>
          <a:ln w="0">
            <a:noFill/>
            <a:prstDash val="solid"/>
          </a:ln>
        </p:spPr>
        <p:txBody>
          <a:bodyPr wrap="square" lIns="0" tIns="0" rIns="0" bIns="0" anchor="ctr">
            <a:normAutofit/>
          </a:bodyPr>
          <a:lstStyle/>
          <a:p>
            <a:pPr algn="ctr">
              <a:lnSpc>
                <a:spcPct val="100000"/>
              </a:lnSpc>
              <a:buNone/>
              <a:defRPr sz="2250" b="1">
                <a:solidFill>
                  <a:srgbClr val="17343A"/>
                </a:solidFill>
                <a:latin typeface="Aptos Display"/>
                <a:ea typeface="Aptos Display"/>
                <a:cs typeface="Aptos Display"/>
              </a:defRPr>
            </a:pPr>
            <a:r>
              <a:rPr sz="2250" b="1">
                <a:solidFill>
                  <a:srgbClr val="17343A"/>
                </a:solidFill>
                <a:latin typeface="Aptos Display"/>
                <a:ea typeface="Aptos Display"/>
                <a:cs typeface="Aptos Display"/>
              </a:rPr>
              <a:t>Inspect feature names + matrix shape</a:t>
            </a:r>
          </a:p>
        </p:txBody>
      </p:sp>
    </p:spTree>
    <p:extLst>
      <p:ext uri="{BB962C8B-B14F-4D97-AF65-F5344CB8AC3E}">
        <p14:creationId xmlns:p14="http://schemas.microsoft.com/office/powerpoint/2010/main" val="1500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0000010-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10-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a:solidFill>
                  <a:srgbClr val="007C7A"/>
                </a:solidFill>
                <a:latin typeface="Aptos Display"/>
                <a:ea typeface="Aptos Display"/>
                <a:cs typeface="Aptos Display"/>
              </a:rPr>
              <a:t>INDEPENDENT CHALLENGE</a:t>
            </a:r>
          </a:p>
        </p:txBody>
      </p:sp>
      <p:sp>
        <p:nvSpPr>
          <p:cNvPr id="3" name="Rectangle 2">
            <a:extLst>
              <a:ext uri="{FF2B5EF4-FFF2-40B4-BE49-F238E27FC236}">
                <a16:creationId xmlns:a16="http://schemas.microsoft.com/office/drawing/2014/main" id="{00000010-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Make the policy defensible</a:t>
            </a:r>
          </a:p>
        </p:txBody>
      </p:sp>
      <p:sp>
        <p:nvSpPr>
          <p:cNvPr id="4" name="Rectangle 3">
            <a:extLst>
              <a:ext uri="{FF2B5EF4-FFF2-40B4-BE49-F238E27FC236}">
                <a16:creationId xmlns:a16="http://schemas.microsoft.com/office/drawing/2014/main" id="{00000010-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fontScale="92322" lnSpcReduction="20000"/>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155–175 min</a:t>
            </a:r>
          </a:p>
        </p:txBody>
      </p:sp>
      <p:sp>
        <p:nvSpPr>
          <p:cNvPr id="5" name="Rectangle 4">
            <a:extLst>
              <a:ext uri="{FF2B5EF4-FFF2-40B4-BE49-F238E27FC236}">
                <a16:creationId xmlns:a16="http://schemas.microsoft.com/office/drawing/2014/main" id="{00000010-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10-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16</a:t>
            </a:r>
          </a:p>
        </p:txBody>
      </p:sp>
      <p:sp>
        <p:nvSpPr>
          <p:cNvPr id="7" name="Rectangle 6">
            <a:extLst>
              <a:ext uri="{FF2B5EF4-FFF2-40B4-BE49-F238E27FC236}">
                <a16:creationId xmlns:a16="http://schemas.microsoft.com/office/drawing/2014/main" id="{00000010-0007-4000-8000-000000000000}"/>
              </a:ext>
            </a:extLst>
          </p:cNvPr>
          <p:cNvSpPr>
            <a:spLocks noGrp="1"/>
          </p:cNvSpPr>
          <p:nvPr/>
        </p:nvSpPr>
        <p:spPr>
          <a:xfrm>
            <a:off x="742950" y="2000250"/>
            <a:ext cx="533400" cy="323850"/>
          </a:xfrm>
          <a:prstGeom prst="rect">
            <a:avLst/>
          </a:prstGeom>
          <a:noFill/>
          <a:ln w="0">
            <a:noFill/>
            <a:prstDash val="solid"/>
          </a:ln>
        </p:spPr>
        <p:txBody>
          <a:bodyPr wrap="square" lIns="0" tIns="0" rIns="0" bIns="0" anchor="ctr">
            <a:normAutofit/>
          </a:bodyPr>
          <a:lstStyle/>
          <a:p>
            <a:pPr algn="l">
              <a:lnSpc>
                <a:spcPct val="100000"/>
              </a:lnSpc>
              <a:buNone/>
              <a:defRPr sz="1500" b="1">
                <a:solidFill>
                  <a:srgbClr val="007C7A"/>
                </a:solidFill>
                <a:latin typeface="Aptos Display"/>
                <a:ea typeface="Aptos Display"/>
                <a:cs typeface="Aptos Display"/>
              </a:defRPr>
            </a:pPr>
            <a:r>
              <a:rPr sz="1500" b="1">
                <a:solidFill>
                  <a:srgbClr val="007C7A"/>
                </a:solidFill>
                <a:latin typeface="Aptos Display"/>
                <a:ea typeface="Aptos Display"/>
                <a:cs typeface="Aptos Display"/>
              </a:rPr>
              <a:t>01</a:t>
            </a:r>
          </a:p>
        </p:txBody>
      </p:sp>
      <p:sp>
        <p:nvSpPr>
          <p:cNvPr id="8" name="Rectangle 7">
            <a:extLst>
              <a:ext uri="{FF2B5EF4-FFF2-40B4-BE49-F238E27FC236}">
                <a16:creationId xmlns:a16="http://schemas.microsoft.com/office/drawing/2014/main" id="{00000010-0008-4000-8000-000000000000}"/>
              </a:ext>
            </a:extLst>
          </p:cNvPr>
          <p:cNvSpPr>
            <a:spLocks noGrp="1"/>
          </p:cNvSpPr>
          <p:nvPr/>
        </p:nvSpPr>
        <p:spPr>
          <a:xfrm>
            <a:off x="1333500" y="1962150"/>
            <a:ext cx="3333750" cy="800100"/>
          </a:xfrm>
          <a:prstGeom prst="rect">
            <a:avLst/>
          </a:prstGeom>
          <a:noFill/>
          <a:ln w="0">
            <a:noFill/>
            <a:prstDash val="solid"/>
          </a:ln>
        </p:spPr>
        <p:txBody>
          <a:bodyPr wrap="square" lIns="0" tIns="0" rIns="0" bIns="0" anchor="ctr">
            <a:normAutofit/>
          </a:bodyPr>
          <a:lstStyle/>
          <a:p>
            <a:pPr algn="l">
              <a:lnSpc>
                <a:spcPct val="100000"/>
              </a:lnSpc>
              <a:buNone/>
              <a:defRPr sz="2325" b="1">
                <a:solidFill>
                  <a:srgbClr val="17343A"/>
                </a:solidFill>
                <a:latin typeface="Aptos Display"/>
                <a:ea typeface="Aptos Display"/>
                <a:cs typeface="Aptos Display"/>
              </a:defRPr>
            </a:pPr>
            <a:r>
              <a:rPr sz="2325" b="1">
                <a:solidFill>
                  <a:srgbClr val="17343A"/>
                </a:solidFill>
                <a:latin typeface="Aptos Display"/>
                <a:ea typeface="Aptos Display"/>
                <a:cs typeface="Aptos Display"/>
              </a:rPr>
              <a:t>Missing region</a:t>
            </a:r>
          </a:p>
        </p:txBody>
      </p:sp>
      <p:sp>
        <p:nvSpPr>
          <p:cNvPr id="9" name="Rectangle 8">
            <a:extLst>
              <a:ext uri="{FF2B5EF4-FFF2-40B4-BE49-F238E27FC236}">
                <a16:creationId xmlns:a16="http://schemas.microsoft.com/office/drawing/2014/main" id="{00000010-0009-4000-8000-000000000000}"/>
              </a:ext>
            </a:extLst>
          </p:cNvPr>
          <p:cNvSpPr>
            <a:spLocks noGrp="1"/>
          </p:cNvSpPr>
          <p:nvPr/>
        </p:nvSpPr>
        <p:spPr>
          <a:xfrm>
            <a:off x="742950" y="2857500"/>
            <a:ext cx="3905250" cy="19050"/>
          </a:xfrm>
          <a:prstGeom prst="rect">
            <a:avLst/>
          </a:prstGeom>
          <a:solidFill>
            <a:srgbClr val="DCEAE4"/>
          </a:solidFill>
          <a:ln w="0">
            <a:solidFill>
              <a:srgbClr val="DCEAE4"/>
            </a:solidFill>
            <a:prstDash val="solid"/>
          </a:ln>
        </p:spPr>
        <p:txBody>
          <a:bodyPr/>
          <a:lstStyle/>
          <a:p>
            <a:endParaRPr lang="en-US"/>
          </a:p>
        </p:txBody>
      </p:sp>
      <p:sp>
        <p:nvSpPr>
          <p:cNvPr id="10" name="Rectangle 9">
            <a:extLst>
              <a:ext uri="{FF2B5EF4-FFF2-40B4-BE49-F238E27FC236}">
                <a16:creationId xmlns:a16="http://schemas.microsoft.com/office/drawing/2014/main" id="{00000010-000A-4000-8000-000000000000}"/>
              </a:ext>
            </a:extLst>
          </p:cNvPr>
          <p:cNvSpPr>
            <a:spLocks noGrp="1"/>
          </p:cNvSpPr>
          <p:nvPr/>
        </p:nvSpPr>
        <p:spPr>
          <a:xfrm>
            <a:off x="7524750" y="2000250"/>
            <a:ext cx="533400" cy="323850"/>
          </a:xfrm>
          <a:prstGeom prst="rect">
            <a:avLst/>
          </a:prstGeom>
          <a:noFill/>
          <a:ln w="0">
            <a:noFill/>
            <a:prstDash val="solid"/>
          </a:ln>
        </p:spPr>
        <p:txBody>
          <a:bodyPr wrap="square" lIns="0" tIns="0" rIns="0" bIns="0" anchor="ctr">
            <a:normAutofit/>
          </a:bodyPr>
          <a:lstStyle/>
          <a:p>
            <a:pPr algn="l">
              <a:lnSpc>
                <a:spcPct val="100000"/>
              </a:lnSpc>
              <a:buNone/>
              <a:defRPr sz="1500" b="1">
                <a:solidFill>
                  <a:srgbClr val="EF6A5B"/>
                </a:solidFill>
                <a:latin typeface="Aptos Display"/>
                <a:ea typeface="Aptos Display"/>
                <a:cs typeface="Aptos Display"/>
              </a:defRPr>
            </a:pPr>
            <a:r>
              <a:rPr sz="1500" b="1">
                <a:solidFill>
                  <a:srgbClr val="EF6A5B"/>
                </a:solidFill>
                <a:latin typeface="Aptos Display"/>
                <a:ea typeface="Aptos Display"/>
                <a:cs typeface="Aptos Display"/>
              </a:rPr>
              <a:t>02</a:t>
            </a:r>
          </a:p>
        </p:txBody>
      </p:sp>
      <p:sp>
        <p:nvSpPr>
          <p:cNvPr id="11" name="Rectangle 10">
            <a:extLst>
              <a:ext uri="{FF2B5EF4-FFF2-40B4-BE49-F238E27FC236}">
                <a16:creationId xmlns:a16="http://schemas.microsoft.com/office/drawing/2014/main" id="{00000010-000B-4000-8000-000000000000}"/>
              </a:ext>
            </a:extLst>
          </p:cNvPr>
          <p:cNvSpPr>
            <a:spLocks noGrp="1"/>
          </p:cNvSpPr>
          <p:nvPr/>
        </p:nvSpPr>
        <p:spPr>
          <a:xfrm>
            <a:off x="8115300" y="1962150"/>
            <a:ext cx="3333750" cy="800100"/>
          </a:xfrm>
          <a:prstGeom prst="rect">
            <a:avLst/>
          </a:prstGeom>
          <a:noFill/>
          <a:ln w="0">
            <a:noFill/>
            <a:prstDash val="solid"/>
          </a:ln>
        </p:spPr>
        <p:txBody>
          <a:bodyPr wrap="square" lIns="0" tIns="0" rIns="0" bIns="0" anchor="ctr">
            <a:normAutofit/>
          </a:bodyPr>
          <a:lstStyle/>
          <a:p>
            <a:pPr algn="l">
              <a:lnSpc>
                <a:spcPct val="100000"/>
              </a:lnSpc>
              <a:buNone/>
              <a:defRPr sz="2325" b="1">
                <a:solidFill>
                  <a:srgbClr val="17343A"/>
                </a:solidFill>
                <a:latin typeface="Aptos Display"/>
                <a:ea typeface="Aptos Display"/>
                <a:cs typeface="Aptos Display"/>
              </a:defRPr>
            </a:pPr>
            <a:r>
              <a:rPr sz="2325" b="1">
                <a:solidFill>
                  <a:srgbClr val="17343A"/>
                </a:solidFill>
                <a:latin typeface="Aptos Display"/>
                <a:ea typeface="Aptos Display"/>
                <a:cs typeface="Aptos Display"/>
              </a:rPr>
              <a:t>Zero visits</a:t>
            </a:r>
          </a:p>
        </p:txBody>
      </p:sp>
      <p:sp>
        <p:nvSpPr>
          <p:cNvPr id="12" name="Rectangle 11">
            <a:extLst>
              <a:ext uri="{FF2B5EF4-FFF2-40B4-BE49-F238E27FC236}">
                <a16:creationId xmlns:a16="http://schemas.microsoft.com/office/drawing/2014/main" id="{00000010-000C-4000-8000-000000000000}"/>
              </a:ext>
            </a:extLst>
          </p:cNvPr>
          <p:cNvSpPr>
            <a:spLocks noGrp="1"/>
          </p:cNvSpPr>
          <p:nvPr/>
        </p:nvSpPr>
        <p:spPr>
          <a:xfrm>
            <a:off x="7524750" y="2857500"/>
            <a:ext cx="3905250" cy="19050"/>
          </a:xfrm>
          <a:prstGeom prst="rect">
            <a:avLst/>
          </a:prstGeom>
          <a:solidFill>
            <a:srgbClr val="DCEAE4"/>
          </a:solidFill>
          <a:ln w="0">
            <a:solidFill>
              <a:srgbClr val="DCEAE4"/>
            </a:solidFill>
            <a:prstDash val="solid"/>
          </a:ln>
        </p:spPr>
        <p:txBody>
          <a:bodyPr/>
          <a:lstStyle/>
          <a:p>
            <a:endParaRPr lang="en-US"/>
          </a:p>
        </p:txBody>
      </p:sp>
      <p:sp>
        <p:nvSpPr>
          <p:cNvPr id="13" name="Rectangle 12">
            <a:extLst>
              <a:ext uri="{FF2B5EF4-FFF2-40B4-BE49-F238E27FC236}">
                <a16:creationId xmlns:a16="http://schemas.microsoft.com/office/drawing/2014/main" id="{00000010-000D-4000-8000-000000000000}"/>
              </a:ext>
            </a:extLst>
          </p:cNvPr>
          <p:cNvSpPr>
            <a:spLocks noGrp="1"/>
          </p:cNvSpPr>
          <p:nvPr/>
        </p:nvSpPr>
        <p:spPr>
          <a:xfrm>
            <a:off x="742950" y="4286250"/>
            <a:ext cx="533400" cy="323850"/>
          </a:xfrm>
          <a:prstGeom prst="rect">
            <a:avLst/>
          </a:prstGeom>
          <a:noFill/>
          <a:ln w="0">
            <a:noFill/>
            <a:prstDash val="solid"/>
          </a:ln>
        </p:spPr>
        <p:txBody>
          <a:bodyPr wrap="square" lIns="0" tIns="0" rIns="0" bIns="0" anchor="ctr">
            <a:normAutofit/>
          </a:bodyPr>
          <a:lstStyle/>
          <a:p>
            <a:pPr algn="l">
              <a:lnSpc>
                <a:spcPct val="100000"/>
              </a:lnSpc>
              <a:buNone/>
              <a:defRPr sz="1500" b="1">
                <a:solidFill>
                  <a:srgbClr val="EF6A5B"/>
                </a:solidFill>
                <a:latin typeface="Aptos Display"/>
                <a:ea typeface="Aptos Display"/>
                <a:cs typeface="Aptos Display"/>
              </a:defRPr>
            </a:pPr>
            <a:r>
              <a:rPr sz="1500" b="1">
                <a:solidFill>
                  <a:srgbClr val="EF6A5B"/>
                </a:solidFill>
                <a:latin typeface="Aptos Display"/>
                <a:ea typeface="Aptos Display"/>
                <a:cs typeface="Aptos Display"/>
              </a:rPr>
              <a:t>03</a:t>
            </a:r>
          </a:p>
        </p:txBody>
      </p:sp>
      <p:sp>
        <p:nvSpPr>
          <p:cNvPr id="14" name="Rectangle 13">
            <a:extLst>
              <a:ext uri="{FF2B5EF4-FFF2-40B4-BE49-F238E27FC236}">
                <a16:creationId xmlns:a16="http://schemas.microsoft.com/office/drawing/2014/main" id="{00000010-000E-4000-8000-000000000000}"/>
              </a:ext>
            </a:extLst>
          </p:cNvPr>
          <p:cNvSpPr>
            <a:spLocks noGrp="1"/>
          </p:cNvSpPr>
          <p:nvPr/>
        </p:nvSpPr>
        <p:spPr>
          <a:xfrm>
            <a:off x="1333500" y="4248150"/>
            <a:ext cx="3333750" cy="800100"/>
          </a:xfrm>
          <a:prstGeom prst="rect">
            <a:avLst/>
          </a:prstGeom>
          <a:noFill/>
          <a:ln w="0">
            <a:noFill/>
            <a:prstDash val="solid"/>
          </a:ln>
        </p:spPr>
        <p:txBody>
          <a:bodyPr wrap="square" lIns="0" tIns="0" rIns="0" bIns="0" anchor="ctr">
            <a:normAutofit/>
          </a:bodyPr>
          <a:lstStyle/>
          <a:p>
            <a:pPr algn="l">
              <a:lnSpc>
                <a:spcPct val="100000"/>
              </a:lnSpc>
              <a:buNone/>
              <a:defRPr sz="2325" b="1">
                <a:solidFill>
                  <a:srgbClr val="17343A"/>
                </a:solidFill>
                <a:latin typeface="Aptos Display"/>
                <a:ea typeface="Aptos Display"/>
                <a:cs typeface="Aptos Display"/>
              </a:defRPr>
            </a:pPr>
            <a:r>
              <a:rPr sz="2325" b="1">
                <a:solidFill>
                  <a:srgbClr val="17343A"/>
                </a:solidFill>
                <a:latin typeface="Aptos Display"/>
                <a:ea typeface="Aptos Display"/>
                <a:cs typeface="Aptos Display"/>
              </a:rPr>
              <a:t>Unknown category</a:t>
            </a:r>
          </a:p>
        </p:txBody>
      </p:sp>
      <p:sp>
        <p:nvSpPr>
          <p:cNvPr id="15" name="Rectangle 14">
            <a:extLst>
              <a:ext uri="{FF2B5EF4-FFF2-40B4-BE49-F238E27FC236}">
                <a16:creationId xmlns:a16="http://schemas.microsoft.com/office/drawing/2014/main" id="{00000010-000F-4000-8000-000000000000}"/>
              </a:ext>
            </a:extLst>
          </p:cNvPr>
          <p:cNvSpPr>
            <a:spLocks noGrp="1"/>
          </p:cNvSpPr>
          <p:nvPr/>
        </p:nvSpPr>
        <p:spPr>
          <a:xfrm>
            <a:off x="742950" y="5143500"/>
            <a:ext cx="3905250" cy="19050"/>
          </a:xfrm>
          <a:prstGeom prst="rect">
            <a:avLst/>
          </a:prstGeom>
          <a:solidFill>
            <a:srgbClr val="DCEAE4"/>
          </a:solidFill>
          <a:ln w="0">
            <a:solidFill>
              <a:srgbClr val="DCEAE4"/>
            </a:solidFill>
            <a:prstDash val="solid"/>
          </a:ln>
        </p:spPr>
        <p:txBody>
          <a:bodyPr/>
          <a:lstStyle/>
          <a:p>
            <a:endParaRPr lang="en-US"/>
          </a:p>
        </p:txBody>
      </p:sp>
      <p:sp>
        <p:nvSpPr>
          <p:cNvPr id="16" name="Rectangle 15">
            <a:extLst>
              <a:ext uri="{FF2B5EF4-FFF2-40B4-BE49-F238E27FC236}">
                <a16:creationId xmlns:a16="http://schemas.microsoft.com/office/drawing/2014/main" id="{00000010-0010-4000-8000-000000000000}"/>
              </a:ext>
            </a:extLst>
          </p:cNvPr>
          <p:cNvSpPr>
            <a:spLocks noGrp="1"/>
          </p:cNvSpPr>
          <p:nvPr/>
        </p:nvSpPr>
        <p:spPr>
          <a:xfrm>
            <a:off x="7524750" y="4286250"/>
            <a:ext cx="533400" cy="323850"/>
          </a:xfrm>
          <a:prstGeom prst="rect">
            <a:avLst/>
          </a:prstGeom>
          <a:noFill/>
          <a:ln w="0">
            <a:noFill/>
            <a:prstDash val="solid"/>
          </a:ln>
        </p:spPr>
        <p:txBody>
          <a:bodyPr wrap="square" lIns="0" tIns="0" rIns="0" bIns="0" anchor="ctr">
            <a:normAutofit/>
          </a:bodyPr>
          <a:lstStyle/>
          <a:p>
            <a:pPr algn="l">
              <a:lnSpc>
                <a:spcPct val="100000"/>
              </a:lnSpc>
              <a:buNone/>
              <a:defRPr sz="1500" b="1">
                <a:solidFill>
                  <a:srgbClr val="007C7A"/>
                </a:solidFill>
                <a:latin typeface="Aptos Display"/>
                <a:ea typeface="Aptos Display"/>
                <a:cs typeface="Aptos Display"/>
              </a:defRPr>
            </a:pPr>
            <a:r>
              <a:rPr sz="1500" b="1">
                <a:solidFill>
                  <a:srgbClr val="007C7A"/>
                </a:solidFill>
                <a:latin typeface="Aptos Display"/>
                <a:ea typeface="Aptos Display"/>
                <a:cs typeface="Aptos Display"/>
              </a:rPr>
              <a:t>04</a:t>
            </a:r>
          </a:p>
        </p:txBody>
      </p:sp>
      <p:sp>
        <p:nvSpPr>
          <p:cNvPr id="17" name="Rectangle 16">
            <a:extLst>
              <a:ext uri="{FF2B5EF4-FFF2-40B4-BE49-F238E27FC236}">
                <a16:creationId xmlns:a16="http://schemas.microsoft.com/office/drawing/2014/main" id="{00000010-0011-4000-8000-000000000000}"/>
              </a:ext>
            </a:extLst>
          </p:cNvPr>
          <p:cNvSpPr>
            <a:spLocks noGrp="1"/>
          </p:cNvSpPr>
          <p:nvPr/>
        </p:nvSpPr>
        <p:spPr>
          <a:xfrm>
            <a:off x="8115300" y="4248150"/>
            <a:ext cx="3333750" cy="800100"/>
          </a:xfrm>
          <a:prstGeom prst="rect">
            <a:avLst/>
          </a:prstGeom>
          <a:noFill/>
          <a:ln w="0">
            <a:noFill/>
            <a:prstDash val="solid"/>
          </a:ln>
        </p:spPr>
        <p:txBody>
          <a:bodyPr wrap="square" lIns="0" tIns="0" rIns="0" bIns="0" anchor="ctr">
            <a:normAutofit/>
          </a:bodyPr>
          <a:lstStyle/>
          <a:p>
            <a:pPr algn="l">
              <a:lnSpc>
                <a:spcPct val="100000"/>
              </a:lnSpc>
              <a:buNone/>
              <a:defRPr sz="2325" b="1">
                <a:solidFill>
                  <a:srgbClr val="17343A"/>
                </a:solidFill>
                <a:latin typeface="Aptos Display"/>
                <a:ea typeface="Aptos Display"/>
                <a:cs typeface="Aptos Display"/>
              </a:defRPr>
            </a:pPr>
            <a:r>
              <a:rPr sz="2325" b="1">
                <a:solidFill>
                  <a:srgbClr val="17343A"/>
                </a:solidFill>
                <a:latin typeface="Aptos Display"/>
                <a:ea typeface="Aptos Display"/>
                <a:cs typeface="Aptos Display"/>
              </a:rPr>
              <a:t>Justified feature</a:t>
            </a:r>
          </a:p>
          <a:p>
            <a:pPr algn="l">
              <a:lnSpc>
                <a:spcPct val="100000"/>
              </a:lnSpc>
              <a:buNone/>
              <a:defRPr sz="2325" b="1">
                <a:solidFill>
                  <a:srgbClr val="17343A"/>
                </a:solidFill>
                <a:latin typeface="Aptos Display"/>
                <a:ea typeface="Aptos Display"/>
                <a:cs typeface="Aptos Display"/>
              </a:defRPr>
            </a:pPr>
            <a:r>
              <a:rPr sz="2325" b="1">
                <a:solidFill>
                  <a:srgbClr val="17343A"/>
                </a:solidFill>
                <a:latin typeface="Aptos Display"/>
                <a:ea typeface="Aptos Display"/>
                <a:cs typeface="Aptos Display"/>
              </a:rPr>
              <a:t>engineering</a:t>
            </a:r>
          </a:p>
        </p:txBody>
      </p:sp>
      <p:sp>
        <p:nvSpPr>
          <p:cNvPr id="18" name="Rectangle 17">
            <a:extLst>
              <a:ext uri="{FF2B5EF4-FFF2-40B4-BE49-F238E27FC236}">
                <a16:creationId xmlns:a16="http://schemas.microsoft.com/office/drawing/2014/main" id="{00000010-0012-4000-8000-000000000000}"/>
              </a:ext>
            </a:extLst>
          </p:cNvPr>
          <p:cNvSpPr>
            <a:spLocks noGrp="1"/>
          </p:cNvSpPr>
          <p:nvPr/>
        </p:nvSpPr>
        <p:spPr>
          <a:xfrm>
            <a:off x="7524750" y="5143500"/>
            <a:ext cx="3905250" cy="19050"/>
          </a:xfrm>
          <a:prstGeom prst="rect">
            <a:avLst/>
          </a:prstGeom>
          <a:solidFill>
            <a:srgbClr val="DCEAE4"/>
          </a:solidFill>
          <a:ln w="0">
            <a:solidFill>
              <a:srgbClr val="DCEAE4"/>
            </a:solidFill>
            <a:prstDash val="solid"/>
          </a:ln>
        </p:spPr>
        <p:txBody>
          <a:bodyPr/>
          <a:lstStyle/>
          <a:p>
            <a:endParaRPr lang="en-US"/>
          </a:p>
        </p:txBody>
      </p:sp>
      <p:sp>
        <p:nvSpPr>
          <p:cNvPr id="19" name="policy-decision">
            <a:extLst>
              <a:ext uri="{FF2B5EF4-FFF2-40B4-BE49-F238E27FC236}">
                <a16:creationId xmlns:a16="http://schemas.microsoft.com/office/drawing/2014/main" id="{00000010-0013-4000-8000-000000000000}"/>
              </a:ext>
            </a:extLst>
          </p:cNvPr>
          <p:cNvSpPr>
            <a:spLocks noGrp="1"/>
          </p:cNvSpPr>
          <p:nvPr/>
        </p:nvSpPr>
        <p:spPr>
          <a:xfrm>
            <a:off x="4762500" y="2667000"/>
            <a:ext cx="2571750" cy="2571750"/>
          </a:xfrm>
          <a:prstGeom prst="ellipse">
            <a:avLst/>
          </a:prstGeom>
          <a:solidFill>
            <a:srgbClr val="DCEAE4"/>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00000010-0014-4000-8000-000000000000}"/>
              </a:ext>
            </a:extLst>
          </p:cNvPr>
          <p:cNvSpPr>
            <a:spLocks noGrp="1"/>
          </p:cNvSpPr>
          <p:nvPr/>
        </p:nvSpPr>
        <p:spPr>
          <a:xfrm>
            <a:off x="4762500" y="2857500"/>
            <a:ext cx="2571750" cy="514350"/>
          </a:xfrm>
          <a:prstGeom prst="rect">
            <a:avLst/>
          </a:prstGeom>
          <a:noFill/>
          <a:ln w="0">
            <a:noFill/>
            <a:prstDash val="solid"/>
          </a:ln>
        </p:spPr>
        <p:txBody>
          <a:bodyPr wrap="square" lIns="0" tIns="0" rIns="0" bIns="0" anchor="ctr">
            <a:normAutofit/>
          </a:bodyPr>
          <a:lstStyle/>
          <a:p>
            <a:pPr algn="ctr">
              <a:lnSpc>
                <a:spcPct val="100000"/>
              </a:lnSpc>
              <a:buNone/>
              <a:defRPr sz="2100" b="1">
                <a:solidFill>
                  <a:srgbClr val="007C7A"/>
                </a:solidFill>
                <a:latin typeface="Aptos Display"/>
                <a:ea typeface="Aptos Display"/>
                <a:cs typeface="Aptos Display"/>
              </a:defRPr>
            </a:pPr>
            <a:r>
              <a:rPr sz="2100" b="1">
                <a:solidFill>
                  <a:srgbClr val="007C7A"/>
                </a:solidFill>
                <a:latin typeface="Aptos Display"/>
                <a:ea typeface="Aptos Display"/>
                <a:cs typeface="Aptos Display"/>
              </a:rPr>
              <a:t>CHOOSE</a:t>
            </a:r>
          </a:p>
        </p:txBody>
      </p:sp>
      <p:sp>
        <p:nvSpPr>
          <p:cNvPr id="21" name="Rectangle 20">
            <a:extLst>
              <a:ext uri="{FF2B5EF4-FFF2-40B4-BE49-F238E27FC236}">
                <a16:creationId xmlns:a16="http://schemas.microsoft.com/office/drawing/2014/main" id="{00000010-0015-4000-8000-000000000000}"/>
              </a:ext>
            </a:extLst>
          </p:cNvPr>
          <p:cNvSpPr>
            <a:spLocks noGrp="1"/>
          </p:cNvSpPr>
          <p:nvPr/>
        </p:nvSpPr>
        <p:spPr>
          <a:xfrm>
            <a:off x="4762500" y="3333750"/>
            <a:ext cx="2571750" cy="1428750"/>
          </a:xfrm>
          <a:prstGeom prst="rect">
            <a:avLst/>
          </a:prstGeom>
          <a:noFill/>
          <a:ln w="0">
            <a:noFill/>
            <a:prstDash val="solid"/>
          </a:ln>
        </p:spPr>
        <p:txBody>
          <a:bodyPr wrap="square" lIns="0" tIns="0" rIns="0" bIns="0" anchor="ctr">
            <a:normAutofit/>
          </a:bodyPr>
          <a:lstStyle/>
          <a:p>
            <a:pPr algn="ctr">
              <a:lnSpc>
                <a:spcPct val="100000"/>
              </a:lnSpc>
              <a:buNone/>
              <a:defRPr sz="2400" b="1">
                <a:solidFill>
                  <a:srgbClr val="17343A"/>
                </a:solidFill>
                <a:latin typeface="Aptos Display"/>
                <a:ea typeface="Aptos Display"/>
                <a:cs typeface="Aptos Display"/>
              </a:defRPr>
            </a:pPr>
            <a:r>
              <a:rPr sz="2400" b="1">
                <a:solidFill>
                  <a:srgbClr val="17343A"/>
                </a:solidFill>
                <a:latin typeface="Aptos Display"/>
                <a:ea typeface="Aptos Display"/>
                <a:cs typeface="Aptos Display"/>
              </a:rPr>
              <a:t>action</a:t>
            </a:r>
          </a:p>
          <a:p>
            <a:pPr algn="ctr">
              <a:lnSpc>
                <a:spcPct val="100000"/>
              </a:lnSpc>
              <a:buNone/>
              <a:defRPr sz="2400" b="1">
                <a:solidFill>
                  <a:srgbClr val="17343A"/>
                </a:solidFill>
                <a:latin typeface="Aptos Display"/>
                <a:ea typeface="Aptos Display"/>
                <a:cs typeface="Aptos Display"/>
              </a:defRPr>
            </a:pPr>
            <a:r>
              <a:rPr sz="2400" b="1">
                <a:solidFill>
                  <a:srgbClr val="17343A"/>
                </a:solidFill>
                <a:latin typeface="Aptos Display"/>
                <a:ea typeface="Aptos Display"/>
                <a:cs typeface="Aptos Display"/>
              </a:rPr>
              <a:t>+ rationale</a:t>
            </a:r>
          </a:p>
          <a:p>
            <a:pPr algn="ctr">
              <a:lnSpc>
                <a:spcPct val="100000"/>
              </a:lnSpc>
              <a:buNone/>
              <a:defRPr sz="2400" b="1">
                <a:solidFill>
                  <a:srgbClr val="17343A"/>
                </a:solidFill>
                <a:latin typeface="Aptos Display"/>
                <a:ea typeface="Aptos Display"/>
                <a:cs typeface="Aptos Display"/>
              </a:defRPr>
            </a:pPr>
            <a:r>
              <a:rPr sz="2400" b="1">
                <a:solidFill>
                  <a:srgbClr val="17343A"/>
                </a:solidFill>
                <a:latin typeface="Aptos Display"/>
                <a:ea typeface="Aptos Display"/>
                <a:cs typeface="Aptos Display"/>
              </a:rPr>
              <a:t>+ trade-off</a:t>
            </a:r>
          </a:p>
        </p:txBody>
      </p:sp>
      <p:sp>
        <p:nvSpPr>
          <p:cNvPr id="22" name="Rectangle 21">
            <a:extLst>
              <a:ext uri="{FF2B5EF4-FFF2-40B4-BE49-F238E27FC236}">
                <a16:creationId xmlns:a16="http://schemas.microsoft.com/office/drawing/2014/main" id="{00000010-0016-4000-8000-000000000000}"/>
              </a:ext>
            </a:extLst>
          </p:cNvPr>
          <p:cNvSpPr>
            <a:spLocks noGrp="1"/>
          </p:cNvSpPr>
          <p:nvPr/>
        </p:nvSpPr>
        <p:spPr>
          <a:xfrm>
            <a:off x="1771650" y="5753100"/>
            <a:ext cx="8648700" cy="419100"/>
          </a:xfrm>
          <a:prstGeom prst="rect">
            <a:avLst/>
          </a:prstGeom>
          <a:noFill/>
          <a:ln w="0">
            <a:noFill/>
            <a:prstDash val="solid"/>
          </a:ln>
        </p:spPr>
        <p:txBody>
          <a:bodyPr wrap="square" lIns="0" tIns="0" rIns="0" bIns="0" anchor="ctr">
            <a:normAutofit fontScale="94998"/>
          </a:bodyPr>
          <a:lstStyle/>
          <a:p>
            <a:pPr algn="ctr">
              <a:lnSpc>
                <a:spcPct val="100000"/>
              </a:lnSpc>
              <a:buNone/>
              <a:defRPr sz="1800" b="0">
                <a:solidFill>
                  <a:srgbClr val="5E6F72"/>
                </a:solidFill>
                <a:latin typeface="Aptos"/>
                <a:ea typeface="Aptos"/>
                <a:cs typeface="Aptos"/>
              </a:defRPr>
            </a:pPr>
            <a:r>
              <a:rPr sz="1800" b="0">
                <a:solidFill>
                  <a:srgbClr val="5E6F72"/>
                </a:solidFill>
                <a:latin typeface="Aptos"/>
                <a:ea typeface="Aptos"/>
                <a:cs typeface="Aptos"/>
              </a:rPr>
              <a:t>Work in your private copy. Alternative policies are welcome—if the trade-off is explicit.</a:t>
            </a:r>
          </a:p>
        </p:txBody>
      </p:sp>
    </p:spTree>
    <p:extLst>
      <p:ext uri="{BB962C8B-B14F-4D97-AF65-F5344CB8AC3E}">
        <p14:creationId xmlns:p14="http://schemas.microsoft.com/office/powerpoint/2010/main" val="1600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0000011-0001-4000-8000-000000000000}"/>
              </a:ext>
            </a:extLst>
          </p:cNvPr>
          <p:cNvSpPr>
            <a:spLocks noGrp="1"/>
          </p:cNvSpPr>
          <p:nvPr/>
        </p:nvSpPr>
        <p:spPr>
          <a:xfrm>
            <a:off x="514350" y="400050"/>
            <a:ext cx="76200" cy="1123950"/>
          </a:xfrm>
          <a:prstGeom prst="rect">
            <a:avLst/>
          </a:prstGeom>
          <a:solidFill>
            <a:srgbClr val="007C7A"/>
          </a:solidFill>
          <a:ln w="0">
            <a:solidFill>
              <a:srgbClr val="007C7A"/>
            </a:solidFill>
            <a:prstDash val="solid"/>
          </a:ln>
        </p:spPr>
        <p:txBody>
          <a:bodyPr/>
          <a:lstStyle/>
          <a:p>
            <a:endParaRPr lang="en-US"/>
          </a:p>
        </p:txBody>
      </p:sp>
      <p:sp>
        <p:nvSpPr>
          <p:cNvPr id="2" name="Rectangle 1">
            <a:extLst>
              <a:ext uri="{FF2B5EF4-FFF2-40B4-BE49-F238E27FC236}">
                <a16:creationId xmlns:a16="http://schemas.microsoft.com/office/drawing/2014/main" id="{00000011-0002-4000-8000-000000000000}"/>
              </a:ext>
            </a:extLst>
          </p:cNvPr>
          <p:cNvSpPr>
            <a:spLocks noGrp="1"/>
          </p:cNvSpPr>
          <p:nvPr/>
        </p:nvSpPr>
        <p:spPr>
          <a:xfrm>
            <a:off x="742950" y="400050"/>
            <a:ext cx="4762500" cy="22860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007C7A"/>
                </a:solidFill>
                <a:latin typeface="Aptos Display"/>
                <a:ea typeface="Aptos Display"/>
                <a:cs typeface="Aptos Display"/>
              </a:defRPr>
            </a:pPr>
            <a:r>
              <a:rPr sz="1200" b="1">
                <a:solidFill>
                  <a:srgbClr val="007C7A"/>
                </a:solidFill>
                <a:latin typeface="Aptos Display"/>
                <a:ea typeface="Aptos Display"/>
                <a:cs typeface="Aptos Display"/>
              </a:rPr>
              <a:t>EXIT TICKET</a:t>
            </a:r>
          </a:p>
        </p:txBody>
      </p:sp>
      <p:sp>
        <p:nvSpPr>
          <p:cNvPr id="3" name="Rectangle 2">
            <a:extLst>
              <a:ext uri="{FF2B5EF4-FFF2-40B4-BE49-F238E27FC236}">
                <a16:creationId xmlns:a16="http://schemas.microsoft.com/office/drawing/2014/main" id="{00000011-0003-4000-8000-000000000000}"/>
              </a:ext>
            </a:extLst>
          </p:cNvPr>
          <p:cNvSpPr>
            <a:spLocks noGrp="1"/>
          </p:cNvSpPr>
          <p:nvPr/>
        </p:nvSpPr>
        <p:spPr>
          <a:xfrm>
            <a:off x="742950" y="647700"/>
            <a:ext cx="10287000" cy="685800"/>
          </a:xfrm>
          <a:prstGeom prst="rect">
            <a:avLst/>
          </a:prstGeom>
          <a:noFill/>
          <a:ln w="0">
            <a:noFill/>
            <a:prstDash val="solid"/>
          </a:ln>
        </p:spPr>
        <p:txBody>
          <a:bodyPr wrap="square" lIns="0" tIns="0" rIns="0" bIns="0" anchor="ctr">
            <a:normAutofit/>
          </a:bodyPr>
          <a:lstStyle/>
          <a:p>
            <a:pPr algn="l">
              <a:lnSpc>
                <a:spcPct val="100000"/>
              </a:lnSpc>
              <a:buNone/>
              <a:defRPr sz="3600" b="1">
                <a:solidFill>
                  <a:srgbClr val="17343A"/>
                </a:solidFill>
                <a:latin typeface="Aptos Display"/>
                <a:ea typeface="Aptos Display"/>
                <a:cs typeface="Aptos Display"/>
              </a:defRPr>
            </a:pPr>
            <a:r>
              <a:rPr sz="3600" b="1">
                <a:solidFill>
                  <a:srgbClr val="17343A"/>
                </a:solidFill>
                <a:latin typeface="Aptos Display"/>
                <a:ea typeface="Aptos Display"/>
                <a:cs typeface="Aptos Display"/>
              </a:rPr>
              <a:t>Three questions before S03</a:t>
            </a:r>
          </a:p>
        </p:txBody>
      </p:sp>
      <p:sp>
        <p:nvSpPr>
          <p:cNvPr id="4" name="Rectangle 3">
            <a:extLst>
              <a:ext uri="{FF2B5EF4-FFF2-40B4-BE49-F238E27FC236}">
                <a16:creationId xmlns:a16="http://schemas.microsoft.com/office/drawing/2014/main" id="{00000011-0004-4000-8000-000000000000}"/>
              </a:ext>
            </a:extLst>
          </p:cNvPr>
          <p:cNvSpPr>
            <a:spLocks noGrp="1"/>
          </p:cNvSpPr>
          <p:nvPr/>
        </p:nvSpPr>
        <p:spPr>
          <a:xfrm>
            <a:off x="10934700" y="438150"/>
            <a:ext cx="762000" cy="228600"/>
          </a:xfrm>
          <a:prstGeom prst="rect">
            <a:avLst/>
          </a:prstGeom>
          <a:noFill/>
          <a:ln w="0">
            <a:noFill/>
            <a:prstDash val="solid"/>
          </a:ln>
        </p:spPr>
        <p:txBody>
          <a:bodyPr wrap="square" lIns="0" tIns="0" rIns="0" bIns="0" anchor="ctr">
            <a:normAutofit fontScale="92322" lnSpcReduction="20000"/>
          </a:bodyPr>
          <a:lstStyle/>
          <a:p>
            <a:pPr algn="r">
              <a:lnSpc>
                <a:spcPct val="100000"/>
              </a:lnSpc>
              <a:buNone/>
              <a:defRPr sz="1200" b="1">
                <a:solidFill>
                  <a:srgbClr val="5E6F72"/>
                </a:solidFill>
                <a:latin typeface="Aptos Display"/>
                <a:ea typeface="Aptos Display"/>
                <a:cs typeface="Aptos Display"/>
              </a:defRPr>
            </a:pPr>
            <a:r>
              <a:rPr sz="1200" b="1">
                <a:solidFill>
                  <a:srgbClr val="5E6F72"/>
                </a:solidFill>
                <a:latin typeface="Aptos Display"/>
                <a:ea typeface="Aptos Display"/>
                <a:cs typeface="Aptos Display"/>
              </a:rPr>
              <a:t>175–180 min</a:t>
            </a:r>
          </a:p>
        </p:txBody>
      </p:sp>
      <p:sp>
        <p:nvSpPr>
          <p:cNvPr id="5" name="Rectangle 4">
            <a:extLst>
              <a:ext uri="{FF2B5EF4-FFF2-40B4-BE49-F238E27FC236}">
                <a16:creationId xmlns:a16="http://schemas.microsoft.com/office/drawing/2014/main" id="{00000011-0005-4000-8000-000000000000}"/>
              </a:ext>
            </a:extLst>
          </p:cNvPr>
          <p:cNvSpPr>
            <a:spLocks noGrp="1"/>
          </p:cNvSpPr>
          <p:nvPr/>
        </p:nvSpPr>
        <p:spPr>
          <a:xfrm>
            <a:off x="742950" y="6419850"/>
            <a:ext cx="10668000" cy="19050"/>
          </a:xfrm>
          <a:prstGeom prst="rect">
            <a:avLst/>
          </a:prstGeom>
          <a:solidFill>
            <a:srgbClr val="DCEAE4"/>
          </a:solidFill>
          <a:ln w="0">
            <a:solidFill>
              <a:srgbClr val="DCEAE4"/>
            </a:solidFill>
            <a:prstDash val="solid"/>
          </a:ln>
        </p:spPr>
        <p:txBody>
          <a:bodyPr/>
          <a:lstStyle/>
          <a:p>
            <a:endParaRPr lang="en-US"/>
          </a:p>
        </p:txBody>
      </p:sp>
      <p:sp>
        <p:nvSpPr>
          <p:cNvPr id="6" name="Rectangle 5">
            <a:extLst>
              <a:ext uri="{FF2B5EF4-FFF2-40B4-BE49-F238E27FC236}">
                <a16:creationId xmlns:a16="http://schemas.microsoft.com/office/drawing/2014/main" id="{00000011-0006-4000-8000-000000000000}"/>
              </a:ext>
            </a:extLst>
          </p:cNvPr>
          <p:cNvSpPr>
            <a:spLocks noGrp="1"/>
          </p:cNvSpPr>
          <p:nvPr/>
        </p:nvSpPr>
        <p:spPr>
          <a:xfrm>
            <a:off x="11049000" y="6477000"/>
            <a:ext cx="361950" cy="171450"/>
          </a:xfrm>
          <a:prstGeom prst="rect">
            <a:avLst/>
          </a:prstGeom>
          <a:noFill/>
          <a:ln w="0">
            <a:noFill/>
            <a:prstDash val="solid"/>
          </a:ln>
        </p:spPr>
        <p:txBody>
          <a:bodyPr wrap="square" lIns="0" tIns="0" rIns="0" bIns="0" anchor="ctr">
            <a:normAutofit/>
          </a:bodyPr>
          <a:lstStyle/>
          <a:p>
            <a:pPr algn="r">
              <a:lnSpc>
                <a:spcPct val="100000"/>
              </a:lnSpc>
              <a:buNone/>
              <a:defRPr sz="975" b="1">
                <a:solidFill>
                  <a:srgbClr val="5E6F72"/>
                </a:solidFill>
                <a:latin typeface="Aptos Display"/>
                <a:ea typeface="Aptos Display"/>
                <a:cs typeface="Aptos Display"/>
              </a:defRPr>
            </a:pPr>
            <a:r>
              <a:rPr sz="975" b="1">
                <a:solidFill>
                  <a:srgbClr val="5E6F72"/>
                </a:solidFill>
                <a:latin typeface="Aptos Display"/>
                <a:ea typeface="Aptos Display"/>
                <a:cs typeface="Aptos Display"/>
              </a:rPr>
              <a:t>17</a:t>
            </a:r>
          </a:p>
        </p:txBody>
      </p:sp>
      <p:sp>
        <p:nvSpPr>
          <p:cNvPr id="7" name="Rectangle 6">
            <a:extLst>
              <a:ext uri="{FF2B5EF4-FFF2-40B4-BE49-F238E27FC236}">
                <a16:creationId xmlns:a16="http://schemas.microsoft.com/office/drawing/2014/main" id="{00000011-0007-4000-8000-000000000000}"/>
              </a:ext>
            </a:extLst>
          </p:cNvPr>
          <p:cNvSpPr>
            <a:spLocks noGrp="1"/>
          </p:cNvSpPr>
          <p:nvPr/>
        </p:nvSpPr>
        <p:spPr>
          <a:xfrm>
            <a:off x="742950" y="1752600"/>
            <a:ext cx="552450" cy="457200"/>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007C7A"/>
                </a:solidFill>
                <a:latin typeface="Aptos Display"/>
                <a:ea typeface="Aptos Display"/>
                <a:cs typeface="Aptos Display"/>
              </a:defRPr>
            </a:pPr>
            <a:r>
              <a:rPr sz="1650" b="1">
                <a:solidFill>
                  <a:srgbClr val="007C7A"/>
                </a:solidFill>
                <a:latin typeface="Aptos Display"/>
                <a:ea typeface="Aptos Display"/>
                <a:cs typeface="Aptos Display"/>
              </a:rPr>
              <a:t>01</a:t>
            </a:r>
          </a:p>
        </p:txBody>
      </p:sp>
      <p:sp>
        <p:nvSpPr>
          <p:cNvPr id="8" name="Rectangle 7">
            <a:extLst>
              <a:ext uri="{FF2B5EF4-FFF2-40B4-BE49-F238E27FC236}">
                <a16:creationId xmlns:a16="http://schemas.microsoft.com/office/drawing/2014/main" id="{00000011-0008-4000-8000-000000000000}"/>
              </a:ext>
            </a:extLst>
          </p:cNvPr>
          <p:cNvSpPr>
            <a:spLocks noGrp="1"/>
          </p:cNvSpPr>
          <p:nvPr/>
        </p:nvSpPr>
        <p:spPr>
          <a:xfrm>
            <a:off x="1428750" y="1714500"/>
            <a:ext cx="9334500" cy="552450"/>
          </a:xfrm>
          <a:prstGeom prst="rect">
            <a:avLst/>
          </a:prstGeom>
          <a:noFill/>
          <a:ln w="0">
            <a:noFill/>
            <a:prstDash val="solid"/>
          </a:ln>
        </p:spPr>
        <p:txBody>
          <a:bodyPr wrap="square" lIns="0" tIns="0" rIns="0" bIns="0" anchor="ctr">
            <a:normAutofit/>
          </a:bodyPr>
          <a:lstStyle/>
          <a:p>
            <a:pPr algn="l">
              <a:lnSpc>
                <a:spcPct val="100000"/>
              </a:lnSpc>
              <a:buNone/>
              <a:defRPr sz="2700" b="1">
                <a:solidFill>
                  <a:srgbClr val="17343A"/>
                </a:solidFill>
                <a:latin typeface="Aptos Display"/>
                <a:ea typeface="Aptos Display"/>
                <a:cs typeface="Aptos Display"/>
              </a:defRPr>
            </a:pPr>
            <a:r>
              <a:rPr sz="2700" b="1">
                <a:solidFill>
                  <a:srgbClr val="17343A"/>
                </a:solidFill>
                <a:latin typeface="Aptos Display"/>
                <a:ea typeface="Aptos Display"/>
                <a:cs typeface="Aptos Display"/>
              </a:rPr>
              <a:t>What is a data error?</a:t>
            </a:r>
          </a:p>
        </p:txBody>
      </p:sp>
      <p:sp>
        <p:nvSpPr>
          <p:cNvPr id="9" name="Rectangle 8">
            <a:extLst>
              <a:ext uri="{FF2B5EF4-FFF2-40B4-BE49-F238E27FC236}">
                <a16:creationId xmlns:a16="http://schemas.microsoft.com/office/drawing/2014/main" id="{00000011-0009-4000-8000-000000000000}"/>
              </a:ext>
            </a:extLst>
          </p:cNvPr>
          <p:cNvSpPr>
            <a:spLocks noGrp="1"/>
          </p:cNvSpPr>
          <p:nvPr/>
        </p:nvSpPr>
        <p:spPr>
          <a:xfrm>
            <a:off x="1428750" y="2438400"/>
            <a:ext cx="9334500" cy="19050"/>
          </a:xfrm>
          <a:prstGeom prst="rect">
            <a:avLst/>
          </a:prstGeom>
          <a:solidFill>
            <a:srgbClr val="DCEAE4"/>
          </a:solidFill>
          <a:ln w="0">
            <a:solidFill>
              <a:srgbClr val="DCEAE4"/>
            </a:solidFill>
            <a:prstDash val="solid"/>
          </a:ln>
        </p:spPr>
        <p:txBody>
          <a:bodyPr/>
          <a:lstStyle/>
          <a:p>
            <a:endParaRPr lang="en-US"/>
          </a:p>
        </p:txBody>
      </p:sp>
      <p:sp>
        <p:nvSpPr>
          <p:cNvPr id="10" name="Rectangle 9">
            <a:extLst>
              <a:ext uri="{FF2B5EF4-FFF2-40B4-BE49-F238E27FC236}">
                <a16:creationId xmlns:a16="http://schemas.microsoft.com/office/drawing/2014/main" id="{00000011-000A-4000-8000-000000000000}"/>
              </a:ext>
            </a:extLst>
          </p:cNvPr>
          <p:cNvSpPr>
            <a:spLocks noGrp="1"/>
          </p:cNvSpPr>
          <p:nvPr/>
        </p:nvSpPr>
        <p:spPr>
          <a:xfrm>
            <a:off x="742950" y="2952750"/>
            <a:ext cx="552450" cy="457200"/>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007C7A"/>
                </a:solidFill>
                <a:latin typeface="Aptos Display"/>
                <a:ea typeface="Aptos Display"/>
                <a:cs typeface="Aptos Display"/>
              </a:defRPr>
            </a:pPr>
            <a:r>
              <a:rPr sz="1650" b="1">
                <a:solidFill>
                  <a:srgbClr val="007C7A"/>
                </a:solidFill>
                <a:latin typeface="Aptos Display"/>
                <a:ea typeface="Aptos Display"/>
                <a:cs typeface="Aptos Display"/>
              </a:rPr>
              <a:t>02</a:t>
            </a:r>
          </a:p>
        </p:txBody>
      </p:sp>
      <p:sp>
        <p:nvSpPr>
          <p:cNvPr id="11" name="Rectangle 10">
            <a:extLst>
              <a:ext uri="{FF2B5EF4-FFF2-40B4-BE49-F238E27FC236}">
                <a16:creationId xmlns:a16="http://schemas.microsoft.com/office/drawing/2014/main" id="{00000011-000B-4000-8000-000000000000}"/>
              </a:ext>
            </a:extLst>
          </p:cNvPr>
          <p:cNvSpPr>
            <a:spLocks noGrp="1"/>
          </p:cNvSpPr>
          <p:nvPr/>
        </p:nvSpPr>
        <p:spPr>
          <a:xfrm>
            <a:off x="1428750" y="2914650"/>
            <a:ext cx="9334500" cy="552450"/>
          </a:xfrm>
          <a:prstGeom prst="rect">
            <a:avLst/>
          </a:prstGeom>
          <a:noFill/>
          <a:ln w="0">
            <a:noFill/>
            <a:prstDash val="solid"/>
          </a:ln>
        </p:spPr>
        <p:txBody>
          <a:bodyPr wrap="square" lIns="0" tIns="0" rIns="0" bIns="0" anchor="ctr">
            <a:normAutofit/>
          </a:bodyPr>
          <a:lstStyle/>
          <a:p>
            <a:pPr algn="l">
              <a:lnSpc>
                <a:spcPct val="100000"/>
              </a:lnSpc>
              <a:buNone/>
              <a:defRPr sz="2700" b="1">
                <a:solidFill>
                  <a:srgbClr val="17343A"/>
                </a:solidFill>
                <a:latin typeface="Aptos Display"/>
                <a:ea typeface="Aptos Display"/>
                <a:cs typeface="Aptos Display"/>
              </a:defRPr>
            </a:pPr>
            <a:r>
              <a:rPr sz="2700" b="1">
                <a:solidFill>
                  <a:srgbClr val="17343A"/>
                </a:solidFill>
                <a:latin typeface="Aptos Display"/>
                <a:ea typeface="Aptos Display"/>
                <a:cs typeface="Aptos Display"/>
              </a:rPr>
              <a:t>What is fitted?</a:t>
            </a:r>
          </a:p>
        </p:txBody>
      </p:sp>
      <p:sp>
        <p:nvSpPr>
          <p:cNvPr id="12" name="Rectangle 11">
            <a:extLst>
              <a:ext uri="{FF2B5EF4-FFF2-40B4-BE49-F238E27FC236}">
                <a16:creationId xmlns:a16="http://schemas.microsoft.com/office/drawing/2014/main" id="{00000011-000C-4000-8000-000000000000}"/>
              </a:ext>
            </a:extLst>
          </p:cNvPr>
          <p:cNvSpPr>
            <a:spLocks noGrp="1"/>
          </p:cNvSpPr>
          <p:nvPr/>
        </p:nvSpPr>
        <p:spPr>
          <a:xfrm>
            <a:off x="1428750" y="3638550"/>
            <a:ext cx="9334500" cy="19050"/>
          </a:xfrm>
          <a:prstGeom prst="rect">
            <a:avLst/>
          </a:prstGeom>
          <a:solidFill>
            <a:srgbClr val="DCEAE4"/>
          </a:solidFill>
          <a:ln w="0">
            <a:solidFill>
              <a:srgbClr val="DCEAE4"/>
            </a:solidFill>
            <a:prstDash val="solid"/>
          </a:ln>
        </p:spPr>
        <p:txBody>
          <a:bodyPr/>
          <a:lstStyle/>
          <a:p>
            <a:endParaRPr lang="en-US"/>
          </a:p>
        </p:txBody>
      </p:sp>
      <p:sp>
        <p:nvSpPr>
          <p:cNvPr id="13" name="Rectangle 12">
            <a:extLst>
              <a:ext uri="{FF2B5EF4-FFF2-40B4-BE49-F238E27FC236}">
                <a16:creationId xmlns:a16="http://schemas.microsoft.com/office/drawing/2014/main" id="{00000011-000D-4000-8000-000000000000}"/>
              </a:ext>
            </a:extLst>
          </p:cNvPr>
          <p:cNvSpPr>
            <a:spLocks noGrp="1"/>
          </p:cNvSpPr>
          <p:nvPr/>
        </p:nvSpPr>
        <p:spPr>
          <a:xfrm>
            <a:off x="742950" y="4152900"/>
            <a:ext cx="552450" cy="457200"/>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EF6A5B"/>
                </a:solidFill>
                <a:latin typeface="Aptos Display"/>
                <a:ea typeface="Aptos Display"/>
                <a:cs typeface="Aptos Display"/>
              </a:defRPr>
            </a:pPr>
            <a:r>
              <a:rPr sz="1650" b="1">
                <a:solidFill>
                  <a:srgbClr val="EF6A5B"/>
                </a:solidFill>
                <a:latin typeface="Aptos Display"/>
                <a:ea typeface="Aptos Display"/>
                <a:cs typeface="Aptos Display"/>
              </a:rPr>
              <a:t>03</a:t>
            </a:r>
          </a:p>
        </p:txBody>
      </p:sp>
      <p:sp>
        <p:nvSpPr>
          <p:cNvPr id="14" name="Rectangle 13">
            <a:extLst>
              <a:ext uri="{FF2B5EF4-FFF2-40B4-BE49-F238E27FC236}">
                <a16:creationId xmlns:a16="http://schemas.microsoft.com/office/drawing/2014/main" id="{00000011-000E-4000-8000-000000000000}"/>
              </a:ext>
            </a:extLst>
          </p:cNvPr>
          <p:cNvSpPr>
            <a:spLocks noGrp="1"/>
          </p:cNvSpPr>
          <p:nvPr/>
        </p:nvSpPr>
        <p:spPr>
          <a:xfrm>
            <a:off x="1428750" y="4114800"/>
            <a:ext cx="9334500" cy="552450"/>
          </a:xfrm>
          <a:prstGeom prst="rect">
            <a:avLst/>
          </a:prstGeom>
          <a:noFill/>
          <a:ln w="0">
            <a:noFill/>
            <a:prstDash val="solid"/>
          </a:ln>
        </p:spPr>
        <p:txBody>
          <a:bodyPr wrap="square" lIns="0" tIns="0" rIns="0" bIns="0" anchor="ctr">
            <a:normAutofit/>
          </a:bodyPr>
          <a:lstStyle/>
          <a:p>
            <a:pPr algn="l">
              <a:lnSpc>
                <a:spcPct val="100000"/>
              </a:lnSpc>
              <a:buNone/>
              <a:defRPr sz="2700" b="1">
                <a:solidFill>
                  <a:srgbClr val="17343A"/>
                </a:solidFill>
                <a:latin typeface="Aptos Display"/>
                <a:ea typeface="Aptos Display"/>
                <a:cs typeface="Aptos Display"/>
              </a:defRPr>
            </a:pPr>
            <a:r>
              <a:rPr sz="2700" b="1">
                <a:solidFill>
                  <a:srgbClr val="17343A"/>
                </a:solidFill>
                <a:latin typeface="Aptos Display"/>
                <a:ea typeface="Aptos Display"/>
                <a:cs typeface="Aptos Display"/>
              </a:rPr>
              <a:t>Why should the holdout remain untouched?</a:t>
            </a:r>
          </a:p>
        </p:txBody>
      </p:sp>
      <p:sp>
        <p:nvSpPr>
          <p:cNvPr id="15" name="Rectangle 14">
            <a:extLst>
              <a:ext uri="{FF2B5EF4-FFF2-40B4-BE49-F238E27FC236}">
                <a16:creationId xmlns:a16="http://schemas.microsoft.com/office/drawing/2014/main" id="{00000011-000F-4000-8000-000000000000}"/>
              </a:ext>
            </a:extLst>
          </p:cNvPr>
          <p:cNvSpPr>
            <a:spLocks noGrp="1"/>
          </p:cNvSpPr>
          <p:nvPr/>
        </p:nvSpPr>
        <p:spPr>
          <a:xfrm>
            <a:off x="1428750" y="4838700"/>
            <a:ext cx="9334500" cy="19050"/>
          </a:xfrm>
          <a:prstGeom prst="rect">
            <a:avLst/>
          </a:prstGeom>
          <a:solidFill>
            <a:srgbClr val="DCEAE4"/>
          </a:solidFill>
          <a:ln w="0">
            <a:solidFill>
              <a:srgbClr val="DCEAE4"/>
            </a:solidFill>
            <a:prstDash val="solid"/>
          </a:ln>
        </p:spPr>
        <p:txBody>
          <a:bodyPr/>
          <a:lstStyle/>
          <a:p>
            <a:endParaRPr lang="en-US"/>
          </a:p>
        </p:txBody>
      </p:sp>
      <p:sp>
        <p:nvSpPr>
          <p:cNvPr id="16" name="Rectangle 15">
            <a:extLst>
              <a:ext uri="{FF2B5EF4-FFF2-40B4-BE49-F238E27FC236}">
                <a16:creationId xmlns:a16="http://schemas.microsoft.com/office/drawing/2014/main" id="{00000011-0010-4000-8000-000000000000}"/>
              </a:ext>
            </a:extLst>
          </p:cNvPr>
          <p:cNvSpPr>
            <a:spLocks noGrp="1"/>
          </p:cNvSpPr>
          <p:nvPr/>
        </p:nvSpPr>
        <p:spPr>
          <a:xfrm>
            <a:off x="1428750" y="5429250"/>
            <a:ext cx="8572500" cy="400050"/>
          </a:xfrm>
          <a:prstGeom prst="rect">
            <a:avLst/>
          </a:prstGeom>
          <a:noFill/>
          <a:ln w="0">
            <a:noFill/>
            <a:prstDash val="solid"/>
          </a:ln>
        </p:spPr>
        <p:txBody>
          <a:bodyPr wrap="square" lIns="0" tIns="0" rIns="0" bIns="0" anchor="ctr">
            <a:normAutofit/>
          </a:bodyPr>
          <a:lstStyle/>
          <a:p>
            <a:pPr algn="l">
              <a:lnSpc>
                <a:spcPct val="100000"/>
              </a:lnSpc>
              <a:buNone/>
              <a:defRPr sz="1950" b="0">
                <a:solidFill>
                  <a:srgbClr val="5E6F72"/>
                </a:solidFill>
                <a:latin typeface="Aptos"/>
                <a:ea typeface="Aptos"/>
                <a:cs typeface="Aptos"/>
              </a:defRPr>
            </a:pPr>
            <a:r>
              <a:rPr sz="1950" b="0">
                <a:solidFill>
                  <a:srgbClr val="5E6F72"/>
                </a:solidFill>
                <a:latin typeface="Aptos"/>
                <a:ea typeface="Aptos"/>
                <a:cs typeface="Aptos"/>
              </a:rPr>
              <a:t>Answer individually. Keep each response to one sentence.</a:t>
            </a:r>
          </a:p>
        </p:txBody>
      </p:sp>
      <p:sp>
        <p:nvSpPr>
          <p:cNvPr id="17" name="Rectangle 16">
            <a:extLst>
              <a:ext uri="{FF2B5EF4-FFF2-40B4-BE49-F238E27FC236}">
                <a16:creationId xmlns:a16="http://schemas.microsoft.com/office/drawing/2014/main" id="{00000011-0011-4000-8000-000000000000}"/>
              </a:ext>
            </a:extLst>
          </p:cNvPr>
          <p:cNvSpPr>
            <a:spLocks noGrp="1"/>
          </p:cNvSpPr>
          <p:nvPr/>
        </p:nvSpPr>
        <p:spPr>
          <a:xfrm>
            <a:off x="742950" y="6000750"/>
            <a:ext cx="10668000" cy="38100"/>
          </a:xfrm>
          <a:prstGeom prst="rect">
            <a:avLst/>
          </a:prstGeom>
          <a:solidFill>
            <a:srgbClr val="EF6A5B"/>
          </a:solidFill>
          <a:ln w="0">
            <a:solidFill>
              <a:srgbClr val="EF6A5B"/>
            </a:solidFill>
            <a:prstDash val="solid"/>
          </a:ln>
        </p:spPr>
        <p:txBody>
          <a:bodyPr/>
          <a:lstStyle/>
          <a:p>
            <a:endParaRPr lang="en-US"/>
          </a:p>
        </p:txBody>
      </p:sp>
      <p:sp>
        <p:nvSpPr>
          <p:cNvPr id="18" name="Rectangle 17">
            <a:extLst>
              <a:ext uri="{FF2B5EF4-FFF2-40B4-BE49-F238E27FC236}">
                <a16:creationId xmlns:a16="http://schemas.microsoft.com/office/drawing/2014/main" id="{00000011-0012-4000-8000-000000000000}"/>
              </a:ext>
            </a:extLst>
          </p:cNvPr>
          <p:cNvSpPr>
            <a:spLocks noGrp="1"/>
          </p:cNvSpPr>
          <p:nvPr/>
        </p:nvSpPr>
        <p:spPr>
          <a:xfrm>
            <a:off x="742950" y="6096000"/>
            <a:ext cx="1409700" cy="247650"/>
          </a:xfrm>
          <a:prstGeom prst="rect">
            <a:avLst/>
          </a:prstGeom>
          <a:noFill/>
          <a:ln w="0">
            <a:noFill/>
            <a:prstDash val="solid"/>
          </a:ln>
        </p:spPr>
        <p:txBody>
          <a:bodyPr wrap="square" lIns="0" tIns="0" rIns="0" bIns="0" anchor="ctr">
            <a:normAutofit/>
          </a:bodyPr>
          <a:lstStyle/>
          <a:p>
            <a:pPr algn="l">
              <a:lnSpc>
                <a:spcPct val="100000"/>
              </a:lnSpc>
              <a:buNone/>
              <a:defRPr sz="1200" b="1">
                <a:solidFill>
                  <a:srgbClr val="EF6A5B"/>
                </a:solidFill>
                <a:latin typeface="Aptos Display"/>
                <a:ea typeface="Aptos Display"/>
                <a:cs typeface="Aptos Display"/>
              </a:defRPr>
            </a:pPr>
            <a:r>
              <a:rPr sz="1200" b="1">
                <a:solidFill>
                  <a:srgbClr val="EF6A5B"/>
                </a:solidFill>
                <a:latin typeface="Aptos Display"/>
                <a:ea typeface="Aptos Display"/>
                <a:cs typeface="Aptos Display"/>
              </a:rPr>
              <a:t>NEXT · S03</a:t>
            </a:r>
          </a:p>
        </p:txBody>
      </p:sp>
      <p:sp>
        <p:nvSpPr>
          <p:cNvPr id="19" name="Rectangle 18">
            <a:extLst>
              <a:ext uri="{FF2B5EF4-FFF2-40B4-BE49-F238E27FC236}">
                <a16:creationId xmlns:a16="http://schemas.microsoft.com/office/drawing/2014/main" id="{00000011-0013-4000-8000-000000000000}"/>
              </a:ext>
            </a:extLst>
          </p:cNvPr>
          <p:cNvSpPr>
            <a:spLocks noGrp="1"/>
          </p:cNvSpPr>
          <p:nvPr/>
        </p:nvSpPr>
        <p:spPr>
          <a:xfrm>
            <a:off x="2343150" y="6038850"/>
            <a:ext cx="8477250" cy="342900"/>
          </a:xfrm>
          <a:prstGeom prst="rect">
            <a:avLst/>
          </a:prstGeom>
          <a:noFill/>
          <a:ln w="0">
            <a:noFill/>
            <a:prstDash val="solid"/>
          </a:ln>
        </p:spPr>
        <p:txBody>
          <a:bodyPr wrap="square" lIns="0" tIns="0" rIns="0" bIns="0" anchor="ctr">
            <a:normAutofit/>
          </a:bodyPr>
          <a:lstStyle/>
          <a:p>
            <a:pPr algn="l">
              <a:lnSpc>
                <a:spcPct val="100000"/>
              </a:lnSpc>
              <a:buNone/>
              <a:defRPr sz="1800" b="1">
                <a:solidFill>
                  <a:srgbClr val="17343A"/>
                </a:solidFill>
                <a:latin typeface="Aptos Display"/>
                <a:ea typeface="Aptos Display"/>
                <a:cs typeface="Aptos Display"/>
              </a:defRPr>
            </a:pPr>
            <a:r>
              <a:rPr sz="1800" b="1">
                <a:solidFill>
                  <a:srgbClr val="17343A"/>
                </a:solidFill>
                <a:latin typeface="Aptos Display"/>
                <a:ea typeface="Aptos Display"/>
                <a:cs typeface="Aptos Display"/>
              </a:rPr>
              <a:t>Use the prepared feature matrix for linear regression.</a:t>
            </a:r>
          </a:p>
        </p:txBody>
      </p:sp>
    </p:spTree>
    <p:extLst>
      <p:ext uri="{BB962C8B-B14F-4D97-AF65-F5344CB8AC3E}">
        <p14:creationId xmlns:p14="http://schemas.microsoft.com/office/powerpoint/2010/main" val="17000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4749</Words>
  <Application>Microsoft Office PowerPoint</Application>
  <PresentationFormat>Widescreen</PresentationFormat>
  <Paragraphs>411</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Aptos Mono</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Yamil Emmanuel Fajouri</dc:creator>
  <cp:lastModifiedBy>Yamil Emmanuel Fajouri</cp:lastModifiedBy>
  <cp:revision>1</cp:revision>
  <dcterms:created xsi:type="dcterms:W3CDTF">2026-10-28T14:45:09Z</dcterms:created>
  <dcterms:modified xsi:type="dcterms:W3CDTF">2026-10-28T15:22:37Z</dcterms:modified>
</cp:coreProperties>
</file>