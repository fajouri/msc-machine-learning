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4873A5-8FE8-42E5-8175-377746D617C5}" v="3" dt="2026-10-21T16:27:14.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41525" autoAdjust="0"/>
  </p:normalViewPr>
  <p:slideViewPr>
    <p:cSldViewPr snapToGrid="0">
      <p:cViewPr varScale="1">
        <p:scale>
          <a:sx n="46" d="100"/>
          <a:sy n="46" d="100"/>
        </p:scale>
        <p:origin x="210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il Emmanuel Fajouri" userId="e0266ec93731fc4b" providerId="LiveId" clId="{FCABDE11-4A50-44EF-BB72-B961322F10BB}"/>
    <pc:docChg chg="custSel addSld modSld modNotesMaster">
      <pc:chgData name="Yamil Emmanuel Fajouri" userId="e0266ec93731fc4b" providerId="LiveId" clId="{FCABDE11-4A50-44EF-BB72-B961322F10BB}" dt="2026-10-22T08:46:31.330" v="25" actId="478"/>
      <pc:docMkLst>
        <pc:docMk/>
      </pc:docMkLst>
      <pc:sldChg chg="modSp mod">
        <pc:chgData name="Yamil Emmanuel Fajouri" userId="e0266ec93731fc4b" providerId="LiveId" clId="{FCABDE11-4A50-44EF-BB72-B961322F10BB}" dt="2026-10-22T08:45:10.359" v="4" actId="20577"/>
        <pc:sldMkLst>
          <pc:docMk/>
          <pc:sldMk cId="100001" sldId="256"/>
        </pc:sldMkLst>
        <pc:spChg chg="mod">
          <ac:chgData name="Yamil Emmanuel Fajouri" userId="e0266ec93731fc4b" providerId="LiveId" clId="{FCABDE11-4A50-44EF-BB72-B961322F10BB}" dt="2026-10-22T08:45:10.359" v="4" actId="20577"/>
          <ac:spMkLst>
            <pc:docMk/>
            <pc:sldMk cId="100001" sldId="256"/>
            <ac:spMk id="16" creationId="{00000001-0010-4000-8000-000000000000}"/>
          </ac:spMkLst>
        </pc:spChg>
      </pc:sldChg>
      <pc:sldChg chg="delSp mod">
        <pc:chgData name="Yamil Emmanuel Fajouri" userId="e0266ec93731fc4b" providerId="LiveId" clId="{FCABDE11-4A50-44EF-BB72-B961322F10BB}" dt="2026-10-22T08:45:31.471" v="5" actId="478"/>
        <pc:sldMkLst>
          <pc:docMk/>
          <pc:sldMk cId="200001" sldId="257"/>
        </pc:sldMkLst>
        <pc:spChg chg="del">
          <ac:chgData name="Yamil Emmanuel Fajouri" userId="e0266ec93731fc4b" providerId="LiveId" clId="{FCABDE11-4A50-44EF-BB72-B961322F10BB}" dt="2026-10-22T08:45:31.471" v="5" actId="478"/>
          <ac:spMkLst>
            <pc:docMk/>
            <pc:sldMk cId="200001" sldId="257"/>
            <ac:spMk id="12" creationId="{00000002-000C-4000-8000-000000000000}"/>
          </ac:spMkLst>
        </pc:spChg>
      </pc:sldChg>
      <pc:sldChg chg="delSp modSp mod">
        <pc:chgData name="Yamil Emmanuel Fajouri" userId="e0266ec93731fc4b" providerId="LiveId" clId="{FCABDE11-4A50-44EF-BB72-B961322F10BB}" dt="2026-10-22T08:45:35.116" v="7" actId="478"/>
        <pc:sldMkLst>
          <pc:docMk/>
          <pc:sldMk cId="300001" sldId="258"/>
        </pc:sldMkLst>
        <pc:spChg chg="del mod">
          <ac:chgData name="Yamil Emmanuel Fajouri" userId="e0266ec93731fc4b" providerId="LiveId" clId="{FCABDE11-4A50-44EF-BB72-B961322F10BB}" dt="2026-10-22T08:45:35.116" v="7" actId="478"/>
          <ac:spMkLst>
            <pc:docMk/>
            <pc:sldMk cId="300001" sldId="258"/>
            <ac:spMk id="17" creationId="{00000003-0011-4000-8000-000000000000}"/>
          </ac:spMkLst>
        </pc:spChg>
      </pc:sldChg>
      <pc:sldChg chg="delSp mod">
        <pc:chgData name="Yamil Emmanuel Fajouri" userId="e0266ec93731fc4b" providerId="LiveId" clId="{FCABDE11-4A50-44EF-BB72-B961322F10BB}" dt="2026-10-22T08:45:37.191" v="8" actId="478"/>
        <pc:sldMkLst>
          <pc:docMk/>
          <pc:sldMk cId="400001" sldId="259"/>
        </pc:sldMkLst>
        <pc:spChg chg="del">
          <ac:chgData name="Yamil Emmanuel Fajouri" userId="e0266ec93731fc4b" providerId="LiveId" clId="{FCABDE11-4A50-44EF-BB72-B961322F10BB}" dt="2026-10-22T08:45:37.191" v="8" actId="478"/>
          <ac:spMkLst>
            <pc:docMk/>
            <pc:sldMk cId="400001" sldId="259"/>
            <ac:spMk id="23" creationId="{00000004-0014-4000-8000-000000000000}"/>
          </ac:spMkLst>
        </pc:spChg>
      </pc:sldChg>
      <pc:sldChg chg="delSp mod">
        <pc:chgData name="Yamil Emmanuel Fajouri" userId="e0266ec93731fc4b" providerId="LiveId" clId="{FCABDE11-4A50-44EF-BB72-B961322F10BB}" dt="2026-10-22T08:45:39.281" v="9" actId="478"/>
        <pc:sldMkLst>
          <pc:docMk/>
          <pc:sldMk cId="500001" sldId="260"/>
        </pc:sldMkLst>
        <pc:spChg chg="del">
          <ac:chgData name="Yamil Emmanuel Fajouri" userId="e0266ec93731fc4b" providerId="LiveId" clId="{FCABDE11-4A50-44EF-BB72-B961322F10BB}" dt="2026-10-22T08:45:39.281" v="9" actId="478"/>
          <ac:spMkLst>
            <pc:docMk/>
            <pc:sldMk cId="500001" sldId="260"/>
            <ac:spMk id="15" creationId="{00000005-000F-4000-8000-000000000000}"/>
          </ac:spMkLst>
        </pc:spChg>
      </pc:sldChg>
      <pc:sldChg chg="delSp mod">
        <pc:chgData name="Yamil Emmanuel Fajouri" userId="e0266ec93731fc4b" providerId="LiveId" clId="{FCABDE11-4A50-44EF-BB72-B961322F10BB}" dt="2026-10-22T08:45:41.719" v="10" actId="478"/>
        <pc:sldMkLst>
          <pc:docMk/>
          <pc:sldMk cId="600001" sldId="261"/>
        </pc:sldMkLst>
        <pc:spChg chg="del">
          <ac:chgData name="Yamil Emmanuel Fajouri" userId="e0266ec93731fc4b" providerId="LiveId" clId="{FCABDE11-4A50-44EF-BB72-B961322F10BB}" dt="2026-10-22T08:45:41.719" v="10" actId="478"/>
          <ac:spMkLst>
            <pc:docMk/>
            <pc:sldMk cId="600001" sldId="261"/>
            <ac:spMk id="17" creationId="{00000006-0011-4000-8000-000000000000}"/>
          </ac:spMkLst>
        </pc:spChg>
      </pc:sldChg>
      <pc:sldChg chg="delSp modSp mod">
        <pc:chgData name="Yamil Emmanuel Fajouri" userId="e0266ec93731fc4b" providerId="LiveId" clId="{FCABDE11-4A50-44EF-BB72-B961322F10BB}" dt="2026-10-22T08:45:45.163" v="12" actId="478"/>
        <pc:sldMkLst>
          <pc:docMk/>
          <pc:sldMk cId="700001" sldId="262"/>
        </pc:sldMkLst>
        <pc:spChg chg="del mod">
          <ac:chgData name="Yamil Emmanuel Fajouri" userId="e0266ec93731fc4b" providerId="LiveId" clId="{FCABDE11-4A50-44EF-BB72-B961322F10BB}" dt="2026-10-22T08:45:45.163" v="12" actId="478"/>
          <ac:spMkLst>
            <pc:docMk/>
            <pc:sldMk cId="700001" sldId="262"/>
            <ac:spMk id="20" creationId="{00000007-0014-4000-8000-000000000000}"/>
          </ac:spMkLst>
        </pc:spChg>
      </pc:sldChg>
      <pc:sldChg chg="delSp mod">
        <pc:chgData name="Yamil Emmanuel Fajouri" userId="e0266ec93731fc4b" providerId="LiveId" clId="{FCABDE11-4A50-44EF-BB72-B961322F10BB}" dt="2026-10-22T08:45:47.991" v="14" actId="478"/>
        <pc:sldMkLst>
          <pc:docMk/>
          <pc:sldMk cId="800001" sldId="263"/>
        </pc:sldMkLst>
        <pc:spChg chg="del">
          <ac:chgData name="Yamil Emmanuel Fajouri" userId="e0266ec93731fc4b" providerId="LiveId" clId="{FCABDE11-4A50-44EF-BB72-B961322F10BB}" dt="2026-10-22T08:45:47.991" v="14" actId="478"/>
          <ac:spMkLst>
            <pc:docMk/>
            <pc:sldMk cId="800001" sldId="263"/>
            <ac:spMk id="20" creationId="{00000008-0010-4000-8000-000000000000}"/>
          </ac:spMkLst>
        </pc:spChg>
      </pc:sldChg>
      <pc:sldChg chg="delSp mod">
        <pc:chgData name="Yamil Emmanuel Fajouri" userId="e0266ec93731fc4b" providerId="LiveId" clId="{FCABDE11-4A50-44EF-BB72-B961322F10BB}" dt="2026-10-22T08:45:50.389" v="15" actId="478"/>
        <pc:sldMkLst>
          <pc:docMk/>
          <pc:sldMk cId="900001" sldId="264"/>
        </pc:sldMkLst>
        <pc:spChg chg="del">
          <ac:chgData name="Yamil Emmanuel Fajouri" userId="e0266ec93731fc4b" providerId="LiveId" clId="{FCABDE11-4A50-44EF-BB72-B961322F10BB}" dt="2026-10-22T08:45:50.389" v="15" actId="478"/>
          <ac:spMkLst>
            <pc:docMk/>
            <pc:sldMk cId="900001" sldId="264"/>
            <ac:spMk id="17" creationId="{00000009-0011-4000-8000-000000000000}"/>
          </ac:spMkLst>
        </pc:spChg>
      </pc:sldChg>
      <pc:sldChg chg="delSp mod">
        <pc:chgData name="Yamil Emmanuel Fajouri" userId="e0266ec93731fc4b" providerId="LiveId" clId="{FCABDE11-4A50-44EF-BB72-B961322F10BB}" dt="2026-10-22T08:45:53.580" v="16" actId="478"/>
        <pc:sldMkLst>
          <pc:docMk/>
          <pc:sldMk cId="1000001" sldId="265"/>
        </pc:sldMkLst>
        <pc:spChg chg="del">
          <ac:chgData name="Yamil Emmanuel Fajouri" userId="e0266ec93731fc4b" providerId="LiveId" clId="{FCABDE11-4A50-44EF-BB72-B961322F10BB}" dt="2026-10-22T08:45:53.580" v="16" actId="478"/>
          <ac:spMkLst>
            <pc:docMk/>
            <pc:sldMk cId="1000001" sldId="265"/>
            <ac:spMk id="25" creationId="{0000000A-0019-4000-8000-000000000000}"/>
          </ac:spMkLst>
        </pc:spChg>
      </pc:sldChg>
      <pc:sldChg chg="delSp mod">
        <pc:chgData name="Yamil Emmanuel Fajouri" userId="e0266ec93731fc4b" providerId="LiveId" clId="{FCABDE11-4A50-44EF-BB72-B961322F10BB}" dt="2026-10-22T08:45:59.835" v="19" actId="478"/>
        <pc:sldMkLst>
          <pc:docMk/>
          <pc:sldMk cId="1100001" sldId="266"/>
        </pc:sldMkLst>
        <pc:spChg chg="del">
          <ac:chgData name="Yamil Emmanuel Fajouri" userId="e0266ec93731fc4b" providerId="LiveId" clId="{FCABDE11-4A50-44EF-BB72-B961322F10BB}" dt="2026-10-22T08:45:59.835" v="19" actId="478"/>
          <ac:spMkLst>
            <pc:docMk/>
            <pc:sldMk cId="1100001" sldId="266"/>
            <ac:spMk id="8" creationId="{0000000B-0007-4000-8000-000000000000}"/>
          </ac:spMkLst>
        </pc:spChg>
      </pc:sldChg>
      <pc:sldChg chg="delSp mod">
        <pc:chgData name="Yamil Emmanuel Fajouri" userId="e0266ec93731fc4b" providerId="LiveId" clId="{FCABDE11-4A50-44EF-BB72-B961322F10BB}" dt="2026-10-22T08:46:05.564" v="20" actId="478"/>
        <pc:sldMkLst>
          <pc:docMk/>
          <pc:sldMk cId="1300001" sldId="268"/>
        </pc:sldMkLst>
        <pc:spChg chg="del">
          <ac:chgData name="Yamil Emmanuel Fajouri" userId="e0266ec93731fc4b" providerId="LiveId" clId="{FCABDE11-4A50-44EF-BB72-B961322F10BB}" dt="2026-10-22T08:46:05.564" v="20" actId="478"/>
          <ac:spMkLst>
            <pc:docMk/>
            <pc:sldMk cId="1300001" sldId="268"/>
            <ac:spMk id="27" creationId="{0000000D-0015-4000-8000-000000000000}"/>
          </ac:spMkLst>
        </pc:spChg>
      </pc:sldChg>
      <pc:sldChg chg="delSp mod">
        <pc:chgData name="Yamil Emmanuel Fajouri" userId="e0266ec93731fc4b" providerId="LiveId" clId="{FCABDE11-4A50-44EF-BB72-B961322F10BB}" dt="2026-10-22T08:46:08.679" v="21" actId="478"/>
        <pc:sldMkLst>
          <pc:docMk/>
          <pc:sldMk cId="1400001" sldId="269"/>
        </pc:sldMkLst>
        <pc:spChg chg="del">
          <ac:chgData name="Yamil Emmanuel Fajouri" userId="e0266ec93731fc4b" providerId="LiveId" clId="{FCABDE11-4A50-44EF-BB72-B961322F10BB}" dt="2026-10-22T08:46:08.679" v="21" actId="478"/>
          <ac:spMkLst>
            <pc:docMk/>
            <pc:sldMk cId="1400001" sldId="269"/>
            <ac:spMk id="13" creationId="{0000000E-000D-4000-8000-000000000000}"/>
          </ac:spMkLst>
        </pc:spChg>
      </pc:sldChg>
      <pc:sldChg chg="delSp mod">
        <pc:chgData name="Yamil Emmanuel Fajouri" userId="e0266ec93731fc4b" providerId="LiveId" clId="{FCABDE11-4A50-44EF-BB72-B961322F10BB}" dt="2026-10-22T08:46:11.582" v="22" actId="478"/>
        <pc:sldMkLst>
          <pc:docMk/>
          <pc:sldMk cId="1500001" sldId="270"/>
        </pc:sldMkLst>
        <pc:spChg chg="del">
          <ac:chgData name="Yamil Emmanuel Fajouri" userId="e0266ec93731fc4b" providerId="LiveId" clId="{FCABDE11-4A50-44EF-BB72-B961322F10BB}" dt="2026-10-22T08:46:11.582" v="22" actId="478"/>
          <ac:spMkLst>
            <pc:docMk/>
            <pc:sldMk cId="1500001" sldId="270"/>
            <ac:spMk id="29" creationId="{0000000F-001D-4000-8000-000000000000}"/>
          </ac:spMkLst>
        </pc:spChg>
      </pc:sldChg>
      <pc:sldChg chg="delSp mod">
        <pc:chgData name="Yamil Emmanuel Fajouri" userId="e0266ec93731fc4b" providerId="LiveId" clId="{FCABDE11-4A50-44EF-BB72-B961322F10BB}" dt="2026-10-22T08:46:19.977" v="23" actId="478"/>
        <pc:sldMkLst>
          <pc:docMk/>
          <pc:sldMk cId="1600001" sldId="271"/>
        </pc:sldMkLst>
        <pc:spChg chg="del">
          <ac:chgData name="Yamil Emmanuel Fajouri" userId="e0266ec93731fc4b" providerId="LiveId" clId="{FCABDE11-4A50-44EF-BB72-B961322F10BB}" dt="2026-10-22T08:46:19.977" v="23" actId="478"/>
          <ac:spMkLst>
            <pc:docMk/>
            <pc:sldMk cId="1600001" sldId="271"/>
            <ac:spMk id="21" creationId="{00000010-0012-4000-8000-000000000000}"/>
          </ac:spMkLst>
        </pc:spChg>
      </pc:sldChg>
      <pc:sldChg chg="delSp mod">
        <pc:chgData name="Yamil Emmanuel Fajouri" userId="e0266ec93731fc4b" providerId="LiveId" clId="{FCABDE11-4A50-44EF-BB72-B961322F10BB}" dt="2026-10-22T08:46:26.864" v="24" actId="478"/>
        <pc:sldMkLst>
          <pc:docMk/>
          <pc:sldMk cId="1700001" sldId="272"/>
        </pc:sldMkLst>
        <pc:spChg chg="del">
          <ac:chgData name="Yamil Emmanuel Fajouri" userId="e0266ec93731fc4b" providerId="LiveId" clId="{FCABDE11-4A50-44EF-BB72-B961322F10BB}" dt="2026-10-22T08:46:26.864" v="24" actId="478"/>
          <ac:spMkLst>
            <pc:docMk/>
            <pc:sldMk cId="1700001" sldId="272"/>
            <ac:spMk id="25" creationId="{00000011-0019-4000-8000-000000000000}"/>
          </ac:spMkLst>
        </pc:spChg>
      </pc:sldChg>
      <pc:sldChg chg="delSp mod">
        <pc:chgData name="Yamil Emmanuel Fajouri" userId="e0266ec93731fc4b" providerId="LiveId" clId="{FCABDE11-4A50-44EF-BB72-B961322F10BB}" dt="2026-10-22T08:46:31.330" v="25" actId="478"/>
        <pc:sldMkLst>
          <pc:docMk/>
          <pc:sldMk cId="1800001" sldId="273"/>
        </pc:sldMkLst>
        <pc:spChg chg="del">
          <ac:chgData name="Yamil Emmanuel Fajouri" userId="e0266ec93731fc4b" providerId="LiveId" clId="{FCABDE11-4A50-44EF-BB72-B961322F10BB}" dt="2026-10-22T08:46:31.330" v="25" actId="478"/>
          <ac:spMkLst>
            <pc:docMk/>
            <pc:sldMk cId="1800001" sldId="273"/>
            <ac:spMk id="16" creationId="{00000012-0010-4000-8000-000000000000}"/>
          </ac:spMkLst>
        </pc:spChg>
      </pc:sldChg>
      <pc:sldChg chg="addSp delSp modSp new mod modNotes">
        <pc:chgData name="Yamil Emmanuel Fajouri" userId="e0266ec93731fc4b" providerId="LiveId" clId="{FCABDE11-4A50-44EF-BB72-B961322F10BB}" dt="2026-10-22T08:45:57.542" v="18" actId="478"/>
        <pc:sldMkLst>
          <pc:docMk/>
          <pc:sldMk cId="236162935" sldId="274"/>
        </pc:sldMkLst>
        <pc:spChg chg="add">
          <ac:chgData name="Yamil Emmanuel Fajouri" userId="e0266ec93731fc4b" providerId="LiveId" clId="{FCABDE11-4A50-44EF-BB72-B961322F10BB}" dt="2026-10-22T08:44:04.983" v="1" actId="26606"/>
          <ac:spMkLst>
            <pc:docMk/>
            <pc:sldMk cId="236162935" sldId="274"/>
            <ac:spMk id="2" creationId="{00000000-0000-0000-0000-000000000000}"/>
          </ac:spMkLst>
        </pc:spChg>
        <pc:spChg chg="add">
          <ac:chgData name="Yamil Emmanuel Fajouri" userId="e0266ec93731fc4b" providerId="LiveId" clId="{FCABDE11-4A50-44EF-BB72-B961322F10BB}" dt="2026-10-22T08:44:04.983" v="1" actId="26606"/>
          <ac:spMkLst>
            <pc:docMk/>
            <pc:sldMk cId="236162935" sldId="274"/>
            <ac:spMk id="3" creationId="{00000000-0000-0000-0000-000000000000}"/>
          </ac:spMkLst>
        </pc:spChg>
        <pc:spChg chg="add">
          <ac:chgData name="Yamil Emmanuel Fajouri" userId="e0266ec93731fc4b" providerId="LiveId" clId="{FCABDE11-4A50-44EF-BB72-B961322F10BB}" dt="2026-10-22T08:44:04.983" v="1" actId="26606"/>
          <ac:spMkLst>
            <pc:docMk/>
            <pc:sldMk cId="236162935" sldId="274"/>
            <ac:spMk id="5" creationId="{00000000-0000-0000-0000-000000000000}"/>
          </ac:spMkLst>
        </pc:spChg>
        <pc:spChg chg="add mod">
          <ac:chgData name="Yamil Emmanuel Fajouri" userId="e0266ec93731fc4b" providerId="LiveId" clId="{FCABDE11-4A50-44EF-BB72-B961322F10BB}" dt="2026-10-22T08:44:52.163" v="2" actId="26606"/>
          <ac:spMkLst>
            <pc:docMk/>
            <pc:sldMk cId="236162935" sldId="274"/>
            <ac:spMk id="6" creationId="{00000000-0000-0000-0000-000000000000}"/>
          </ac:spMkLst>
        </pc:spChg>
        <pc:spChg chg="mod">
          <ac:chgData name="Yamil Emmanuel Fajouri" userId="e0266ec93731fc4b" providerId="LiveId" clId="{FCABDE11-4A50-44EF-BB72-B961322F10BB}" dt="2026-10-22T08:44:52.163" v="2" actId="26606"/>
          <ac:spMkLst>
            <pc:docMk/>
            <pc:sldMk cId="236162935" sldId="274"/>
            <ac:spMk id="7" creationId="{00000000-0000-0000-0000-000000000000}"/>
          </ac:spMkLst>
        </pc:spChg>
        <pc:spChg chg="add mod">
          <ac:chgData name="Yamil Emmanuel Fajouri" userId="e0266ec93731fc4b" providerId="LiveId" clId="{FCABDE11-4A50-44EF-BB72-B961322F10BB}" dt="2026-10-22T08:44:52.163" v="2" actId="26606"/>
          <ac:spMkLst>
            <pc:docMk/>
            <pc:sldMk cId="236162935" sldId="274"/>
            <ac:spMk id="8" creationId="{00000000-0000-0000-0000-000000000000}"/>
          </ac:spMkLst>
        </pc:spChg>
        <pc:spChg chg="add mod">
          <ac:chgData name="Yamil Emmanuel Fajouri" userId="e0266ec93731fc4b" providerId="LiveId" clId="{FCABDE11-4A50-44EF-BB72-B961322F10BB}" dt="2026-10-22T08:44:52.163" v="2" actId="26606"/>
          <ac:spMkLst>
            <pc:docMk/>
            <pc:sldMk cId="236162935" sldId="274"/>
            <ac:spMk id="9" creationId="{00000000-0000-0000-0000-000000000000}"/>
          </ac:spMkLst>
        </pc:spChg>
        <pc:spChg chg="mod">
          <ac:chgData name="Yamil Emmanuel Fajouri" userId="e0266ec93731fc4b" providerId="LiveId" clId="{FCABDE11-4A50-44EF-BB72-B961322F10BB}" dt="2026-10-22T08:44:52.163" v="2" actId="26606"/>
          <ac:spMkLst>
            <pc:docMk/>
            <pc:sldMk cId="236162935" sldId="274"/>
            <ac:spMk id="10" creationId="{00000000-0000-0000-0000-000000000000}"/>
          </ac:spMkLst>
        </pc:spChg>
        <pc:spChg chg="mod">
          <ac:chgData name="Yamil Emmanuel Fajouri" userId="e0266ec93731fc4b" providerId="LiveId" clId="{FCABDE11-4A50-44EF-BB72-B961322F10BB}" dt="2026-10-22T08:44:52.163" v="2" actId="26606"/>
          <ac:spMkLst>
            <pc:docMk/>
            <pc:sldMk cId="236162935" sldId="274"/>
            <ac:spMk id="11" creationId="{00000000-0000-0000-0000-000000000000}"/>
          </ac:spMkLst>
        </pc:spChg>
        <pc:spChg chg="mod">
          <ac:chgData name="Yamil Emmanuel Fajouri" userId="e0266ec93731fc4b" providerId="LiveId" clId="{FCABDE11-4A50-44EF-BB72-B961322F10BB}" dt="2026-10-22T08:44:52.163" v="2" actId="26606"/>
          <ac:spMkLst>
            <pc:docMk/>
            <pc:sldMk cId="236162935" sldId="274"/>
            <ac:spMk id="12" creationId="{00000000-0000-0000-0000-000000000000}"/>
          </ac:spMkLst>
        </pc:spChg>
        <pc:spChg chg="mod">
          <ac:chgData name="Yamil Emmanuel Fajouri" userId="e0266ec93731fc4b" providerId="LiveId" clId="{FCABDE11-4A50-44EF-BB72-B961322F10BB}" dt="2026-10-22T08:44:52.163" v="2" actId="26606"/>
          <ac:spMkLst>
            <pc:docMk/>
            <pc:sldMk cId="236162935" sldId="274"/>
            <ac:spMk id="13" creationId="{00000000-0000-0000-0000-000000000000}"/>
          </ac:spMkLst>
        </pc:spChg>
        <pc:spChg chg="add mod">
          <ac:chgData name="Yamil Emmanuel Fajouri" userId="e0266ec93731fc4b" providerId="LiveId" clId="{FCABDE11-4A50-44EF-BB72-B961322F10BB}" dt="2026-10-22T08:44:52.163" v="2" actId="26606"/>
          <ac:spMkLst>
            <pc:docMk/>
            <pc:sldMk cId="236162935" sldId="274"/>
            <ac:spMk id="14" creationId="{00000000-0000-0000-0000-000000000000}"/>
          </ac:spMkLst>
        </pc:spChg>
        <pc:spChg chg="mod">
          <ac:chgData name="Yamil Emmanuel Fajouri" userId="e0266ec93731fc4b" providerId="LiveId" clId="{FCABDE11-4A50-44EF-BB72-B961322F10BB}" dt="2026-10-22T08:44:52.163" v="2" actId="26606"/>
          <ac:spMkLst>
            <pc:docMk/>
            <pc:sldMk cId="236162935" sldId="274"/>
            <ac:spMk id="15" creationId="{00000000-0000-0000-0000-000000000000}"/>
          </ac:spMkLst>
        </pc:spChg>
        <pc:spChg chg="add">
          <ac:chgData name="Yamil Emmanuel Fajouri" userId="e0266ec93731fc4b" providerId="LiveId" clId="{FCABDE11-4A50-44EF-BB72-B961322F10BB}" dt="2026-10-22T08:44:04.983" v="1" actId="26606"/>
          <ac:spMkLst>
            <pc:docMk/>
            <pc:sldMk cId="236162935" sldId="274"/>
            <ac:spMk id="16" creationId="{00000000-0000-0000-0000-000000000000}"/>
          </ac:spMkLst>
        </pc:spChg>
        <pc:spChg chg="add del mod">
          <ac:chgData name="Yamil Emmanuel Fajouri" userId="e0266ec93731fc4b" providerId="LiveId" clId="{FCABDE11-4A50-44EF-BB72-B961322F10BB}" dt="2026-10-22T08:45:57.542" v="18" actId="478"/>
          <ac:spMkLst>
            <pc:docMk/>
            <pc:sldMk cId="236162935" sldId="274"/>
            <ac:spMk id="17" creationId="{00000000-0000-0000-0000-000000000000}"/>
          </ac:spMkLst>
        </pc:spChg>
        <pc:spChg chg="add">
          <ac:chgData name="Yamil Emmanuel Fajouri" userId="e0266ec93731fc4b" providerId="LiveId" clId="{FCABDE11-4A50-44EF-BB72-B961322F10BB}" dt="2026-10-22T08:44:04.983" v="1" actId="26606"/>
          <ac:spMkLst>
            <pc:docMk/>
            <pc:sldMk cId="236162935" sldId="274"/>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612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Define the three questions students will ask of every case.</a:t>
            </a:r>
          </a:p>
          <a:p>
            <a:r>
              <a:rPr dirty="0"/>
              <a:t>Reasoning: A named tool does not determine the learning problem.</a:t>
            </a:r>
          </a:p>
          <a:p>
            <a:r>
              <a:rPr dirty="0"/>
              <a:t>Timing: 0–10</a:t>
            </a:r>
          </a:p>
          <a:p>
            <a:r>
              <a:rPr dirty="0"/>
              <a:t>Participation online:</a:t>
            </a:r>
            <a:r>
              <a:rPr lang="en-GB" dirty="0"/>
              <a:t>Invite ten brief voice/chat </a:t>
            </a:r>
            <a:r>
              <a:rPr dirty="0"/>
              <a:t> diagnoses.</a:t>
            </a:r>
          </a:p>
          <a:p>
            <a:r>
              <a:rPr dirty="0"/>
              <a:t>Participation campus: Individual cards then pair comparison.</a:t>
            </a:r>
          </a:p>
          <a:p>
            <a:r>
              <a:rPr dirty="0"/>
              <a:t>Fallback: Read the lanes as text.</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Show approved outcome.</a:t>
            </a:r>
            <a:br>
              <a:rPr lang="en-US" dirty="0"/>
            </a:br>
            <a:br>
              <a:rPr lang="en-US" dirty="0"/>
            </a:br>
            <a:r>
              <a:rPr lang="en-US" dirty="0"/>
              <a:t>Before choosing a machine learning algorithm, we must first understand what problem we are trying to solve. For every situation, we should ask three simple questions: What information do we have? What kind of feedback is available? And what decision or prediction do we want to make? For example, imagine a supermarket that collects information about its customers. If the supermarket wants to predict how much a customer will spend based on previous purchases, we could use supervised learning, because we have historical examples with known spending amounts. If the supermarket wants to discover groups of customers with similar shopping habits without predefined categories, we could use unsupervised learning. However, if the supermarket wants an intelligent system that decides which promotions to offer and learns how those decisions influence future customer </a:t>
            </a:r>
            <a:r>
              <a:rPr lang="en-US" dirty="0" err="1"/>
              <a:t>behaviour</a:t>
            </a:r>
            <a:r>
              <a:rPr lang="en-US" dirty="0"/>
              <a:t>, reinforcement learning might be appropriate, provided we can observe the consequences of those actions. Notice that all three problems involve the same supermarket, but they require different machine learning approaches because their objectives and available feedback are different. The key lesson is that we should never select an algorithm simply because it is popular or because we know how to use a particular tool, such as Python or TensorFlow. We must first identify the problem, understand the available data and feedback, and then choose the most suitable learning approach.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Explain the verbs: define, compare with common criteria, and condition an algorithm choice on evidence.</a:t>
            </a:r>
          </a:p>
          <a:p>
            <a:r>
              <a:rPr dirty="0"/>
              <a:t>Reasoning: An algorithm name alone does not meet LO1.</a:t>
            </a:r>
          </a:p>
          <a:p>
            <a:r>
              <a:rPr dirty="0"/>
              <a:t>Timing: 8–12</a:t>
            </a:r>
          </a:p>
          <a:p>
            <a:r>
              <a:rPr dirty="0"/>
              <a:t>Participation online: Ask for one required piece of evidence.</a:t>
            </a:r>
            <a:r>
              <a:rPr lang="en-US" dirty="0"/>
              <a:t>W2</a:t>
            </a:r>
            <a:endParaRPr dirty="0"/>
          </a:p>
          <a:p>
            <a:r>
              <a:rPr dirty="0"/>
              <a:t>Participation campus: Same prompt on cards.</a:t>
            </a:r>
          </a:p>
          <a:p>
            <a:r>
              <a:rPr dirty="0"/>
              <a:t>Fallback: Quote the line from the downloaded brief.</a:t>
            </a:r>
          </a:p>
          <a:p>
            <a:r>
              <a:rPr dirty="0"/>
              <a:t>Transition: Establish notation.</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first session, our main learning objective is to understand, explain and compare the three main machine learning paradigms: supervised learning, unsupervised learning and reinforcement learning. However, simply </a:t>
            </a:r>
            <a:r>
              <a:rPr lang="en-US" dirty="0" err="1"/>
              <a:t>memorising</a:t>
            </a:r>
            <a:r>
              <a:rPr lang="en-US" dirty="0"/>
              <a:t> their definitions or knowing the names of algorithms is not enough. We need to understand how they work, what makes them different and when each approach is appropriate. For example, if a company wants to predict house prices using historical examples with known prices, we might choose supervised learning and consider a regression algorithm. If the company wants to discover groups of similar houses without predefined categories, clustering through unsupervised learning might be more appropriate. If an intelligent system must repeatedly decide how to control heating in a building, considering energy costs and how today's actions affect future conditions, reinforcement learning could be considered. But in every case, we must justify our choice using evidence, such as whether labelled data are available, what outcome we want to achieve, and whether actions influence future situations. We should also </a:t>
            </a:r>
            <a:r>
              <a:rPr lang="en-US" dirty="0" err="1"/>
              <a:t>recognise</a:t>
            </a:r>
            <a:r>
              <a:rPr lang="en-US" dirty="0"/>
              <a:t> when important information is missing. The key lesson is that being able to explain why an algorithm is suitable for a particular problem is more important than simply remembering its name. By the end of this session, you should be able to compare these approaches using the same criteria and defend your choice with clear reasoning and appropriate assumptions.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Define indices and shapes aloud.</a:t>
            </a:r>
          </a:p>
          <a:p>
            <a:r>
              <a:rPr dirty="0"/>
              <a:t>Reasoning: The sampling process and measurement time determine what prediction claims transfer.</a:t>
            </a:r>
          </a:p>
          <a:p>
            <a:r>
              <a:rPr dirty="0"/>
              <a:t>Timing: 12–18</a:t>
            </a:r>
          </a:p>
          <a:p>
            <a:r>
              <a:rPr dirty="0"/>
              <a:t>Participation online: Ask whether a post-outcome field may be a predictor.</a:t>
            </a:r>
          </a:p>
          <a:p>
            <a:r>
              <a:rPr dirty="0"/>
              <a:t>Participation campus: Annotate a schema.</a:t>
            </a:r>
          </a:p>
          <a:p>
            <a:r>
              <a:rPr dirty="0"/>
              <a:t>Fallback: Plain-text row schema.</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Add the target signal.</a:t>
            </a:r>
            <a:br>
              <a:rPr lang="en-US" dirty="0"/>
            </a:br>
            <a:br>
              <a:rPr lang="en-US" dirty="0"/>
            </a:br>
            <a:r>
              <a:rPr lang="en-US" dirty="0"/>
              <a:t>In machine learning, we </a:t>
            </a:r>
            <a:r>
              <a:rPr lang="en-US" dirty="0" err="1"/>
              <a:t>organise</a:t>
            </a:r>
            <a:r>
              <a:rPr lang="en-US" dirty="0"/>
              <a:t> data into a table where each row represents one observation and each column represents a feature. For example, imagine we want to predict whether a student will pass an exam. Our table might contain 100 students, with information such as study hours, attendance and previous grades. In mathematical notation, we call the number of observations n and the number of features p. In this example, n = 100 and p = 3, so our feature matrix X has a shape of 100 × 3: 100 rows and 3 columns. We use the index </a:t>
            </a:r>
            <a:r>
              <a:rPr lang="en-US" dirty="0" err="1"/>
              <a:t>i</a:t>
            </a:r>
            <a:r>
              <a:rPr lang="en-US" dirty="0"/>
              <a:t> to identify a particular student, so xᵢ represents that student's features, while yᵢ represents the outcome we want to predict, such as passing or failing the exam. However, collecting data does not automatically mean we can make reliable predictions. We must consider how the students were selected, when the information was collected and whether they represent the students we want to predict in the future. For instance, if our dataset contains only high-performing students, the model might not work well for the entire university. We must also avoid using information that becomes available only after the exam, such as the final grade, because it would not be available when making an earlier prediction. This is called data leakage. The key lesson is that a model can only make meaningful real-world predictions when its training data are relevant, representative and available at the time the prediction needs to be made.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A target is an operational definition, not necessarily truth.</a:t>
            </a:r>
          </a:p>
          <a:p>
            <a:r>
              <a:rPr dirty="0"/>
              <a:t>Reasoning: A labelled table can still leak future information or mismeasure the outcome.</a:t>
            </a:r>
          </a:p>
          <a:p>
            <a:r>
              <a:rPr dirty="0"/>
              <a:t>Timing: 18–23</a:t>
            </a:r>
          </a:p>
          <a:p>
            <a:r>
              <a:rPr dirty="0"/>
              <a:t>Participation online: Ask what changes if labels are unavailable at training time.</a:t>
            </a:r>
          </a:p>
          <a:p>
            <a:r>
              <a:rPr dirty="0"/>
              <a:t>Participation campus: Pair explanation.</a:t>
            </a:r>
          </a:p>
          <a:p>
            <a:r>
              <a:rPr dirty="0"/>
              <a:t>Fallback: Read data flow as text.</a:t>
            </a:r>
          </a:p>
          <a:p>
            <a:r>
              <a:rPr dirty="0"/>
              <a:t>Transition: State the loss.</a:t>
            </a:r>
            <a:br>
              <a:rPr lang="en-US" dirty="0"/>
            </a:br>
            <a:br>
              <a:rPr lang="en-US" dirty="0"/>
            </a:br>
            <a:r>
              <a:rPr lang="en-US" dirty="0"/>
              <a:t>In supervised machine learning, a target (or label) is the answer we want a model to learn to predict. For example, imagine we want to predict whether a student will pass or fail an exam. We might use information such as attendance, study hours, and previous grades as inputs, while the final exam result becomes our target. However, a target is not always the absolute truth; it is simply how we have chosen to measure an outcome. For instance, passing an exam does not necessarily mean a student fully understands the subject. We must also be careful about the information we give the model. If we include the final exam grade as an input when trying to predict whether the student will pass, the model already has information that would not be available before the exam. This problem is called data leakage, and it can make a model appear extremely accurate during training but unreliable in real situations. Therefore, before training a supervised learning model, we must ask two important questions: Does our target really represent what we want to predict? And would all the input information be available when we actually make the prediction?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Define T, θ, ℓ and the two denominators/domains.</a:t>
            </a:r>
          </a:p>
          <a:p>
            <a:r>
              <a:rPr dirty="0"/>
              <a:t>Reasoning: </a:t>
            </a:r>
            <a:r>
              <a:rPr dirty="0" err="1"/>
              <a:t>Minimising</a:t>
            </a:r>
            <a:r>
              <a:rPr dirty="0"/>
              <a:t> the first does not prove the second is small; the split must represent intended use.</a:t>
            </a:r>
          </a:p>
          <a:p>
            <a:r>
              <a:rPr dirty="0"/>
              <a:t>Timing: 23–28</a:t>
            </a:r>
          </a:p>
          <a:p>
            <a:r>
              <a:rPr dirty="0"/>
              <a:t>Participation online: Ask for an assumption needed to compare them.</a:t>
            </a:r>
          </a:p>
          <a:p>
            <a:r>
              <a:rPr dirty="0"/>
              <a:t>Participation campus: Annotate symbols.</a:t>
            </a:r>
          </a:p>
          <a:p>
            <a:r>
              <a:rPr dirty="0"/>
              <a:t>Fallback: Give the two formulas in words.</a:t>
            </a:r>
          </a:p>
          <a:p>
            <a:r>
              <a:rPr dirty="0"/>
              <a:t>Transition: Remove labels and ask what objective remains.</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supervised machine learning, we want our model to perform well not only on the data it has already seen, but also on new, unseen data. To understand this, we compare two types of error. The first is called training error (empirical risk), which measures how many mistakes the model makes on the examples used to train it. In the formula, T represents the training dataset, θ (theta) represents the model's parameters, and ℓ (loss) measures how wrong an individual prediction is. We divide the total loss by |T|, the number of training examples, to calculate the average training error. The second formula describes population risk, which is the average error we would expect on new examples from the population we want to predict. Imagine a student who </a:t>
            </a:r>
            <a:r>
              <a:rPr lang="en-US" dirty="0" err="1"/>
              <a:t>memorises</a:t>
            </a:r>
            <a:r>
              <a:rPr lang="en-US" dirty="0"/>
              <a:t> every answer from a practice exam and gets 100%. That does not guarantee the student will perform well on a different exam. Machine learning models can behave in the same way: a very low training error does not guarantee good predictions on new data. This is why we separate our dataset into training and validation sets. We train the model using the training set and evaluate it on separate examples that represent the situations where the model will actually be used. If those examples are not representative of real-world conditions, even a good validation score can be misleading.</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Cluster IDs are assigned names, not external truth.</a:t>
            </a:r>
          </a:p>
          <a:p>
            <a:r>
              <a:rPr dirty="0"/>
              <a:t>Reasoning: Scaling and distance can change the partition; projected variance need not equal usefulness.</a:t>
            </a:r>
          </a:p>
          <a:p>
            <a:r>
              <a:rPr dirty="0"/>
              <a:t>Timing: 28–32</a:t>
            </a:r>
          </a:p>
          <a:p>
            <a:r>
              <a:rPr dirty="0"/>
              <a:t>Participation online: Ask for a case where compact clusters mislead.</a:t>
            </a:r>
          </a:p>
          <a:p>
            <a:r>
              <a:rPr dirty="0"/>
              <a:t>Participation campus: Pair critique.</a:t>
            </a:r>
          </a:p>
          <a:p>
            <a:r>
              <a:rPr dirty="0"/>
              <a:t>Fallback: Text description of two alternative groupings.</a:t>
            </a:r>
          </a:p>
          <a:p>
            <a:r>
              <a:rPr dirty="0"/>
              <a:t>Transition: Display the objective.</a:t>
            </a:r>
            <a:br>
              <a:rPr lang="en-US" dirty="0"/>
            </a:br>
            <a:br>
              <a:rPr lang="en-US" dirty="0"/>
            </a:br>
            <a:r>
              <a:rPr lang="en-US" dirty="0"/>
              <a:t>In unsupervised machine learning, we try to discover patterns or groups in data without having predefined labels or correct answers. For example, imagine we have information about customers, such as their age and how much money they spend. A clustering algorithm like K-means might divide these customers into three groups based on their similarities. However, these groups are created by the algorithm; they are not necessarily real or meaningful categories. The algorithm simply assigns identifiers such as Cluster 0, Cluster 1, and Cluster 2. The results also depend on how we prepare and measure the data. For example, if age ranges from 18 to 80 but spending ranges from €10 to €10,000, spending may dominate the distance calculations unless we scale the features appropriately. Changing the scale or the distance measure can produce completely different groups. Similarly, PCA (Principal Component Analysis) can simplify complex data by keeping directions with the greatest variation, but the directions that preserve the most variation are not always the ones that help us understand a particular problem. Imagine grouping hospital patients based only on similar ages and weights: the groups might look mathematically compact, but that does not mean the patients have similar medical conditions. The key lesson is that finding patterns in data does not automatically mean those patterns are useful, accurate, or meaningful in the real world.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Define zᵢ, </a:t>
            </a:r>
            <a:r>
              <a:rPr dirty="0" err="1"/>
              <a:t>centre</a:t>
            </a:r>
            <a:r>
              <a:rPr dirty="0"/>
              <a:t> and squared units; no y appears.</a:t>
            </a:r>
          </a:p>
          <a:p>
            <a:r>
              <a:rPr dirty="0"/>
              <a:t>Reasoning: </a:t>
            </a:r>
            <a:r>
              <a:rPr dirty="0" err="1"/>
              <a:t>Minimisation</a:t>
            </a:r>
            <a:r>
              <a:rPr dirty="0"/>
              <a:t> is compactness in selected representation, not proof of natural kinds.</a:t>
            </a:r>
          </a:p>
          <a:p>
            <a:r>
              <a:rPr dirty="0"/>
              <a:t>Timing: 32–35</a:t>
            </a:r>
          </a:p>
          <a:p>
            <a:r>
              <a:rPr dirty="0"/>
              <a:t>Participation online: Ask what changing units does.</a:t>
            </a:r>
          </a:p>
          <a:p>
            <a:r>
              <a:rPr dirty="0"/>
              <a:t>Participation campus: Mark a distance-dependent example.</a:t>
            </a:r>
          </a:p>
          <a:p>
            <a:r>
              <a:rPr dirty="0"/>
              <a:t>Fallback: Describe distances verbally.</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Introduce actions and delayed feedback.</a:t>
            </a:r>
            <a:br>
              <a:rPr lang="en-US" dirty="0"/>
            </a:br>
            <a:br>
              <a:rPr lang="en-US" dirty="0"/>
            </a:br>
            <a:r>
              <a:rPr lang="en-US" dirty="0"/>
              <a:t>In K-means clustering, the goal is to divide data into groups so that similar observations are close to each other. Each observation is assigned to a cluster, represented by zᵢ, which tells us which group observation </a:t>
            </a:r>
            <a:r>
              <a:rPr lang="en-US" dirty="0" err="1"/>
              <a:t>i</a:t>
            </a:r>
            <a:r>
              <a:rPr lang="en-US" dirty="0"/>
              <a:t> belongs to. Every cluster has a </a:t>
            </a:r>
            <a:r>
              <a:rPr lang="en-US" dirty="0" err="1"/>
              <a:t>centre</a:t>
            </a:r>
            <a:r>
              <a:rPr lang="en-US" dirty="0"/>
              <a:t> (centroid), which is the average position of the observations assigned to that group. K-means tries to </a:t>
            </a:r>
            <a:r>
              <a:rPr lang="en-US" dirty="0" err="1"/>
              <a:t>minimise</a:t>
            </a:r>
            <a:r>
              <a:rPr lang="en-US" dirty="0"/>
              <a:t> the total squared distance between each observation and its cluster </a:t>
            </a:r>
            <a:r>
              <a:rPr lang="en-US" dirty="0" err="1"/>
              <a:t>centre</a:t>
            </a:r>
            <a:r>
              <a:rPr lang="en-US" dirty="0"/>
              <a:t>. We square the distances to make larger differences more important. For example, imagine grouping customers based on their age and annual spending. If we measure age in years and spending in euros, spending might dominate the calculation because its numerical values are much larger. Changing spending from euros to thousands of euros could therefore change the clusters, even though the customers themselves have not changed. This is why feature scaling is important. Notice that K-means does not use a target variable (y) because there are no predefined correct labels. It simply finds groups that are mathematically compact according to the selected features and distance measure. The most important point is that </a:t>
            </a:r>
            <a:r>
              <a:rPr lang="en-US" dirty="0" err="1"/>
              <a:t>minimising</a:t>
            </a:r>
            <a:r>
              <a:rPr lang="en-US" dirty="0"/>
              <a:t> distances does not prove that the groups represent real, natural or meaningful categories. A mathematically well-defined cluster might have little practical value, so we must always interpret the results in the context of the problem.</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A reward is feedback after action, potentially dependent on the action.</a:t>
            </a:r>
          </a:p>
          <a:p>
            <a:r>
              <a:rPr dirty="0"/>
              <a:t>Reasoning: Logged data about one policy do not automatically validate another.</a:t>
            </a:r>
          </a:p>
          <a:p>
            <a:r>
              <a:rPr dirty="0"/>
              <a:t>Timing: 35–38</a:t>
            </a:r>
          </a:p>
          <a:p>
            <a:r>
              <a:rPr dirty="0"/>
              <a:t>Participation online: Ask how an action can change tomorrow’s state.</a:t>
            </a:r>
          </a:p>
          <a:p>
            <a:r>
              <a:rPr dirty="0"/>
              <a:t>Participation campus: Trace a two-step paper example without numerical solution.</a:t>
            </a:r>
          </a:p>
          <a:p>
            <a:r>
              <a:rPr dirty="0"/>
              <a:t>Fallback: Read the transition tuple.</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State the objective.</a:t>
            </a:r>
            <a:br>
              <a:rPr lang="en-US" dirty="0"/>
            </a:br>
            <a:br>
              <a:rPr lang="en-US" dirty="0"/>
            </a:br>
            <a:r>
              <a:rPr lang="en-US" dirty="0"/>
              <a:t>In reinforcement learning (RL), a machine learning agent learns by interacting with an environment, making decisions and receiving feedback called a reward. Unlike supervised learning, where the model learns from examples with known correct answers, reinforcement learning focuses on discovering which actions lead to better results over time. For example, imagine a robot working in a warehouse. At a particular moment, the robot has a state (sₜ), which describes its current situation, such as its location and battery level. It chooses an action (aₜ), such as moving to another area. After performing the action, it receives a reward (rₜ₊₁), perhaps a positive value for completing a delivery or a negative value for wasting energy, and moves into a new state (sₜ₊₁). The important idea is that an action can affect not only the immediate reward but also what happens next. For instance, choosing a longer route today might consume more battery and leave the robot unable to complete an important task tomorrow. A policy (π) is the strategy the agent follows when choosing actions. However, if we collect data from a robot following one policy, we cannot automatically assume that a completely different policy will perform better or even safely, because the new policy may visit situations that were never observed in the original data. The main objective of reinforcement learning is therefore not simply to </a:t>
            </a:r>
            <a:r>
              <a:rPr lang="en-US" dirty="0" err="1"/>
              <a:t>maximise</a:t>
            </a:r>
            <a:r>
              <a:rPr lang="en-US" dirty="0"/>
              <a:t> the next reward, but to learn a policy that achieves the best expected cumulative reward over time, while considering delayed consequences, uncertainty and safety.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Define policy, horizon, reward and γ; bounded reward assumed for this infinite sum.</a:t>
            </a:r>
          </a:p>
          <a:p>
            <a:r>
              <a:rPr dirty="0"/>
              <a:t>Reasoning: Larger γ gives later rewards more numerical influence; reward design and safety are not settled by γ.</a:t>
            </a:r>
          </a:p>
          <a:p>
            <a:r>
              <a:rPr dirty="0"/>
              <a:t>Timing: 38–40</a:t>
            </a:r>
          </a:p>
          <a:p>
            <a:r>
              <a:rPr dirty="0"/>
              <a:t>Participation online: Ask for an unsafe exploration case.</a:t>
            </a:r>
          </a:p>
          <a:p>
            <a:r>
              <a:rPr dirty="0"/>
              <a:t>Participation campus: Same oral question.</a:t>
            </a:r>
          </a:p>
          <a:p>
            <a:r>
              <a:rPr dirty="0"/>
              <a:t>Fallback: Verbal formula.</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Students classify scenarios.</a:t>
            </a:r>
            <a:br>
              <a:rPr lang="en-US" dirty="0"/>
            </a:br>
            <a:br>
              <a:rPr lang="en-US" dirty="0"/>
            </a:br>
            <a:r>
              <a:rPr lang="en-US" dirty="0"/>
              <a:t>In reinforcement learning, an agent follows a strategy called a policy (π), which determines which action it should take in a given situation. The agent's objective is to </a:t>
            </a:r>
            <a:r>
              <a:rPr lang="en-US" dirty="0" err="1"/>
              <a:t>maximise</a:t>
            </a:r>
            <a:r>
              <a:rPr lang="en-US" dirty="0"/>
              <a:t> the total reward it expects to receive over time, rather than focusing only on the next immediate reward. The period over which we consider these rewards is called the time horizon, which can be limited or potentially infinite. A reward (r) is a numerical value that indicates how desirable an outcome is according to the rules we have defined. To calculate the importance of future rewards, we use a discount factor called gamma (γ), which is a number between 0 and 1 (with γ less than 1 in our infinite-horizon formula). When gamma is close to 0, the agent focuses mainly on immediate rewards. When gamma is close to 1, future rewards become almost as important as immediate ones. For example, imagine a self-driving delivery robot choosing between a short route that drains its battery quickly and a longer route that preserves energy for future deliveries. With a higher gamma, the robot may give more importance to the benefits of having battery available later. However, choosing a good gamma does not automatically make the agent intelligent or safe. If we design the reward incorrectly, the agent might discover dangerous ways to </a:t>
            </a:r>
            <a:r>
              <a:rPr lang="en-US" dirty="0" err="1"/>
              <a:t>maximise</a:t>
            </a:r>
            <a:r>
              <a:rPr lang="en-US" dirty="0"/>
              <a:t> it. For example, a robot rewarded only for completing deliveries quickly might ignore obstacles or safety rules. Also, allowing a real robot to explore dangerous actions just to learn from mistakes could be unacceptable. For an infinite time horizon, we assume rewards are bounded so that the discounted sum remains finite. The key lesson is that reinforcement learning aims to </a:t>
            </a:r>
            <a:r>
              <a:rPr lang="en-US" dirty="0" err="1"/>
              <a:t>maximise</a:t>
            </a:r>
            <a:r>
              <a:rPr lang="en-US" dirty="0"/>
              <a:t> expected cumulative reward, but the reward function, the discount factor and the safety constraints must all be designed carefully.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Give five minutes alone, then peer critique.</a:t>
            </a:r>
          </a:p>
          <a:p>
            <a:r>
              <a:rPr dirty="0"/>
              <a:t>Reasoning: Some scenarios admit more than one formulation under different evidence.</a:t>
            </a:r>
          </a:p>
          <a:p>
            <a:r>
              <a:rPr dirty="0"/>
              <a:t>Timing: 40–65</a:t>
            </a:r>
          </a:p>
          <a:p>
            <a:r>
              <a:rPr dirty="0"/>
              <a:t>Participation online: Five pairs or structured main-room turns.</a:t>
            </a:r>
          </a:p>
          <a:p>
            <a:r>
              <a:rPr dirty="0"/>
              <a:t>Participation campus: Five paired cards.</a:t>
            </a:r>
          </a:p>
          <a:p>
            <a:r>
              <a:rPr dirty="0"/>
              <a:t>Fallback: Downloaded exercise sheet.</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Show a reproducible supervised illustration.</a:t>
            </a:r>
            <a:br>
              <a:rPr lang="en-US" dirty="0"/>
            </a:br>
            <a:br>
              <a:rPr lang="en-US" dirty="0"/>
            </a:br>
            <a:r>
              <a:rPr lang="en-US" dirty="0"/>
              <a:t>In this activity, we will </a:t>
            </a:r>
            <a:r>
              <a:rPr lang="en-US" dirty="0" err="1"/>
              <a:t>practise</a:t>
            </a:r>
            <a:r>
              <a:rPr lang="en-US" dirty="0"/>
              <a:t> how to choose the most appropriate machine learning approach for a real-world problem. You will first have five minutes to work individually and decide whether each scenario is better suited to supervised learning, unsupervised learning, or reinforcement learning. For example, imagine a company wants to predict tomorrow's electricity consumption using historical data with known consumption values. This is likely a supervised learning problem because we have examples with known targets. However, if the company wants to discover different patterns of electricity usage without predefined categories, unsupervised learning might be more appropriate. If the company wants an intelligent system that continuously decides when to charge or discharge a battery, considering how each decision affects future energy availability and costs, reinforcement learning could be suitable. Notice that the same business situation can lead to different machine learning approaches depending on the objective, available data and type of feedback. After your individual analysis, you will discuss your choices with another student. Your partner should challenge your reasoning by asking questions such as: Do we have labelled data? Are we trying to discover patterns? Do our actions influence future situations? What information is missing? There may be more than one reasonable answer, provided you can justify your decision. The goal is not simply to name an algorithm, but to explain why a particular learning approach fits the problem and what assumptions your choice depends 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This is an invented non-identifying case, not empirical evidence.</a:t>
            </a:r>
          </a:p>
          <a:p>
            <a:r>
              <a:rPr dirty="0"/>
              <a:t>Reasoning: Data access and goal change the valid formulation; collecting logs alone establishes none of these claims.</a:t>
            </a:r>
          </a:p>
          <a:p>
            <a:r>
              <a:rPr dirty="0"/>
              <a:t>Timing: 65–70</a:t>
            </a:r>
          </a:p>
          <a:p>
            <a:r>
              <a:rPr dirty="0"/>
              <a:t>Participation online: Ask which columns require new data.</a:t>
            </a:r>
          </a:p>
          <a:p>
            <a:r>
              <a:rPr dirty="0"/>
              <a:t>Participation campus: Annotate table.</a:t>
            </a:r>
          </a:p>
          <a:p>
            <a:r>
              <a:rPr dirty="0"/>
              <a:t>Fallback: Read each row.</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Map the Python stack.</a:t>
            </a:r>
            <a:br>
              <a:rPr lang="en-US" dirty="0"/>
            </a:br>
            <a:br>
              <a:rPr lang="en-US" dirty="0"/>
            </a:br>
            <a:r>
              <a:rPr lang="en-US" dirty="0"/>
              <a:t>In machine learning, the same dataset can be used to solve different problems depending on what we want to achieve. Imagine a company that collects information from its machines, such as temperature, vibration, energy consumption and operating hours. These records are called machine logs, and they tell us what happened during operation. If the company also records when each machine failed, we could use supervised learning to predict future failures because we have a known target. However, if the company wants to discover machines with similar </a:t>
            </a:r>
            <a:r>
              <a:rPr lang="en-US" dirty="0" err="1"/>
              <a:t>behaviour</a:t>
            </a:r>
            <a:r>
              <a:rPr lang="en-US" dirty="0"/>
              <a:t> without knowing which ones will fail, we could use unsupervised learning, such as clustering. Alternatively, if the company wants a system that decides when to perform maintenance while considering costs, machine availability and how today's decisions affect future conditions, reinforcement learning might be appropriate. But there is an important limitation: simply collecting machine logs does not mean we have enough information to solve all three problems. For supervised learning, we need reliable failure labels. For unsupervised learning, we need meaningful features and a suitable measure of similarity. For reinforcement learning, we need information about maintenance actions, their consequences and the rewards or costs associated with them. We may also need a safe simulation environment before testing new decisions. The key lesson is that we do not choose a machine learning algorithm just because we have data. We first define the problem, identify the information available and determine what additional evidence is needed to make a reliable decision.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Timing: 70–77 minutes.</a:t>
            </a:r>
          </a:p>
          <a:p>
            <a:r>
              <a:t>Reasoning: Library availability does not justify the training split, loss function or evaluation strategy.</a:t>
            </a:r>
          </a:p>
          <a:p>
            <a:r>
              <a:t>Online participation: Ask students which artifact records the dataset version.</a:t>
            </a:r>
          </a:p>
          <a:p>
            <a:r>
              <a:t>Campus participation: Ask students to match each library to its role in the ML workflow.</a:t>
            </a:r>
          </a:p>
          <a:p>
            <a:r>
              <a:t>Fallback: Read and explain the six tools without live code execution.</a:t>
            </a:r>
          </a:p>
          <a:p>
            <a:r>
              <a:t>Transition: Introduce SL13 — Separate Fitting from Checking.</a:t>
            </a:r>
          </a:p>
          <a:p>
            <a:endParaRPr/>
          </a:p>
          <a:p>
            <a:r>
              <a:t>In machine learning, we rarely work with just one tool. Instead, we use several Python libraries, each designed to solve a different part of the problem. Python is the programming language that connects everything. NumPy helps us perform mathematical operations efficiently using arrays, which have defined shapes and data types. pandas allows us to organise data into tables called DataFrames, where rows represent observations and columns represent features. These tables have indexes, data types and sometimes missing values that we need to understand. Matplotlib helps us create graphs to explore patterns, relationships and distributions. scikit-learn provides algorithms and tools for training, evaluating and comparing machine learning models, as well as organising preprocessing steps into pipelines. Finally, Google Colab is an online environment where we can write and execute Python code without installing everything on our computers. However, having access to these libraries does not mean our machine learning approach is automatically correct. We still need to define our problem, select appropriate data, prevent data leakage and choose suitable evaluation methods. In today's session, we use a simple Python example to understand the workflow. In our next session, we will explore pandas and data preprocessing in more detail. The important lesson is that libraries provide the tools, but we must provide the correct reasoning and methodology.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Clarify split before fitting.</a:t>
            </a:r>
          </a:p>
          <a:p>
            <a:r>
              <a:rPr dirty="0"/>
              <a:t>Reasoning: Validation is an estimate under a protocol, not a final universal score.</a:t>
            </a:r>
          </a:p>
          <a:p>
            <a:r>
              <a:rPr dirty="0"/>
              <a:t>Timing: 77–82</a:t>
            </a:r>
          </a:p>
          <a:p>
            <a:r>
              <a:rPr dirty="0"/>
              <a:t>Participation online: Ask which arrow creates leakage.</a:t>
            </a:r>
          </a:p>
          <a:p>
            <a:r>
              <a:rPr dirty="0"/>
              <a:t>Participation campus: Draw arrows on paper.</a:t>
            </a:r>
          </a:p>
          <a:p>
            <a:r>
              <a:rPr dirty="0"/>
              <a:t>Fallback: Use the sentence sequence.</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Derive the baseline.</a:t>
            </a:r>
            <a:br>
              <a:rPr lang="en-US" dirty="0"/>
            </a:br>
            <a:br>
              <a:rPr lang="en-US" dirty="0"/>
            </a:br>
            <a:r>
              <a:rPr lang="en-US" dirty="0"/>
              <a:t>In machine learning, we must divide our dataset into training and validation sets before we start training the model. The training set is the data the model uses to learn patterns and calculate its parameters, while the validation set contains separate examples that help us evaluate how well the model performs on data it has not used for training. For example, imagine we have information about 100 students and want to predict their exam results. We might use 80 students to train the model and the remaining 20 to evaluate its predictions. However, we must be careful about data leakage, which happens when information from the validation set influences the training process in a way that makes the evaluation unreliable. For instance, calculating the average of a feature using all 100 students before splitting the data, and then using that average to prepare the training data, allows information from the validation students to influence the model indirectly. Instead, we should calculate any necessary preprocessing statistics using only the training set and then apply those same calculations to the validation set. Once the model has been trained, we use the validation set to measure its performance. But a good validation score does not guarantee that the model will work equally well in every real-world situation. The results depend on how the data was collected, how it was divided and whether the validation examples represent the situations the model will face in practice. Also, repeatedly changing the model based on validation results can make our evaluation overly optimistic. The key lesson is that training and validation must have clearly separated roles: training is for learning, while validation is for checking how well that learning transfers to unseen examples under a specific evaluation procedure.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Expand one square, sum, differentiate and note d²L/dc²=2n&gt;0.</a:t>
            </a:r>
          </a:p>
          <a:p>
            <a:r>
              <a:rPr dirty="0"/>
              <a:t>Reasoning: This model ignores x: reference point, not regression lesson. c has y units; loss squared units.</a:t>
            </a:r>
          </a:p>
          <a:p>
            <a:r>
              <a:rPr dirty="0"/>
              <a:t>Timing: 82–87</a:t>
            </a:r>
          </a:p>
          <a:p>
            <a:r>
              <a:rPr dirty="0"/>
              <a:t>Participation online: Predict what model cannot learn.</a:t>
            </a:r>
          </a:p>
          <a:p>
            <a:r>
              <a:rPr dirty="0"/>
              <a:t>Participation campus: Check dimensions.</a:t>
            </a:r>
          </a:p>
          <a:p>
            <a:r>
              <a:rPr dirty="0"/>
              <a:t>Fallback: Read derivation in section 3.</a:t>
            </a:r>
          </a:p>
          <a:p>
            <a:pPr marL="0" marR="0" lvl="0" indent="0" algn="l" defTabSz="914400" rtl="0" eaLnBrk="1" fontAlgn="auto" latinLnBrk="0" hangingPunct="1">
              <a:lnSpc>
                <a:spcPct val="100000"/>
              </a:lnSpc>
              <a:spcBef>
                <a:spcPts val="0"/>
              </a:spcBef>
              <a:spcAft>
                <a:spcPts val="0"/>
              </a:spcAft>
              <a:buClrTx/>
              <a:buSzTx/>
              <a:buFontTx/>
              <a:buNone/>
              <a:tabLst/>
              <a:defRPr/>
            </a:pPr>
            <a:r>
              <a:rPr dirty="0"/>
              <a:t>Transition: Run notebook.</a:t>
            </a:r>
            <a:br>
              <a:rPr lang="en-US" dirty="0"/>
            </a:br>
            <a:br>
              <a:rPr lang="en-US" dirty="0"/>
            </a:br>
            <a:r>
              <a:rPr lang="en-US" dirty="0"/>
              <a:t>In machine learning, before using a complex model, it is useful to start with a simple baseline model, which gives us a reference point for comparing future results. Imagine we want to predict students' exam scores, and we have the scores of 5 students: 60, 70, 80, 90 and 100. One very simple approach is to predict the same score for everyone, regardless of how many hours they studied or their attendance. We call this constant prediction c. To find the best value of c, we calculate the difference between each actual score and our prediction, square each difference, and add them together. This gives us the squared-error loss, which we want to </a:t>
            </a:r>
            <a:r>
              <a:rPr lang="en-US" dirty="0" err="1"/>
              <a:t>minimise</a:t>
            </a:r>
            <a:r>
              <a:rPr lang="en-US" dirty="0"/>
              <a:t>. Mathematically, we can prove that the value of c that </a:t>
            </a:r>
            <a:r>
              <a:rPr lang="en-US" dirty="0" err="1"/>
              <a:t>minimises</a:t>
            </a:r>
            <a:r>
              <a:rPr lang="en-US" dirty="0"/>
              <a:t> this loss is simply the average of the training scores. We do this by expanding the squared differences, calculating the first derivative with respect to c, and setting it equal to zero. The second derivative is 2n, where n is the number of training observations. Since 2n is positive whenever we have at least one observation, we know that the solution is a minimum. In our example, the average is 80, so our model predicts 80 for every student. Notice that this model completely ignores the input features (x), such as study hours or attendance. It cannot learn that students who study more might achieve different results. This is why it is only a baseline, not a sophisticated predictive model. Also, the prediction c has the same units as the target y (exam points), while the squared-error loss has squared units (points²). The key lesson is that a simple baseline helps us understand whether a more complex model actually provides an improvement, which we can later evaluate on unseen data.</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Explanation: Demonstrate top-to-bottom execution and meaning of each record.</a:t>
            </a:r>
          </a:p>
          <a:p>
            <a:r>
              <a:t>Reasoning: Same hash and score show repeatability, not population or fairness claim.</a:t>
            </a:r>
          </a:p>
          <a:p>
            <a:r>
              <a:t>Timing: 87–90 and 100–125</a:t>
            </a:r>
          </a:p>
          <a:p>
            <a:r>
              <a:t>Participation online: Compare records without account details.</a:t>
            </a:r>
          </a:p>
          <a:p>
            <a:r>
              <a:t>Participation campus: Rotate driver/reviewer.</a:t>
            </a:r>
          </a:p>
          <a:p>
            <a:r>
              <a:t>Fallback: Trace formula, restore execution later.</a:t>
            </a:r>
          </a:p>
          <a:p>
            <a:r>
              <a:t>Transition: Independent investigation.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Explanation: Refer to unanswered notebook cell and exercise sheet.</a:t>
            </a:r>
          </a:p>
          <a:p>
            <a:r>
              <a:t>Reasoning: Variation across overlapping splits is not a confidence interval; repeated validation-based selection can bias claims.</a:t>
            </a:r>
          </a:p>
          <a:p>
            <a:r>
              <a:t>Timing: 125–140</a:t>
            </a:r>
          </a:p>
          <a:p>
            <a:r>
              <a:t>Participation online: Ask hypothesis and limitation, not results.</a:t>
            </a:r>
          </a:p>
          <a:p>
            <a:r>
              <a:t>Participation campus: Each learner drafts independent plan.</a:t>
            </a:r>
          </a:p>
          <a:p>
            <a:r>
              <a:t>Fallback: Paper pseudocode then supervised execution.</a:t>
            </a:r>
          </a:p>
          <a:p>
            <a:r>
              <a:t>Transition: Compare paradigms and harms.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Explanation: Revisit comparison matrix and alternative formulation.</a:t>
            </a:r>
          </a:p>
          <a:p>
            <a:r>
              <a:t>Reasoning: Distinguish estimator bias/variance from societal fairness; synthetic data have no protected groups, cannot establish fairness.</a:t>
            </a:r>
          </a:p>
          <a:p>
            <a:r>
              <a:t>Timing: 140–165</a:t>
            </a:r>
          </a:p>
          <a:p>
            <a:r>
              <a:t>Participation online: Pair critique then ten short turns.</a:t>
            </a:r>
          </a:p>
          <a:p>
            <a:r>
              <a:t>Participation campus: Pair and individual note.</a:t>
            </a:r>
          </a:p>
          <a:p>
            <a:r>
              <a:t>Fallback: Text matrix.</a:t>
            </a:r>
          </a:p>
          <a:p>
            <a:r>
              <a:t>Transition: Exit check and S02.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Explanation: Links identify works; no excerpt or figure reused. §5 locator confirmed by author table of contents, not an assertion about its argument.</a:t>
            </a:r>
          </a:p>
          <a:p>
            <a:r>
              <a:rPr dirty="0"/>
              <a:t>Reasoning: Carry schema, split and version habits into S02.</a:t>
            </a:r>
          </a:p>
          <a:p>
            <a:r>
              <a:rPr dirty="0"/>
              <a:t>Timing: 165–180</a:t>
            </a:r>
          </a:p>
          <a:p>
            <a:r>
              <a:rPr dirty="0"/>
              <a:t>Participation online: Individual exit with choice and caveat.</a:t>
            </a:r>
          </a:p>
          <a:p>
            <a:r>
              <a:rPr dirty="0"/>
              <a:t>Participation campus: Written exit card.</a:t>
            </a:r>
          </a:p>
          <a:p>
            <a:r>
              <a:rPr dirty="0"/>
              <a:t>Fallback: Private written route and approved live recovery.</a:t>
            </a:r>
          </a:p>
          <a:p>
            <a:r>
              <a:t>Transition: End; handle unresolved access privately.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981970"/>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0000001-0001-4000-8000-000000000000}"/>
              </a:ext>
            </a:extLst>
          </p:cNvPr>
          <p:cNvSpPr>
            <a:spLocks noGrp="1"/>
          </p:cNvSpPr>
          <p:nvPr/>
        </p:nvSpPr>
        <p:spPr>
          <a:xfrm>
            <a:off x="0" y="0"/>
            <a:ext cx="12192000" cy="171450"/>
          </a:xfrm>
          <a:prstGeom prst="rect">
            <a:avLst/>
          </a:prstGeom>
          <a:solidFill>
            <a:srgbClr val="007C83"/>
          </a:solidFill>
          <a:ln w="0">
            <a:noFill/>
            <a:prstDash val="solid"/>
          </a:ln>
        </p:spPr>
        <p:txBody>
          <a:bodyPr/>
          <a:lstStyle/>
          <a:p>
            <a:endParaRPr lang="en-US"/>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457200" y="438150"/>
            <a:ext cx="8572500" cy="266700"/>
          </a:xfrm>
          <a:prstGeom prst="rect">
            <a:avLst/>
          </a:prstGeom>
          <a:noFill/>
          <a:ln w="0">
            <a:noFill/>
            <a:prstDash val="solid"/>
          </a:ln>
        </p:spPr>
        <p:txBody>
          <a:bodyPr wrap="square" lIns="0" tIns="0" rIns="0" bIns="0" anchor="t">
            <a:normAutofit/>
          </a:bodyPr>
          <a:lstStyle/>
          <a:p>
            <a:pPr algn="l">
              <a:defRPr sz="1500" b="1" i="0">
                <a:solidFill>
                  <a:srgbClr val="007C83"/>
                </a:solidFill>
                <a:latin typeface="Arial"/>
                <a:ea typeface="Arial"/>
                <a:cs typeface="Arial"/>
              </a:defRPr>
            </a:pPr>
            <a:r>
              <a:rPr sz="1500" b="1" i="0" dirty="0">
                <a:solidFill>
                  <a:srgbClr val="007C83"/>
                </a:solidFill>
                <a:latin typeface="Arial"/>
                <a:ea typeface="Arial"/>
                <a:cs typeface="Arial"/>
              </a:rPr>
              <a:t>S01 · ML FOUNDATIONS AND PYTHON STACK</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457200" y="1000125"/>
            <a:ext cx="6096000" cy="1333500"/>
          </a:xfrm>
          <a:prstGeom prst="rect">
            <a:avLst/>
          </a:prstGeom>
          <a:noFill/>
          <a:ln w="0">
            <a:noFill/>
            <a:prstDash val="solid"/>
          </a:ln>
        </p:spPr>
        <p:txBody>
          <a:bodyPr wrap="square" lIns="0" tIns="0" rIns="0" bIns="0" anchor="t">
            <a:normAutofit fontScale="97222" lnSpcReduction="10000"/>
          </a:bodyPr>
          <a:lstStyle/>
          <a:p>
            <a:pPr algn="l">
              <a:defRPr sz="4500" b="1" i="0">
                <a:solidFill>
                  <a:srgbClr val="102A43"/>
                </a:solidFill>
                <a:latin typeface="Arial"/>
                <a:ea typeface="Arial"/>
                <a:cs typeface="Arial"/>
              </a:defRPr>
            </a:pPr>
            <a:r>
              <a:rPr sz="4500" b="1" i="0">
                <a:solidFill>
                  <a:srgbClr val="102A43"/>
                </a:solidFill>
                <a:latin typeface="Arial"/>
                <a:ea typeface="Arial"/>
                <a:cs typeface="Arial"/>
              </a:rPr>
              <a:t>A task before</a:t>
            </a:r>
          </a:p>
          <a:p>
            <a:pPr algn="l">
              <a:defRPr sz="4500" b="1" i="0">
                <a:solidFill>
                  <a:srgbClr val="102A43"/>
                </a:solidFill>
                <a:latin typeface="Arial"/>
                <a:ea typeface="Arial"/>
                <a:cs typeface="Arial"/>
              </a:defRPr>
            </a:pPr>
            <a:r>
              <a:rPr sz="4500" b="1" i="0">
                <a:solidFill>
                  <a:srgbClr val="102A43"/>
                </a:solidFill>
                <a:latin typeface="Arial"/>
                <a:ea typeface="Arial"/>
                <a:cs typeface="Arial"/>
              </a:rPr>
              <a:t>an algorithm</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457200" y="2524125"/>
            <a:ext cx="10668000" cy="609600"/>
          </a:xfrm>
          <a:prstGeom prst="rect">
            <a:avLst/>
          </a:prstGeom>
          <a:noFill/>
          <a:ln w="0">
            <a:noFill/>
            <a:prstDash val="solid"/>
          </a:ln>
        </p:spPr>
        <p:txBody>
          <a:bodyPr wrap="square" lIns="0" tIns="0" rIns="0" bIns="0" anchor="t">
            <a:normAutofit fontScale="99933"/>
          </a:bodyPr>
          <a:lstStyle/>
          <a:p>
            <a:pPr algn="l">
              <a:defRPr sz="2400" b="0" i="0">
                <a:solidFill>
                  <a:srgbClr val="52606D"/>
                </a:solidFill>
                <a:latin typeface="Arial"/>
                <a:ea typeface="Arial"/>
                <a:cs typeface="Arial"/>
              </a:defRPr>
            </a:pPr>
            <a:r>
              <a:rPr sz="2400" b="0" i="0">
                <a:solidFill>
                  <a:srgbClr val="52606D"/>
                </a:solidFill>
                <a:latin typeface="Arial"/>
                <a:ea typeface="Arial"/>
                <a:cs typeface="Arial"/>
              </a:rPr>
              <a:t>What observation, feedback and future decision does this problem contain?</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685800" y="3714750"/>
            <a:ext cx="2857500" cy="1066800"/>
          </a:xfrm>
          <a:prstGeom prst="rect">
            <a:avLst/>
          </a:prstGeom>
          <a:solidFill>
            <a:srgbClr val="EAF2F8"/>
          </a:solidFill>
          <a:ln w="19050">
            <a:solidFill>
              <a:srgbClr val="BCCCDC"/>
            </a:solidFill>
            <a:prstDash val="solid"/>
          </a:ln>
        </p:spPr>
        <p:txBody>
          <a:bodyPr/>
          <a:lstStyle/>
          <a:p>
            <a:endParaRPr lang="en-US"/>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819150" y="3810000"/>
            <a:ext cx="2590800" cy="8763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Fixed labelled</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examples</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4667250" y="3714750"/>
            <a:ext cx="2857500" cy="1066800"/>
          </a:xfrm>
          <a:prstGeom prst="rect">
            <a:avLst/>
          </a:prstGeom>
          <a:solidFill>
            <a:srgbClr val="D9F0EF"/>
          </a:solidFill>
          <a:ln w="19050">
            <a:solidFill>
              <a:srgbClr val="BCCCDC"/>
            </a:solidFill>
            <a:prstDash val="solid"/>
          </a:ln>
        </p:spPr>
        <p:txBody>
          <a:bodyPr/>
          <a:lstStyle/>
          <a:p>
            <a:endParaRPr lang="en-US"/>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4800600" y="3810000"/>
            <a:ext cx="2590800" cy="8763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Unlabelled</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examples</a:t>
            </a:r>
          </a:p>
        </p:txBody>
      </p:sp>
      <p:sp>
        <p:nvSpPr>
          <p:cNvPr id="9" name="Rectangle 8">
            <a:extLst>
              <a:ext uri="{FF2B5EF4-FFF2-40B4-BE49-F238E27FC236}">
                <a16:creationId xmlns:a16="http://schemas.microsoft.com/office/drawing/2014/main" id="{00000001-0009-4000-8000-000000000000}"/>
              </a:ext>
            </a:extLst>
          </p:cNvPr>
          <p:cNvSpPr>
            <a:spLocks noGrp="1"/>
          </p:cNvSpPr>
          <p:nvPr/>
        </p:nvSpPr>
        <p:spPr>
          <a:xfrm>
            <a:off x="8648700" y="3714750"/>
            <a:ext cx="2857500" cy="1066800"/>
          </a:xfrm>
          <a:prstGeom prst="rect">
            <a:avLst/>
          </a:prstGeom>
          <a:solidFill>
            <a:srgbClr val="FFF3E8"/>
          </a:solidFill>
          <a:ln w="19050">
            <a:solidFill>
              <a:srgbClr val="BCCCDC"/>
            </a:solidFill>
            <a:prstDash val="solid"/>
          </a:ln>
        </p:spPr>
        <p:txBody>
          <a:bodyPr/>
          <a:lstStyle/>
          <a:p>
            <a:endParaRPr lang="en-US"/>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8782050" y="3810000"/>
            <a:ext cx="2590800" cy="876300"/>
          </a:xfrm>
          <a:prstGeom prst="rect">
            <a:avLst/>
          </a:prstGeom>
          <a:noFill/>
          <a:ln w="0">
            <a:noFill/>
            <a:prstDash val="solid"/>
          </a:ln>
        </p:spPr>
        <p:txBody>
          <a:bodyPr wrap="square" lIns="0" tIns="0" rIns="0" bIns="0" anchor="ctr">
            <a:normAutofit fontScale="98291"/>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State → action → reward</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 new state</a:t>
            </a:r>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685800" y="4972050"/>
            <a:ext cx="2857500" cy="247650"/>
          </a:xfrm>
          <a:prstGeom prst="rect">
            <a:avLst/>
          </a:prstGeom>
          <a:noFill/>
          <a:ln w="0">
            <a:noFill/>
            <a:prstDash val="solid"/>
          </a:ln>
        </p:spPr>
        <p:txBody>
          <a:bodyPr wrap="square" lIns="0" tIns="0" rIns="0" bIns="0" anchor="t">
            <a:normAutofit/>
          </a:bodyPr>
          <a:lstStyle/>
          <a:p>
            <a:pPr algn="ctr">
              <a:defRPr sz="1350" b="1" i="0">
                <a:solidFill>
                  <a:srgbClr val="007C83"/>
                </a:solidFill>
                <a:latin typeface="Arial"/>
                <a:ea typeface="Arial"/>
                <a:cs typeface="Arial"/>
              </a:defRPr>
            </a:pPr>
            <a:r>
              <a:rPr sz="1350" b="1" i="0">
                <a:solidFill>
                  <a:srgbClr val="007C83"/>
                </a:solidFill>
                <a:latin typeface="Arial"/>
                <a:ea typeface="Arial"/>
                <a:cs typeface="Arial"/>
              </a:rPr>
              <a:t>SUPERVISED</a:t>
            </a:r>
          </a:p>
        </p:txBody>
      </p:sp>
      <p:sp>
        <p:nvSpPr>
          <p:cNvPr id="12" name="Rectangle 11">
            <a:extLst>
              <a:ext uri="{FF2B5EF4-FFF2-40B4-BE49-F238E27FC236}">
                <a16:creationId xmlns:a16="http://schemas.microsoft.com/office/drawing/2014/main" id="{00000001-000C-4000-8000-000000000000}"/>
              </a:ext>
            </a:extLst>
          </p:cNvPr>
          <p:cNvSpPr>
            <a:spLocks noGrp="1"/>
          </p:cNvSpPr>
          <p:nvPr/>
        </p:nvSpPr>
        <p:spPr>
          <a:xfrm>
            <a:off x="4667250" y="4972050"/>
            <a:ext cx="2857500" cy="247650"/>
          </a:xfrm>
          <a:prstGeom prst="rect">
            <a:avLst/>
          </a:prstGeom>
          <a:noFill/>
          <a:ln w="0">
            <a:noFill/>
            <a:prstDash val="solid"/>
          </a:ln>
        </p:spPr>
        <p:txBody>
          <a:bodyPr wrap="square" lIns="0" tIns="0" rIns="0" bIns="0" anchor="t">
            <a:normAutofit/>
          </a:bodyPr>
          <a:lstStyle/>
          <a:p>
            <a:pPr algn="ctr">
              <a:defRPr sz="1350" b="1" i="0">
                <a:solidFill>
                  <a:srgbClr val="007C83"/>
                </a:solidFill>
                <a:latin typeface="Arial"/>
                <a:ea typeface="Arial"/>
                <a:cs typeface="Arial"/>
              </a:defRPr>
            </a:pPr>
            <a:r>
              <a:rPr sz="1350" b="1" i="0">
                <a:solidFill>
                  <a:srgbClr val="007C83"/>
                </a:solidFill>
                <a:latin typeface="Arial"/>
                <a:ea typeface="Arial"/>
                <a:cs typeface="Arial"/>
              </a:rPr>
              <a:t>UNSUPERVISED</a:t>
            </a:r>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8648700" y="4972050"/>
            <a:ext cx="2857500" cy="247650"/>
          </a:xfrm>
          <a:prstGeom prst="rect">
            <a:avLst/>
          </a:prstGeom>
          <a:noFill/>
          <a:ln w="0">
            <a:noFill/>
            <a:prstDash val="solid"/>
          </a:ln>
        </p:spPr>
        <p:txBody>
          <a:bodyPr wrap="square" lIns="0" tIns="0" rIns="0" bIns="0" anchor="t">
            <a:normAutofit/>
          </a:bodyPr>
          <a:lstStyle/>
          <a:p>
            <a:pPr algn="ctr">
              <a:defRPr sz="1350" b="1" i="0">
                <a:solidFill>
                  <a:srgbClr val="C64B2D"/>
                </a:solidFill>
                <a:latin typeface="Arial"/>
                <a:ea typeface="Arial"/>
                <a:cs typeface="Arial"/>
              </a:defRPr>
            </a:pPr>
            <a:r>
              <a:rPr sz="1350" b="1" i="0">
                <a:solidFill>
                  <a:srgbClr val="C64B2D"/>
                </a:solidFill>
                <a:latin typeface="Arial"/>
                <a:ea typeface="Arial"/>
                <a:cs typeface="Arial"/>
              </a:rPr>
              <a:t>REINFORCEMENT</a:t>
            </a:r>
          </a:p>
        </p:txBody>
      </p:sp>
      <p:sp>
        <p:nvSpPr>
          <p:cNvPr id="14" name="Rectangle 13">
            <a:extLst>
              <a:ext uri="{FF2B5EF4-FFF2-40B4-BE49-F238E27FC236}">
                <a16:creationId xmlns:a16="http://schemas.microsoft.com/office/drawing/2014/main" id="{00000001-000E-4000-8000-000000000000}"/>
              </a:ext>
            </a:extLst>
          </p:cNvPr>
          <p:cNvSpPr>
            <a:spLocks noGrp="1"/>
          </p:cNvSpPr>
          <p:nvPr/>
        </p:nvSpPr>
        <p:spPr>
          <a:xfrm>
            <a:off x="685800" y="5524500"/>
            <a:ext cx="10820400" cy="342900"/>
          </a:xfrm>
          <a:prstGeom prst="rect">
            <a:avLst/>
          </a:prstGeom>
          <a:noFill/>
          <a:ln w="0">
            <a:noFill/>
            <a:prstDash val="solid"/>
          </a:ln>
        </p:spPr>
        <p:txBody>
          <a:bodyPr wrap="square" lIns="0" tIns="0" rIns="0" bIns="0" anchor="t">
            <a:normAutofit/>
          </a:bodyPr>
          <a:lstStyle/>
          <a:p>
            <a:pPr algn="ctr">
              <a:defRPr sz="1650" b="0" i="1">
                <a:solidFill>
                  <a:srgbClr val="52606D"/>
                </a:solidFill>
                <a:latin typeface="Arial"/>
                <a:ea typeface="Arial"/>
                <a:cs typeface="Arial"/>
              </a:defRPr>
            </a:pPr>
            <a:r>
              <a:rPr sz="1650" b="0" i="1">
                <a:solidFill>
                  <a:srgbClr val="52606D"/>
                </a:solidFill>
                <a:latin typeface="Arial"/>
                <a:ea typeface="Arial"/>
                <a:cs typeface="Arial"/>
              </a:rPr>
              <a:t>Arrows in the third lane denote temporal feedback—not causation proven by data.</a:t>
            </a:r>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457200" y="6419850"/>
            <a:ext cx="9239250" cy="228600"/>
          </a:xfrm>
          <a:prstGeom prst="rect">
            <a:avLst/>
          </a:prstGeom>
          <a:noFill/>
          <a:ln w="0">
            <a:noFill/>
            <a:prstDash val="solid"/>
          </a:ln>
        </p:spPr>
        <p:txBody>
          <a:bodyPr wrap="square" lIns="0" tIns="0" rIns="0" bIns="0" anchor="t">
            <a:normAutofit/>
          </a:bodyPr>
          <a:lstStyle/>
          <a:p>
            <a:pPr algn="l">
              <a:defRPr sz="1275" b="1" i="0">
                <a:solidFill>
                  <a:srgbClr val="7B8794"/>
                </a:solidFill>
                <a:latin typeface="Arial"/>
                <a:ea typeface="Arial"/>
                <a:cs typeface="Arial"/>
              </a:defRPr>
            </a:pPr>
            <a:endParaRPr sz="1275" b="1" i="0" dirty="0">
              <a:solidFill>
                <a:srgbClr val="7B8794"/>
              </a:solidFill>
              <a:latin typeface="Arial"/>
              <a:ea typeface="Arial"/>
              <a:cs typeface="Arial"/>
            </a:endParaRPr>
          </a:p>
        </p:txBody>
      </p:sp>
      <p:sp>
        <p:nvSpPr>
          <p:cNvPr id="17" name="Rectangle 16">
            <a:extLst>
              <a:ext uri="{FF2B5EF4-FFF2-40B4-BE49-F238E27FC236}">
                <a16:creationId xmlns:a16="http://schemas.microsoft.com/office/drawing/2014/main" id="{00000001-0011-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SL01</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0000002-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LEARNING OUTCOME</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02</a:t>
            </a:r>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The approved LO1</a:t>
            </a:r>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2-0005-4000-8000-000000000000}"/>
              </a:ext>
            </a:extLst>
          </p:cNvPr>
          <p:cNvSpPr>
            <a:spLocks noGrp="1"/>
          </p:cNvSpPr>
          <p:nvPr/>
        </p:nvSpPr>
        <p:spPr>
          <a:xfrm>
            <a:off x="876300" y="1952625"/>
            <a:ext cx="10439400" cy="1809750"/>
          </a:xfrm>
          <a:prstGeom prst="rect">
            <a:avLst/>
          </a:prstGeom>
          <a:noFill/>
          <a:ln w="0">
            <a:noFill/>
            <a:prstDash val="solid"/>
          </a:ln>
        </p:spPr>
        <p:txBody>
          <a:bodyPr wrap="square" lIns="0" tIns="0" rIns="0" bIns="0" anchor="ctr">
            <a:normAutofit fontScale="95463"/>
          </a:bodyPr>
          <a:lstStyle/>
          <a:p>
            <a:pPr algn="ctr">
              <a:defRPr sz="3375" b="1" i="0">
                <a:solidFill>
                  <a:srgbClr val="102A43"/>
                </a:solidFill>
                <a:latin typeface="Arial"/>
                <a:ea typeface="Arial"/>
                <a:cs typeface="Arial"/>
              </a:defRPr>
            </a:pPr>
            <a:r>
              <a:rPr sz="3375" b="1" i="0">
                <a:solidFill>
                  <a:srgbClr val="102A43"/>
                </a:solidFill>
                <a:latin typeface="Arial"/>
                <a:ea typeface="Arial"/>
                <a:cs typeface="Arial"/>
              </a:rPr>
              <a:t>“Explain and compare supervised, unsupervised, and reinforcement learning paradigms, identifying appropriate algorithms for given problem types.”</a:t>
            </a:r>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2190750" y="4095750"/>
            <a:ext cx="7810500" cy="38100"/>
          </a:xfrm>
          <a:prstGeom prst="rect">
            <a:avLst/>
          </a:prstGeom>
          <a:solidFill>
            <a:srgbClr val="007C83"/>
          </a:solidFill>
          <a:ln w="0">
            <a:noFill/>
            <a:prstDash val="solid"/>
          </a:ln>
        </p:spPr>
        <p:txBody>
          <a:bodyPr/>
          <a:lstStyle/>
          <a:p>
            <a:endParaRPr lang="en-US"/>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2190750" y="4362450"/>
            <a:ext cx="2095500" cy="323850"/>
          </a:xfrm>
          <a:prstGeom prst="rect">
            <a:avLst/>
          </a:prstGeom>
          <a:noFill/>
          <a:ln w="0">
            <a:noFill/>
            <a:prstDash val="solid"/>
          </a:ln>
        </p:spPr>
        <p:txBody>
          <a:bodyPr wrap="square" lIns="0" tIns="0" rIns="0" bIns="0" anchor="t">
            <a:normAutofit/>
          </a:bodyPr>
          <a:lstStyle/>
          <a:p>
            <a:pPr algn="ctr">
              <a:defRPr sz="1800" b="1" i="0">
                <a:solidFill>
                  <a:srgbClr val="007C83"/>
                </a:solidFill>
                <a:latin typeface="Arial"/>
                <a:ea typeface="Arial"/>
                <a:cs typeface="Arial"/>
              </a:defRPr>
            </a:pPr>
            <a:r>
              <a:rPr sz="1800" b="1" i="0">
                <a:solidFill>
                  <a:srgbClr val="007C83"/>
                </a:solidFill>
                <a:latin typeface="Arial"/>
                <a:ea typeface="Arial"/>
                <a:cs typeface="Arial"/>
              </a:rPr>
              <a:t>EXPLAIN</a:t>
            </a:r>
          </a:p>
        </p:txBody>
      </p:sp>
      <p:sp>
        <p:nvSpPr>
          <p:cNvPr id="8" name="Rectangle 7">
            <a:extLst>
              <a:ext uri="{FF2B5EF4-FFF2-40B4-BE49-F238E27FC236}">
                <a16:creationId xmlns:a16="http://schemas.microsoft.com/office/drawing/2014/main" id="{00000002-0008-4000-8000-000000000000}"/>
              </a:ext>
            </a:extLst>
          </p:cNvPr>
          <p:cNvSpPr>
            <a:spLocks noGrp="1"/>
          </p:cNvSpPr>
          <p:nvPr/>
        </p:nvSpPr>
        <p:spPr>
          <a:xfrm>
            <a:off x="5048250" y="4362450"/>
            <a:ext cx="2095500" cy="323850"/>
          </a:xfrm>
          <a:prstGeom prst="rect">
            <a:avLst/>
          </a:prstGeom>
          <a:noFill/>
          <a:ln w="0">
            <a:noFill/>
            <a:prstDash val="solid"/>
          </a:ln>
        </p:spPr>
        <p:txBody>
          <a:bodyPr wrap="square" lIns="0" tIns="0" rIns="0" bIns="0" anchor="t">
            <a:normAutofit/>
          </a:bodyPr>
          <a:lstStyle/>
          <a:p>
            <a:pPr algn="ctr">
              <a:defRPr sz="1800" b="1" i="0">
                <a:solidFill>
                  <a:srgbClr val="007C83"/>
                </a:solidFill>
                <a:latin typeface="Arial"/>
                <a:ea typeface="Arial"/>
                <a:cs typeface="Arial"/>
              </a:defRPr>
            </a:pPr>
            <a:r>
              <a:rPr sz="1800" b="1" i="0">
                <a:solidFill>
                  <a:srgbClr val="007C83"/>
                </a:solidFill>
                <a:latin typeface="Arial"/>
                <a:ea typeface="Arial"/>
                <a:cs typeface="Arial"/>
              </a:rPr>
              <a:t>COMPARE</a:t>
            </a:r>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7905750" y="4362450"/>
            <a:ext cx="2095500" cy="323850"/>
          </a:xfrm>
          <a:prstGeom prst="rect">
            <a:avLst/>
          </a:prstGeom>
          <a:noFill/>
          <a:ln w="0">
            <a:noFill/>
            <a:prstDash val="solid"/>
          </a:ln>
        </p:spPr>
        <p:txBody>
          <a:bodyPr wrap="square" lIns="0" tIns="0" rIns="0" bIns="0" anchor="t">
            <a:normAutofit/>
          </a:bodyPr>
          <a:lstStyle/>
          <a:p>
            <a:pPr algn="ctr">
              <a:defRPr sz="1800" b="1" i="0">
                <a:solidFill>
                  <a:srgbClr val="007C83"/>
                </a:solidFill>
                <a:latin typeface="Arial"/>
                <a:ea typeface="Arial"/>
                <a:cs typeface="Arial"/>
              </a:defRPr>
            </a:pPr>
            <a:r>
              <a:rPr sz="1800" b="1" i="0">
                <a:solidFill>
                  <a:srgbClr val="007C83"/>
                </a:solidFill>
                <a:latin typeface="Arial"/>
                <a:ea typeface="Arial"/>
                <a:cs typeface="Arial"/>
              </a:rPr>
              <a:t>IDENTIFY</a:t>
            </a:r>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2190750" y="5000625"/>
            <a:ext cx="7810500" cy="400050"/>
          </a:xfrm>
          <a:prstGeom prst="rect">
            <a:avLst/>
          </a:prstGeom>
          <a:noFill/>
          <a:ln w="0">
            <a:noFill/>
            <a:prstDash val="solid"/>
          </a:ln>
        </p:spPr>
        <p:txBody>
          <a:bodyPr wrap="square" lIns="0" tIns="0" rIns="0" bIns="0" anchor="t">
            <a:normAutofit/>
          </a:bodyPr>
          <a:lstStyle/>
          <a:p>
            <a:pPr algn="ctr">
              <a:defRPr sz="2100" b="0" i="1">
                <a:solidFill>
                  <a:srgbClr val="52606D"/>
                </a:solidFill>
                <a:latin typeface="Arial"/>
                <a:ea typeface="Arial"/>
                <a:cs typeface="Arial"/>
              </a:defRPr>
            </a:pPr>
            <a:r>
              <a:rPr sz="2100" b="0" i="1">
                <a:solidFill>
                  <a:srgbClr val="52606D"/>
                </a:solidFill>
                <a:latin typeface="Arial"/>
                <a:ea typeface="Arial"/>
                <a:cs typeface="Arial"/>
              </a:rPr>
              <a:t>No other outcome is claimed.</a:t>
            </a:r>
          </a:p>
        </p:txBody>
      </p:sp>
      <p:sp>
        <p:nvSpPr>
          <p:cNvPr id="11" name="Rectangle 10">
            <a:extLst>
              <a:ext uri="{FF2B5EF4-FFF2-40B4-BE49-F238E27FC236}">
                <a16:creationId xmlns:a16="http://schemas.microsoft.com/office/drawing/2014/main" id="{00000002-000B-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0000002-000D-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SL02</a:t>
            </a:r>
          </a:p>
        </p:txBody>
      </p:sp>
    </p:spTree>
    <p:extLst>
      <p:ext uri="{BB962C8B-B14F-4D97-AF65-F5344CB8AC3E}">
        <p14:creationId xmlns:p14="http://schemas.microsoft.com/office/powerpoint/2010/main" val="20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0000003-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NOTATION AND PROVENANCE</a:t>
            </a:r>
          </a:p>
        </p:txBody>
      </p:sp>
      <p:sp>
        <p:nvSpPr>
          <p:cNvPr id="2" name="Rectangle 1">
            <a:extLst>
              <a:ext uri="{FF2B5EF4-FFF2-40B4-BE49-F238E27FC236}">
                <a16:creationId xmlns:a16="http://schemas.microsoft.com/office/drawing/2014/main" id="{00000003-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03</a:t>
            </a:r>
          </a:p>
        </p:txBody>
      </p:sp>
      <p:sp>
        <p:nvSpPr>
          <p:cNvPr id="3" name="Rectangle 2">
            <a:extLst>
              <a:ext uri="{FF2B5EF4-FFF2-40B4-BE49-F238E27FC236}">
                <a16:creationId xmlns:a16="http://schemas.microsoft.com/office/drawing/2014/main" id="{00000003-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Observations are not a population</a:t>
            </a:r>
          </a:p>
        </p:txBody>
      </p:sp>
      <p:sp>
        <p:nvSpPr>
          <p:cNvPr id="4" name="Rectangle 3">
            <a:extLst>
              <a:ext uri="{FF2B5EF4-FFF2-40B4-BE49-F238E27FC236}">
                <a16:creationId xmlns:a16="http://schemas.microsoft.com/office/drawing/2014/main" id="{00000003-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3-0005-4000-8000-000000000000}"/>
              </a:ext>
            </a:extLst>
          </p:cNvPr>
          <p:cNvSpPr>
            <a:spLocks noGrp="1"/>
          </p:cNvSpPr>
          <p:nvPr/>
        </p:nvSpPr>
        <p:spPr>
          <a:xfrm>
            <a:off x="685800" y="1809750"/>
            <a:ext cx="4476750" cy="304800"/>
          </a:xfrm>
          <a:prstGeom prst="rect">
            <a:avLst/>
          </a:prstGeom>
          <a:noFill/>
          <a:ln w="0">
            <a:noFill/>
            <a:prstDash val="solid"/>
          </a:ln>
        </p:spPr>
        <p:txBody>
          <a:bodyPr wrap="square" lIns="0" tIns="0" rIns="0" bIns="0" anchor="t">
            <a:normAutofit/>
          </a:bodyPr>
          <a:lstStyle/>
          <a:p>
            <a:pPr algn="l">
              <a:defRPr sz="1650" b="1" i="0">
                <a:solidFill>
                  <a:srgbClr val="007C83"/>
                </a:solidFill>
                <a:latin typeface="Arial"/>
                <a:ea typeface="Arial"/>
                <a:cs typeface="Arial"/>
              </a:defRPr>
            </a:pPr>
            <a:r>
              <a:rPr sz="1650" b="1" i="0">
                <a:solidFill>
                  <a:srgbClr val="007C83"/>
                </a:solidFill>
                <a:latin typeface="Arial"/>
                <a:ea typeface="Arial"/>
                <a:cs typeface="Arial"/>
              </a:rPr>
              <a:t>OBSERVED</a:t>
            </a:r>
          </a:p>
        </p:txBody>
      </p:sp>
      <p:sp>
        <p:nvSpPr>
          <p:cNvPr id="6" name="Rectangle 5">
            <a:extLst>
              <a:ext uri="{FF2B5EF4-FFF2-40B4-BE49-F238E27FC236}">
                <a16:creationId xmlns:a16="http://schemas.microsoft.com/office/drawing/2014/main" id="{00000003-0006-4000-8000-000000000000}"/>
              </a:ext>
            </a:extLst>
          </p:cNvPr>
          <p:cNvSpPr>
            <a:spLocks noGrp="1"/>
          </p:cNvSpPr>
          <p:nvPr/>
        </p:nvSpPr>
        <p:spPr>
          <a:xfrm>
            <a:off x="685800" y="2209800"/>
            <a:ext cx="4476750" cy="723900"/>
          </a:xfrm>
          <a:prstGeom prst="rect">
            <a:avLst/>
          </a:prstGeom>
          <a:noFill/>
          <a:ln w="0">
            <a:noFill/>
            <a:prstDash val="solid"/>
          </a:ln>
        </p:spPr>
        <p:txBody>
          <a:bodyPr wrap="square" lIns="0" tIns="0" rIns="0" bIns="0" anchor="t">
            <a:normAutofit/>
          </a:bodyPr>
          <a:lstStyle/>
          <a:p>
            <a:pPr algn="l">
              <a:defRPr sz="4050" b="1" i="0">
                <a:solidFill>
                  <a:srgbClr val="102A43"/>
                </a:solidFill>
                <a:latin typeface="Arial"/>
                <a:ea typeface="Arial"/>
                <a:cs typeface="Arial"/>
              </a:defRPr>
            </a:pPr>
            <a:r>
              <a:rPr sz="4050" b="1" i="0">
                <a:solidFill>
                  <a:srgbClr val="102A43"/>
                </a:solidFill>
                <a:latin typeface="Arial"/>
                <a:ea typeface="Arial"/>
                <a:cs typeface="Arial"/>
              </a:rPr>
              <a:t>(xᵢ, yᵢ)</a:t>
            </a:r>
          </a:p>
        </p:txBody>
      </p:sp>
      <p:sp>
        <p:nvSpPr>
          <p:cNvPr id="7" name="Rectangle 6">
            <a:extLst>
              <a:ext uri="{FF2B5EF4-FFF2-40B4-BE49-F238E27FC236}">
                <a16:creationId xmlns:a16="http://schemas.microsoft.com/office/drawing/2014/main" id="{00000003-0007-4000-8000-000000000000}"/>
              </a:ext>
            </a:extLst>
          </p:cNvPr>
          <p:cNvSpPr>
            <a:spLocks noGrp="1"/>
          </p:cNvSpPr>
          <p:nvPr/>
        </p:nvSpPr>
        <p:spPr>
          <a:xfrm>
            <a:off x="685800" y="3048000"/>
            <a:ext cx="4476750" cy="361950"/>
          </a:xfrm>
          <a:prstGeom prst="rect">
            <a:avLst/>
          </a:prstGeom>
          <a:noFill/>
          <a:ln w="0">
            <a:noFill/>
            <a:prstDash val="solid"/>
          </a:ln>
        </p:spPr>
        <p:txBody>
          <a:bodyPr wrap="square" lIns="0" tIns="0" rIns="0" bIns="0" anchor="t">
            <a:normAutofit/>
          </a:bodyPr>
          <a:lstStyle/>
          <a:p>
            <a:pPr algn="l">
              <a:defRPr sz="2100" b="0" i="0">
                <a:solidFill>
                  <a:srgbClr val="52606D"/>
                </a:solidFill>
                <a:latin typeface="Arial"/>
                <a:ea typeface="Arial"/>
                <a:cs typeface="Arial"/>
              </a:defRPr>
            </a:pPr>
            <a:r>
              <a:rPr sz="2100" b="0" i="0">
                <a:solidFill>
                  <a:srgbClr val="52606D"/>
                </a:solidFill>
                <a:latin typeface="Arial"/>
                <a:ea typeface="Arial"/>
                <a:cs typeface="Arial"/>
              </a:rPr>
              <a:t>n rows · p features</a:t>
            </a:r>
          </a:p>
        </p:txBody>
      </p:sp>
      <p:sp>
        <p:nvSpPr>
          <p:cNvPr id="8" name="Rectangle 7">
            <a:extLst>
              <a:ext uri="{FF2B5EF4-FFF2-40B4-BE49-F238E27FC236}">
                <a16:creationId xmlns:a16="http://schemas.microsoft.com/office/drawing/2014/main" id="{00000003-0008-4000-8000-000000000000}"/>
              </a:ext>
            </a:extLst>
          </p:cNvPr>
          <p:cNvSpPr>
            <a:spLocks noGrp="1"/>
          </p:cNvSpPr>
          <p:nvPr/>
        </p:nvSpPr>
        <p:spPr>
          <a:xfrm>
            <a:off x="685800" y="3524250"/>
            <a:ext cx="4476750" cy="400050"/>
          </a:xfrm>
          <a:prstGeom prst="rect">
            <a:avLst/>
          </a:prstGeom>
          <a:noFill/>
          <a:ln w="0">
            <a:noFill/>
            <a:prstDash val="solid"/>
          </a:ln>
        </p:spPr>
        <p:txBody>
          <a:bodyPr wrap="square" lIns="0" tIns="0" rIns="0" bIns="0" anchor="t">
            <a:normAutofit/>
          </a:bodyPr>
          <a:lstStyle/>
          <a:p>
            <a:pPr algn="l">
              <a:defRPr sz="2400" b="1" i="0">
                <a:solidFill>
                  <a:srgbClr val="005B61"/>
                </a:solidFill>
                <a:latin typeface="Arial"/>
                <a:ea typeface="Arial"/>
                <a:cs typeface="Arial"/>
              </a:defRPr>
            </a:pPr>
            <a:r>
              <a:rPr sz="2400" b="1" i="0">
                <a:solidFill>
                  <a:srgbClr val="005B61"/>
                </a:solidFill>
                <a:latin typeface="Arial"/>
                <a:ea typeface="Arial"/>
                <a:cs typeface="Arial"/>
              </a:rPr>
              <a:t>X shape: n × p</a:t>
            </a:r>
          </a:p>
        </p:txBody>
      </p:sp>
      <p:sp>
        <p:nvSpPr>
          <p:cNvPr id="9" name="Rectangle 8">
            <a:extLst>
              <a:ext uri="{FF2B5EF4-FFF2-40B4-BE49-F238E27FC236}">
                <a16:creationId xmlns:a16="http://schemas.microsoft.com/office/drawing/2014/main" id="{00000003-0009-4000-8000-000000000000}"/>
              </a:ext>
            </a:extLst>
          </p:cNvPr>
          <p:cNvSpPr>
            <a:spLocks noGrp="1"/>
          </p:cNvSpPr>
          <p:nvPr/>
        </p:nvSpPr>
        <p:spPr>
          <a:xfrm>
            <a:off x="5905500" y="1809750"/>
            <a:ext cx="28575" cy="3143250"/>
          </a:xfrm>
          <a:prstGeom prst="rect">
            <a:avLst/>
          </a:prstGeom>
          <a:solidFill>
            <a:srgbClr val="BCCCD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0000003-000A-4000-8000-000000000000}"/>
              </a:ext>
            </a:extLst>
          </p:cNvPr>
          <p:cNvSpPr>
            <a:spLocks noGrp="1"/>
          </p:cNvSpPr>
          <p:nvPr/>
        </p:nvSpPr>
        <p:spPr>
          <a:xfrm>
            <a:off x="6705600" y="1809750"/>
            <a:ext cx="4476750" cy="304800"/>
          </a:xfrm>
          <a:prstGeom prst="rect">
            <a:avLst/>
          </a:prstGeom>
          <a:noFill/>
          <a:ln w="0">
            <a:noFill/>
            <a:prstDash val="solid"/>
          </a:ln>
        </p:spPr>
        <p:txBody>
          <a:bodyPr wrap="square" lIns="0" tIns="0" rIns="0" bIns="0" anchor="t">
            <a:normAutofit/>
          </a:bodyPr>
          <a:lstStyle/>
          <a:p>
            <a:pPr algn="l">
              <a:defRPr sz="1650" b="1" i="0">
                <a:solidFill>
                  <a:srgbClr val="C64B2D"/>
                </a:solidFill>
                <a:latin typeface="Arial"/>
                <a:ea typeface="Arial"/>
                <a:cs typeface="Arial"/>
              </a:defRPr>
            </a:pPr>
            <a:r>
              <a:rPr sz="1650" b="1" i="0">
                <a:solidFill>
                  <a:srgbClr val="C64B2D"/>
                </a:solidFill>
                <a:latin typeface="Arial"/>
                <a:ea typeface="Arial"/>
                <a:cs typeface="Arial"/>
              </a:rPr>
              <a:t>FUTURE</a:t>
            </a:r>
          </a:p>
        </p:txBody>
      </p:sp>
      <p:sp>
        <p:nvSpPr>
          <p:cNvPr id="11" name="Rectangle 10">
            <a:extLst>
              <a:ext uri="{FF2B5EF4-FFF2-40B4-BE49-F238E27FC236}">
                <a16:creationId xmlns:a16="http://schemas.microsoft.com/office/drawing/2014/main" id="{00000003-000B-4000-8000-000000000000}"/>
              </a:ext>
            </a:extLst>
          </p:cNvPr>
          <p:cNvSpPr>
            <a:spLocks noGrp="1"/>
          </p:cNvSpPr>
          <p:nvPr/>
        </p:nvSpPr>
        <p:spPr>
          <a:xfrm>
            <a:off x="6705600" y="2209800"/>
            <a:ext cx="4476750" cy="723900"/>
          </a:xfrm>
          <a:prstGeom prst="rect">
            <a:avLst/>
          </a:prstGeom>
          <a:noFill/>
          <a:ln w="0">
            <a:noFill/>
            <a:prstDash val="solid"/>
          </a:ln>
        </p:spPr>
        <p:txBody>
          <a:bodyPr wrap="square" lIns="0" tIns="0" rIns="0" bIns="0" anchor="t">
            <a:normAutofit/>
          </a:bodyPr>
          <a:lstStyle/>
          <a:p>
            <a:pPr algn="l">
              <a:defRPr sz="4050" b="1" i="0">
                <a:solidFill>
                  <a:srgbClr val="102A43"/>
                </a:solidFill>
                <a:latin typeface="Arial"/>
                <a:ea typeface="Arial"/>
                <a:cs typeface="Arial"/>
              </a:defRPr>
            </a:pPr>
            <a:r>
              <a:rPr sz="4050" b="1" i="0">
                <a:solidFill>
                  <a:srgbClr val="102A43"/>
                </a:solidFill>
                <a:latin typeface="Arial"/>
                <a:ea typeface="Arial"/>
                <a:cs typeface="Arial"/>
              </a:rPr>
              <a:t>(X, Y)</a:t>
            </a:r>
          </a:p>
        </p:txBody>
      </p:sp>
      <p:sp>
        <p:nvSpPr>
          <p:cNvPr id="12" name="Rectangle 11">
            <a:extLst>
              <a:ext uri="{FF2B5EF4-FFF2-40B4-BE49-F238E27FC236}">
                <a16:creationId xmlns:a16="http://schemas.microsoft.com/office/drawing/2014/main" id="{00000003-000C-4000-8000-000000000000}"/>
              </a:ext>
            </a:extLst>
          </p:cNvPr>
          <p:cNvSpPr>
            <a:spLocks noGrp="1"/>
          </p:cNvSpPr>
          <p:nvPr/>
        </p:nvSpPr>
        <p:spPr>
          <a:xfrm>
            <a:off x="6705600" y="3048000"/>
            <a:ext cx="4476750" cy="704850"/>
          </a:xfrm>
          <a:prstGeom prst="rect">
            <a:avLst/>
          </a:prstGeom>
          <a:noFill/>
          <a:ln w="0">
            <a:noFill/>
            <a:prstDash val="solid"/>
          </a:ln>
        </p:spPr>
        <p:txBody>
          <a:bodyPr wrap="square" lIns="0" tIns="0" rIns="0" bIns="0" anchor="t">
            <a:normAutofit/>
          </a:bodyPr>
          <a:lstStyle/>
          <a:p>
            <a:pPr algn="l">
              <a:defRPr sz="2100" b="0" i="0">
                <a:solidFill>
                  <a:srgbClr val="52606D"/>
                </a:solidFill>
                <a:latin typeface="Arial"/>
                <a:ea typeface="Arial"/>
                <a:cs typeface="Arial"/>
              </a:defRPr>
            </a:pPr>
            <a:r>
              <a:rPr sz="2100" b="0" i="0">
                <a:solidFill>
                  <a:srgbClr val="52606D"/>
                </a:solidFill>
                <a:latin typeface="Arial"/>
                <a:ea typeface="Arial"/>
                <a:cs typeface="Arial"/>
              </a:rPr>
              <a:t>The intended population and use context</a:t>
            </a:r>
          </a:p>
        </p:txBody>
      </p:sp>
      <p:sp>
        <p:nvSpPr>
          <p:cNvPr id="13" name="Rectangle 12">
            <a:extLst>
              <a:ext uri="{FF2B5EF4-FFF2-40B4-BE49-F238E27FC236}">
                <a16:creationId xmlns:a16="http://schemas.microsoft.com/office/drawing/2014/main" id="{00000003-000D-4000-8000-000000000000}"/>
              </a:ext>
            </a:extLst>
          </p:cNvPr>
          <p:cNvSpPr>
            <a:spLocks noGrp="1"/>
          </p:cNvSpPr>
          <p:nvPr/>
        </p:nvSpPr>
        <p:spPr>
          <a:xfrm>
            <a:off x="6705600" y="3905250"/>
            <a:ext cx="4476750" cy="400050"/>
          </a:xfrm>
          <a:prstGeom prst="rect">
            <a:avLst/>
          </a:prstGeom>
          <a:noFill/>
          <a:ln w="0">
            <a:noFill/>
            <a:prstDash val="solid"/>
          </a:ln>
        </p:spPr>
        <p:txBody>
          <a:bodyPr wrap="square" lIns="0" tIns="0" rIns="0" bIns="0" anchor="t">
            <a:normAutofit/>
          </a:bodyPr>
          <a:lstStyle/>
          <a:p>
            <a:pPr algn="l">
              <a:defRPr sz="2400" b="1" i="0">
                <a:solidFill>
                  <a:srgbClr val="C64B2D"/>
                </a:solidFill>
                <a:latin typeface="Arial"/>
                <a:ea typeface="Arial"/>
                <a:cs typeface="Arial"/>
              </a:defRPr>
            </a:pPr>
            <a:r>
              <a:rPr sz="2400" b="1" i="0">
                <a:solidFill>
                  <a:srgbClr val="C64B2D"/>
                </a:solidFill>
                <a:latin typeface="Arial"/>
                <a:ea typeface="Arial"/>
                <a:cs typeface="Arial"/>
              </a:rPr>
              <a:t>What must transfer?</a:t>
            </a:r>
          </a:p>
        </p:txBody>
      </p:sp>
      <p:sp>
        <p:nvSpPr>
          <p:cNvPr id="14" name="Rectangle 13">
            <a:extLst>
              <a:ext uri="{FF2B5EF4-FFF2-40B4-BE49-F238E27FC236}">
                <a16:creationId xmlns:a16="http://schemas.microsoft.com/office/drawing/2014/main" id="{00000003-000E-4000-8000-000000000000}"/>
              </a:ext>
            </a:extLst>
          </p:cNvPr>
          <p:cNvSpPr>
            <a:spLocks noGrp="1"/>
          </p:cNvSpPr>
          <p:nvPr/>
        </p:nvSpPr>
        <p:spPr>
          <a:xfrm>
            <a:off x="685800" y="5219700"/>
            <a:ext cx="10496550" cy="552450"/>
          </a:xfrm>
          <a:prstGeom prst="rect">
            <a:avLst/>
          </a:prstGeom>
          <a:solidFill>
            <a:srgbClr val="D9F0EF"/>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00000003-000F-4000-8000-000000000000}"/>
              </a:ext>
            </a:extLst>
          </p:cNvPr>
          <p:cNvSpPr>
            <a:spLocks noGrp="1"/>
          </p:cNvSpPr>
          <p:nvPr/>
        </p:nvSpPr>
        <p:spPr>
          <a:xfrm>
            <a:off x="876300" y="5324475"/>
            <a:ext cx="10115550" cy="361950"/>
          </a:xfrm>
          <a:prstGeom prst="rect">
            <a:avLst/>
          </a:prstGeom>
          <a:noFill/>
          <a:ln w="0">
            <a:noFill/>
            <a:prstDash val="solid"/>
          </a:ln>
        </p:spPr>
        <p:txBody>
          <a:bodyPr wrap="square" lIns="0" tIns="0" rIns="0" bIns="0" anchor="ctr">
            <a:normAutofit/>
          </a:bodyPr>
          <a:lstStyle/>
          <a:p>
            <a:pPr algn="ctr">
              <a:defRPr sz="2100" b="1" i="0">
                <a:solidFill>
                  <a:srgbClr val="102A43"/>
                </a:solidFill>
                <a:latin typeface="Arial"/>
                <a:ea typeface="Arial"/>
                <a:cs typeface="Arial"/>
              </a:defRPr>
            </a:pPr>
            <a:r>
              <a:rPr sz="2100" b="1" i="0">
                <a:solidFill>
                  <a:srgbClr val="102A43"/>
                </a:solidFill>
                <a:latin typeface="Arial"/>
                <a:ea typeface="Arial"/>
                <a:cs typeface="Arial"/>
              </a:rPr>
              <a:t>Units, time and provenance determine what a row means.</a:t>
            </a:r>
          </a:p>
        </p:txBody>
      </p:sp>
      <p:sp>
        <p:nvSpPr>
          <p:cNvPr id="16" name="Rectangle 15">
            <a:extLst>
              <a:ext uri="{FF2B5EF4-FFF2-40B4-BE49-F238E27FC236}">
                <a16:creationId xmlns:a16="http://schemas.microsoft.com/office/drawing/2014/main" id="{00000003-0010-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0000003-0012-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SL03</a:t>
            </a:r>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0000004-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SUPERVISED LEARNING</a:t>
            </a:r>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04</a:t>
            </a:r>
          </a:p>
        </p:txBody>
      </p:sp>
      <p:sp>
        <p:nvSpPr>
          <p:cNvPr id="3" name="Rectangle 2">
            <a:extLst>
              <a:ext uri="{FF2B5EF4-FFF2-40B4-BE49-F238E27FC236}">
                <a16:creationId xmlns:a16="http://schemas.microsoft.com/office/drawing/2014/main" id="{00000004-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fontScale="98568"/>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Supervised learning needs a defined target</a:t>
            </a: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685800" y="2266950"/>
            <a:ext cx="2000250" cy="1009650"/>
          </a:xfrm>
          <a:prstGeom prst="rect">
            <a:avLst/>
          </a:prstGeom>
          <a:solidFill>
            <a:srgbClr val="EAF2F8"/>
          </a:solidFill>
          <a:ln w="19050">
            <a:solidFill>
              <a:srgbClr val="BCCCDC"/>
            </a:solidFill>
            <a:prstDash val="solid"/>
          </a:ln>
        </p:spPr>
        <p:txBody>
          <a:bodyPr/>
          <a:lstStyle/>
          <a:p>
            <a:endParaRPr lang="en-US"/>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819150" y="2362200"/>
            <a:ext cx="1733550" cy="8191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Paired</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X, y</a:t>
            </a:r>
          </a:p>
        </p:txBody>
      </p:sp>
      <p:sp>
        <p:nvSpPr>
          <p:cNvPr id="7" name="Rectangle 6">
            <a:extLst>
              <a:ext uri="{FF2B5EF4-FFF2-40B4-BE49-F238E27FC236}">
                <a16:creationId xmlns:a16="http://schemas.microsoft.com/office/drawing/2014/main" id="{00000004-0007-4000-8000-000000000000}"/>
              </a:ext>
            </a:extLst>
          </p:cNvPr>
          <p:cNvSpPr>
            <a:spLocks noGrp="1"/>
          </p:cNvSpPr>
          <p:nvPr/>
        </p:nvSpPr>
        <p:spPr>
          <a:xfrm>
            <a:off x="3390900" y="2266950"/>
            <a:ext cx="2000250" cy="1009650"/>
          </a:xfrm>
          <a:prstGeom prst="rect">
            <a:avLst/>
          </a:prstGeom>
          <a:solidFill>
            <a:srgbClr val="D9F0EF"/>
          </a:solidFill>
          <a:ln w="19050">
            <a:solidFill>
              <a:srgbClr val="BCCCDC"/>
            </a:solidFill>
            <a:prstDash val="solid"/>
          </a:ln>
        </p:spPr>
        <p:txBody>
          <a:bodyPr/>
          <a:lstStyle/>
          <a:p>
            <a:endParaRPr lang="en-US"/>
          </a:p>
        </p:txBody>
      </p:sp>
      <p:sp>
        <p:nvSpPr>
          <p:cNvPr id="8" name="Rectangle 7">
            <a:extLst>
              <a:ext uri="{FF2B5EF4-FFF2-40B4-BE49-F238E27FC236}">
                <a16:creationId xmlns:a16="http://schemas.microsoft.com/office/drawing/2014/main" id="{00000004-0008-4000-8000-000000000000}"/>
              </a:ext>
            </a:extLst>
          </p:cNvPr>
          <p:cNvSpPr>
            <a:spLocks noGrp="1"/>
          </p:cNvSpPr>
          <p:nvPr/>
        </p:nvSpPr>
        <p:spPr>
          <a:xfrm>
            <a:off x="3524250" y="2362200"/>
            <a:ext cx="1733550" cy="8191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Fit</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fθ</a:t>
            </a:r>
          </a:p>
        </p:txBody>
      </p:sp>
      <p:sp>
        <p:nvSpPr>
          <p:cNvPr id="9" name="Rectangle 8">
            <a:extLst>
              <a:ext uri="{FF2B5EF4-FFF2-40B4-BE49-F238E27FC236}">
                <a16:creationId xmlns:a16="http://schemas.microsoft.com/office/drawing/2014/main" id="{00000004-0009-4000-8000-000000000000}"/>
              </a:ext>
            </a:extLst>
          </p:cNvPr>
          <p:cNvSpPr>
            <a:spLocks noGrp="1"/>
          </p:cNvSpPr>
          <p:nvPr/>
        </p:nvSpPr>
        <p:spPr>
          <a:xfrm>
            <a:off x="6096000" y="2266950"/>
            <a:ext cx="2286000" cy="1009650"/>
          </a:xfrm>
          <a:prstGeom prst="rect">
            <a:avLst/>
          </a:prstGeom>
          <a:solidFill>
            <a:srgbClr val="E9F6F3"/>
          </a:solidFill>
          <a:ln w="19050">
            <a:solidFill>
              <a:srgbClr val="BCCCDC"/>
            </a:solidFill>
            <a:prstDash val="solid"/>
          </a:ln>
        </p:spPr>
        <p:txBody>
          <a:bodyPr/>
          <a:lstStyle/>
          <a:p>
            <a:endParaRPr lang="en-US"/>
          </a:p>
        </p:txBody>
      </p:sp>
      <p:sp>
        <p:nvSpPr>
          <p:cNvPr id="10" name="Rectangle 9">
            <a:extLst>
              <a:ext uri="{FF2B5EF4-FFF2-40B4-BE49-F238E27FC236}">
                <a16:creationId xmlns:a16="http://schemas.microsoft.com/office/drawing/2014/main" id="{00000004-000A-4000-8000-000000000000}"/>
              </a:ext>
            </a:extLst>
          </p:cNvPr>
          <p:cNvSpPr>
            <a:spLocks noGrp="1"/>
          </p:cNvSpPr>
          <p:nvPr/>
        </p:nvSpPr>
        <p:spPr>
          <a:xfrm>
            <a:off x="6229350" y="2362200"/>
            <a:ext cx="2019300" cy="819150"/>
          </a:xfrm>
          <a:prstGeom prst="rect">
            <a:avLst/>
          </a:prstGeom>
          <a:noFill/>
          <a:ln w="0">
            <a:noFill/>
            <a:prstDash val="solid"/>
          </a:ln>
        </p:spPr>
        <p:txBody>
          <a:bodyPr wrap="square" lIns="0" tIns="0" rIns="0" bIns="0" anchor="ctr">
            <a:normAutofit fontScale="96275"/>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Predict unseen</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y</a:t>
            </a:r>
          </a:p>
        </p:txBody>
      </p:sp>
      <p:sp>
        <p:nvSpPr>
          <p:cNvPr id="11" name="Rectangle 10">
            <a:extLst>
              <a:ext uri="{FF2B5EF4-FFF2-40B4-BE49-F238E27FC236}">
                <a16:creationId xmlns:a16="http://schemas.microsoft.com/office/drawing/2014/main" id="{00000004-000B-4000-8000-000000000000}"/>
              </a:ext>
            </a:extLst>
          </p:cNvPr>
          <p:cNvSpPr>
            <a:spLocks noGrp="1"/>
          </p:cNvSpPr>
          <p:nvPr/>
        </p:nvSpPr>
        <p:spPr>
          <a:xfrm>
            <a:off x="9086850" y="2266950"/>
            <a:ext cx="2419350" cy="1009650"/>
          </a:xfrm>
          <a:prstGeom prst="rect">
            <a:avLst/>
          </a:prstGeom>
          <a:solidFill>
            <a:srgbClr val="FFF3E8"/>
          </a:solidFill>
          <a:ln w="19050">
            <a:solidFill>
              <a:srgbClr val="BCCCDC"/>
            </a:solidFill>
            <a:prstDash val="solid"/>
          </a:ln>
        </p:spPr>
        <p:txBody>
          <a:bodyPr/>
          <a:lstStyle/>
          <a:p>
            <a:endParaRPr lang="en-US"/>
          </a:p>
        </p:txBody>
      </p:sp>
      <p:sp>
        <p:nvSpPr>
          <p:cNvPr id="12" name="Rectangle 11">
            <a:extLst>
              <a:ext uri="{FF2B5EF4-FFF2-40B4-BE49-F238E27FC236}">
                <a16:creationId xmlns:a16="http://schemas.microsoft.com/office/drawing/2014/main" id="{00000004-000C-4000-8000-000000000000}"/>
              </a:ext>
            </a:extLst>
          </p:cNvPr>
          <p:cNvSpPr>
            <a:spLocks noGrp="1"/>
          </p:cNvSpPr>
          <p:nvPr/>
        </p:nvSpPr>
        <p:spPr>
          <a:xfrm>
            <a:off x="9220200" y="2362200"/>
            <a:ext cx="2152650" cy="8191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Evaluate for</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intended use</a:t>
            </a:r>
          </a:p>
        </p:txBody>
      </p:sp>
      <p:cxnSp>
        <p:nvCxnSpPr>
          <p:cNvPr id="37" name="Straight Arrow Connector 36"/>
          <p:cNvCxnSpPr>
            <a:stCxn id="5" idx="3"/>
            <a:endCxn id="7" idx="1"/>
          </p:cNvCxnSpPr>
          <p:nvPr/>
        </p:nvCxnSpPr>
        <p:spPr>
          <a:xfrm>
            <a:off x="2686050" y="2771775"/>
            <a:ext cx="704850" cy="0"/>
          </a:xfrm>
          <a:prstGeom prst="straightConnector1">
            <a:avLst/>
          </a:prstGeom>
          <a:ln w="38100">
            <a:solidFill>
              <a:srgbClr val="007C83"/>
            </a:solidFill>
            <a:prstDash val="solid"/>
            <a:tailEnd type="arrow" w="med" len="med"/>
          </a:ln>
        </p:spPr>
      </p:cxnSp>
      <p:cxnSp>
        <p:nvCxnSpPr>
          <p:cNvPr id="38" name="Straight Arrow Connector 37"/>
          <p:cNvCxnSpPr>
            <a:stCxn id="7" idx="3"/>
            <a:endCxn id="9" idx="1"/>
          </p:cNvCxnSpPr>
          <p:nvPr/>
        </p:nvCxnSpPr>
        <p:spPr>
          <a:xfrm>
            <a:off x="5391150" y="2771775"/>
            <a:ext cx="704850" cy="0"/>
          </a:xfrm>
          <a:prstGeom prst="straightConnector1">
            <a:avLst/>
          </a:prstGeom>
          <a:ln w="38100">
            <a:solidFill>
              <a:srgbClr val="007C83"/>
            </a:solidFill>
            <a:prstDash val="solid"/>
            <a:tailEnd type="arrow" w="med" len="med"/>
          </a:ln>
        </p:spPr>
      </p:cxnSp>
      <p:cxnSp>
        <p:nvCxnSpPr>
          <p:cNvPr id="39" name="Straight Arrow Connector 38"/>
          <p:cNvCxnSpPr>
            <a:stCxn id="9" idx="3"/>
            <a:endCxn id="11" idx="1"/>
          </p:cNvCxnSpPr>
          <p:nvPr/>
        </p:nvCxnSpPr>
        <p:spPr>
          <a:xfrm>
            <a:off x="8382000" y="2771775"/>
            <a:ext cx="704850" cy="0"/>
          </a:xfrm>
          <a:prstGeom prst="straightConnector1">
            <a:avLst/>
          </a:prstGeom>
          <a:ln w="38100">
            <a:solidFill>
              <a:srgbClr val="007C83"/>
            </a:solidFill>
            <a:prstDash val="solid"/>
            <a:tailEnd type="arrow" w="med" len="med"/>
          </a:ln>
        </p:spPr>
      </p:cxnSp>
      <p:sp>
        <p:nvSpPr>
          <p:cNvPr id="16" name="Rectangle 15">
            <a:extLst>
              <a:ext uri="{FF2B5EF4-FFF2-40B4-BE49-F238E27FC236}">
                <a16:creationId xmlns:a16="http://schemas.microsoft.com/office/drawing/2014/main" id="{00000004-000D-4000-8000-000000000000}"/>
              </a:ext>
            </a:extLst>
          </p:cNvPr>
          <p:cNvSpPr>
            <a:spLocks noGrp="1"/>
          </p:cNvSpPr>
          <p:nvPr/>
        </p:nvSpPr>
        <p:spPr>
          <a:xfrm>
            <a:off x="685800" y="3857625"/>
            <a:ext cx="10820400" cy="438150"/>
          </a:xfrm>
          <a:prstGeom prst="rect">
            <a:avLst/>
          </a:prstGeom>
          <a:noFill/>
          <a:ln w="0">
            <a:noFill/>
            <a:prstDash val="solid"/>
          </a:ln>
        </p:spPr>
        <p:txBody>
          <a:bodyPr wrap="square" lIns="0" tIns="0" rIns="0" bIns="0" anchor="t">
            <a:normAutofit/>
          </a:bodyPr>
          <a:lstStyle/>
          <a:p>
            <a:pPr algn="ctr">
              <a:defRPr sz="2325" b="1" i="0">
                <a:solidFill>
                  <a:srgbClr val="102A43"/>
                </a:solidFill>
                <a:latin typeface="Arial"/>
                <a:ea typeface="Arial"/>
                <a:cs typeface="Arial"/>
              </a:defRPr>
            </a:pPr>
            <a:r>
              <a:rPr sz="2325" b="1" i="0">
                <a:solidFill>
                  <a:srgbClr val="102A43"/>
                </a:solidFill>
                <a:latin typeface="Arial"/>
                <a:ea typeface="Arial"/>
                <a:cs typeface="Arial"/>
              </a:rPr>
              <a:t>A target is an operational definition—not necessarily truth.</a:t>
            </a:r>
          </a:p>
        </p:txBody>
      </p:sp>
      <p:sp>
        <p:nvSpPr>
          <p:cNvPr id="17" name="Rectangle 16">
            <a:extLst>
              <a:ext uri="{FF2B5EF4-FFF2-40B4-BE49-F238E27FC236}">
                <a16:creationId xmlns:a16="http://schemas.microsoft.com/office/drawing/2014/main" id="{00000004-000E-4000-8000-000000000000}"/>
              </a:ext>
            </a:extLst>
          </p:cNvPr>
          <p:cNvSpPr>
            <a:spLocks noGrp="1"/>
          </p:cNvSpPr>
          <p:nvPr/>
        </p:nvSpPr>
        <p:spPr>
          <a:xfrm>
            <a:off x="685800" y="4810125"/>
            <a:ext cx="1524000" cy="304800"/>
          </a:xfrm>
          <a:prstGeom prst="rect">
            <a:avLst/>
          </a:prstGeom>
          <a:noFill/>
          <a:ln w="0">
            <a:noFill/>
            <a:prstDash val="solid"/>
          </a:ln>
        </p:spPr>
        <p:txBody>
          <a:bodyPr wrap="square" lIns="0" tIns="0" rIns="0" bIns="0" anchor="t">
            <a:normAutofit/>
          </a:bodyPr>
          <a:lstStyle/>
          <a:p>
            <a:pPr algn="l">
              <a:defRPr sz="1650" b="1" i="0">
                <a:solidFill>
                  <a:srgbClr val="007C83"/>
                </a:solidFill>
                <a:latin typeface="Arial"/>
                <a:ea typeface="Arial"/>
                <a:cs typeface="Arial"/>
              </a:defRPr>
            </a:pPr>
            <a:r>
              <a:rPr sz="1650" b="1" i="0">
                <a:solidFill>
                  <a:srgbClr val="007C83"/>
                </a:solidFill>
                <a:latin typeface="Arial"/>
                <a:ea typeface="Arial"/>
                <a:cs typeface="Arial"/>
              </a:rPr>
              <a:t>Examples</a:t>
            </a:r>
          </a:p>
        </p:txBody>
      </p:sp>
      <p:sp>
        <p:nvSpPr>
          <p:cNvPr id="18" name="Rectangle 17">
            <a:extLst>
              <a:ext uri="{FF2B5EF4-FFF2-40B4-BE49-F238E27FC236}">
                <a16:creationId xmlns:a16="http://schemas.microsoft.com/office/drawing/2014/main" id="{00000004-000F-4000-8000-000000000000}"/>
              </a:ext>
            </a:extLst>
          </p:cNvPr>
          <p:cNvSpPr>
            <a:spLocks noGrp="1"/>
          </p:cNvSpPr>
          <p:nvPr/>
        </p:nvSpPr>
        <p:spPr>
          <a:xfrm>
            <a:off x="2381250" y="4762500"/>
            <a:ext cx="2381250" cy="400050"/>
          </a:xfrm>
          <a:prstGeom prst="rect">
            <a:avLst/>
          </a:prstGeom>
          <a:noFill/>
          <a:ln w="0">
            <a:noFill/>
            <a:prstDash val="solid"/>
          </a:ln>
        </p:spPr>
        <p:txBody>
          <a:bodyPr wrap="square" lIns="0" tIns="0" rIns="0" bIns="0" anchor="t">
            <a:normAutofit/>
          </a:bodyPr>
          <a:lstStyle/>
          <a:p>
            <a:pPr algn="l">
              <a:defRPr sz="2100" b="0" i="0">
                <a:solidFill>
                  <a:srgbClr val="52606D"/>
                </a:solidFill>
                <a:latin typeface="Arial"/>
                <a:ea typeface="Arial"/>
                <a:cs typeface="Arial"/>
              </a:defRPr>
            </a:pPr>
            <a:r>
              <a:rPr sz="2100" b="0" i="0">
                <a:solidFill>
                  <a:srgbClr val="52606D"/>
                </a:solidFill>
                <a:latin typeface="Arial"/>
                <a:ea typeface="Arial"/>
                <a:cs typeface="Arial"/>
              </a:rPr>
              <a:t>Numeric demand</a:t>
            </a:r>
          </a:p>
        </p:txBody>
      </p:sp>
      <p:sp>
        <p:nvSpPr>
          <p:cNvPr id="19" name="Rectangle 18">
            <a:extLst>
              <a:ext uri="{FF2B5EF4-FFF2-40B4-BE49-F238E27FC236}">
                <a16:creationId xmlns:a16="http://schemas.microsoft.com/office/drawing/2014/main" id="{00000004-0010-4000-8000-000000000000}"/>
              </a:ext>
            </a:extLst>
          </p:cNvPr>
          <p:cNvSpPr>
            <a:spLocks noGrp="1"/>
          </p:cNvSpPr>
          <p:nvPr/>
        </p:nvSpPr>
        <p:spPr>
          <a:xfrm>
            <a:off x="5000625" y="4762500"/>
            <a:ext cx="1714500" cy="400050"/>
          </a:xfrm>
          <a:prstGeom prst="rect">
            <a:avLst/>
          </a:prstGeom>
          <a:noFill/>
          <a:ln w="0">
            <a:noFill/>
            <a:prstDash val="solid"/>
          </a:ln>
        </p:spPr>
        <p:txBody>
          <a:bodyPr wrap="square" lIns="0" tIns="0" rIns="0" bIns="0" anchor="t">
            <a:normAutofit/>
          </a:bodyPr>
          <a:lstStyle/>
          <a:p>
            <a:pPr algn="l">
              <a:defRPr sz="2100" b="0" i="0">
                <a:solidFill>
                  <a:srgbClr val="52606D"/>
                </a:solidFill>
                <a:latin typeface="Arial"/>
                <a:ea typeface="Arial"/>
                <a:cs typeface="Arial"/>
              </a:defRPr>
            </a:pPr>
            <a:r>
              <a:rPr sz="2100" b="0" i="0">
                <a:solidFill>
                  <a:srgbClr val="52606D"/>
                </a:solidFill>
                <a:latin typeface="Arial"/>
                <a:ea typeface="Arial"/>
                <a:cs typeface="Arial"/>
              </a:rPr>
              <a:t>Category</a:t>
            </a:r>
          </a:p>
        </p:txBody>
      </p:sp>
      <p:sp>
        <p:nvSpPr>
          <p:cNvPr id="20" name="Rectangle 19">
            <a:extLst>
              <a:ext uri="{FF2B5EF4-FFF2-40B4-BE49-F238E27FC236}">
                <a16:creationId xmlns:a16="http://schemas.microsoft.com/office/drawing/2014/main" id="{00000004-0011-4000-8000-000000000000}"/>
              </a:ext>
            </a:extLst>
          </p:cNvPr>
          <p:cNvSpPr>
            <a:spLocks noGrp="1"/>
          </p:cNvSpPr>
          <p:nvPr/>
        </p:nvSpPr>
        <p:spPr>
          <a:xfrm>
            <a:off x="7143750" y="4810125"/>
            <a:ext cx="2000250" cy="304800"/>
          </a:xfrm>
          <a:prstGeom prst="rect">
            <a:avLst/>
          </a:prstGeom>
          <a:noFill/>
          <a:ln w="0">
            <a:noFill/>
            <a:prstDash val="solid"/>
          </a:ln>
        </p:spPr>
        <p:txBody>
          <a:bodyPr wrap="square" lIns="0" tIns="0" rIns="0" bIns="0" anchor="t">
            <a:normAutofit fontScale="98052"/>
          </a:bodyPr>
          <a:lstStyle/>
          <a:p>
            <a:pPr algn="l">
              <a:defRPr sz="1650" b="1" i="0">
                <a:solidFill>
                  <a:srgbClr val="007C83"/>
                </a:solidFill>
                <a:latin typeface="Arial"/>
                <a:ea typeface="Arial"/>
                <a:cs typeface="Arial"/>
              </a:defRPr>
            </a:pPr>
            <a:r>
              <a:rPr sz="1650" b="1" i="0">
                <a:solidFill>
                  <a:srgbClr val="007C83"/>
                </a:solidFill>
                <a:latin typeface="Arial"/>
                <a:ea typeface="Arial"/>
                <a:cs typeface="Arial"/>
              </a:rPr>
              <a:t>Candidate families</a:t>
            </a:r>
          </a:p>
        </p:txBody>
      </p:sp>
      <p:sp>
        <p:nvSpPr>
          <p:cNvPr id="21" name="Rectangle 20">
            <a:extLst>
              <a:ext uri="{FF2B5EF4-FFF2-40B4-BE49-F238E27FC236}">
                <a16:creationId xmlns:a16="http://schemas.microsoft.com/office/drawing/2014/main" id="{00000004-0012-4000-8000-000000000000}"/>
              </a:ext>
            </a:extLst>
          </p:cNvPr>
          <p:cNvSpPr>
            <a:spLocks noGrp="1"/>
          </p:cNvSpPr>
          <p:nvPr/>
        </p:nvSpPr>
        <p:spPr>
          <a:xfrm>
            <a:off x="7143750" y="5219700"/>
            <a:ext cx="4362450" cy="381000"/>
          </a:xfrm>
          <a:prstGeom prst="rect">
            <a:avLst/>
          </a:prstGeom>
          <a:noFill/>
          <a:ln w="0">
            <a:noFill/>
            <a:prstDash val="solid"/>
          </a:ln>
        </p:spPr>
        <p:txBody>
          <a:bodyPr wrap="square" lIns="0" tIns="0" rIns="0" bIns="0" anchor="t">
            <a:normAutofit fontScale="99329"/>
          </a:bodyPr>
          <a:lstStyle/>
          <a:p>
            <a:pPr algn="l">
              <a:defRPr sz="1950" b="0" i="0">
                <a:solidFill>
                  <a:srgbClr val="52606D"/>
                </a:solidFill>
                <a:latin typeface="Arial"/>
                <a:ea typeface="Arial"/>
                <a:cs typeface="Arial"/>
              </a:defRPr>
            </a:pPr>
            <a:r>
              <a:rPr sz="1950" b="0" i="0">
                <a:solidFill>
                  <a:srgbClr val="52606D"/>
                </a:solidFill>
                <a:latin typeface="Arial"/>
                <a:ea typeface="Arial"/>
                <a:cs typeface="Arial"/>
              </a:rPr>
              <a:t>Constant baseline · linear model · tree</a:t>
            </a:r>
          </a:p>
        </p:txBody>
      </p:sp>
      <p:sp>
        <p:nvSpPr>
          <p:cNvPr id="22" name="Rectangle 21">
            <a:extLst>
              <a:ext uri="{FF2B5EF4-FFF2-40B4-BE49-F238E27FC236}">
                <a16:creationId xmlns:a16="http://schemas.microsoft.com/office/drawing/2014/main" id="{00000004-0013-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00000004-0015-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SL04</a:t>
            </a:r>
          </a:p>
        </p:txBody>
      </p:sp>
    </p:spTree>
    <p:extLst>
      <p:ext uri="{BB962C8B-B14F-4D97-AF65-F5344CB8AC3E}">
        <p14:creationId xmlns:p14="http://schemas.microsoft.com/office/powerpoint/2010/main" val="4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0000005-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LOSS AND GENERALISATION</a:t>
            </a:r>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05</a:t>
            </a:r>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fontScale="86374"/>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Empirical risk is an average on observed training data</a:t>
            </a:r>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685800" y="1809750"/>
            <a:ext cx="4762500" cy="285750"/>
          </a:xfrm>
          <a:prstGeom prst="rect">
            <a:avLst/>
          </a:prstGeom>
          <a:noFill/>
          <a:ln w="0">
            <a:noFill/>
            <a:prstDash val="solid"/>
          </a:ln>
        </p:spPr>
        <p:txBody>
          <a:bodyPr wrap="square" lIns="0" tIns="0" rIns="0" bIns="0" anchor="t">
            <a:normAutofit/>
          </a:bodyPr>
          <a:lstStyle/>
          <a:p>
            <a:pPr algn="l">
              <a:defRPr sz="1650" b="1" i="0">
                <a:solidFill>
                  <a:srgbClr val="007C83"/>
                </a:solidFill>
                <a:latin typeface="Arial"/>
                <a:ea typeface="Arial"/>
                <a:cs typeface="Arial"/>
              </a:defRPr>
            </a:pPr>
            <a:r>
              <a:rPr sz="1650" b="1" i="0">
                <a:solidFill>
                  <a:srgbClr val="007C83"/>
                </a:solidFill>
                <a:latin typeface="Arial"/>
                <a:ea typeface="Arial"/>
                <a:cs typeface="Arial"/>
              </a:rPr>
              <a:t>TRAINING</a:t>
            </a:r>
          </a:p>
        </p:txBody>
      </p:sp>
      <p:sp>
        <p:nvSpPr>
          <p:cNvPr id="6" name="Rectangle 5">
            <a:extLst>
              <a:ext uri="{FF2B5EF4-FFF2-40B4-BE49-F238E27FC236}">
                <a16:creationId xmlns:a16="http://schemas.microsoft.com/office/drawing/2014/main" id="{00000005-0006-4000-8000-000000000000}"/>
              </a:ext>
            </a:extLst>
          </p:cNvPr>
          <p:cNvSpPr>
            <a:spLocks noGrp="1"/>
          </p:cNvSpPr>
          <p:nvPr/>
        </p:nvSpPr>
        <p:spPr>
          <a:xfrm>
            <a:off x="685800" y="2238375"/>
            <a:ext cx="4953000" cy="1028700"/>
          </a:xfrm>
          <a:prstGeom prst="rect">
            <a:avLst/>
          </a:prstGeom>
          <a:noFill/>
          <a:ln w="0">
            <a:noFill/>
            <a:prstDash val="solid"/>
          </a:ln>
        </p:spPr>
        <p:txBody>
          <a:bodyPr wrap="square" lIns="0" tIns="0" rIns="0" bIns="0" anchor="ctr">
            <a:normAutofit/>
          </a:bodyPr>
          <a:lstStyle/>
          <a:p>
            <a:pPr algn="l">
              <a:defRPr sz="2925" b="1" i="0">
                <a:solidFill>
                  <a:srgbClr val="102A43"/>
                </a:solidFill>
                <a:latin typeface="Arial"/>
                <a:ea typeface="Arial"/>
                <a:cs typeface="Arial"/>
              </a:defRPr>
            </a:pPr>
            <a:r>
              <a:rPr sz="2925" b="1" i="0">
                <a:solidFill>
                  <a:srgbClr val="102A43"/>
                </a:solidFill>
                <a:latin typeface="Arial"/>
                <a:ea typeface="Arial"/>
                <a:cs typeface="Arial"/>
              </a:rPr>
              <a:t>R̂ₜ(θ) = |T|⁻¹ Σᵢ∈T ℓ(fθ(xᵢ), yᵢ)</a:t>
            </a:r>
          </a:p>
        </p:txBody>
      </p:sp>
      <p:sp>
        <p:nvSpPr>
          <p:cNvPr id="7" name="Rectangle 6">
            <a:extLst>
              <a:ext uri="{FF2B5EF4-FFF2-40B4-BE49-F238E27FC236}">
                <a16:creationId xmlns:a16="http://schemas.microsoft.com/office/drawing/2014/main" id="{00000005-0007-4000-8000-000000000000}"/>
              </a:ext>
            </a:extLst>
          </p:cNvPr>
          <p:cNvSpPr>
            <a:spLocks noGrp="1"/>
          </p:cNvSpPr>
          <p:nvPr/>
        </p:nvSpPr>
        <p:spPr>
          <a:xfrm>
            <a:off x="685800" y="3429000"/>
            <a:ext cx="4953000" cy="685800"/>
          </a:xfrm>
          <a:prstGeom prst="rect">
            <a:avLst/>
          </a:prstGeom>
          <a:noFill/>
          <a:ln w="0">
            <a:noFill/>
            <a:prstDash val="solid"/>
          </a:ln>
        </p:spPr>
        <p:txBody>
          <a:bodyPr wrap="square" lIns="0" tIns="0" rIns="0" bIns="0" anchor="t">
            <a:normAutofit/>
          </a:bodyPr>
          <a:lstStyle/>
          <a:p>
            <a:pPr algn="l">
              <a:defRPr sz="2025" b="0" i="0">
                <a:solidFill>
                  <a:srgbClr val="52606D"/>
                </a:solidFill>
                <a:latin typeface="Arial"/>
                <a:ea typeface="Arial"/>
                <a:cs typeface="Arial"/>
              </a:defRPr>
            </a:pPr>
            <a:r>
              <a:rPr sz="2025" b="0" i="0">
                <a:solidFill>
                  <a:srgbClr val="52606D"/>
                </a:solidFill>
                <a:latin typeface="Arial"/>
                <a:ea typeface="Arial"/>
                <a:cs typeface="Arial"/>
              </a:rPr>
              <a:t>Mean loss on the observed training set</a:t>
            </a:r>
          </a:p>
        </p:txBody>
      </p:sp>
      <p:sp>
        <p:nvSpPr>
          <p:cNvPr id="8" name="Rectangle 7">
            <a:extLst>
              <a:ext uri="{FF2B5EF4-FFF2-40B4-BE49-F238E27FC236}">
                <a16:creationId xmlns:a16="http://schemas.microsoft.com/office/drawing/2014/main" id="{00000005-0008-4000-8000-000000000000}"/>
              </a:ext>
            </a:extLst>
          </p:cNvPr>
          <p:cNvSpPr>
            <a:spLocks noGrp="1"/>
          </p:cNvSpPr>
          <p:nvPr/>
        </p:nvSpPr>
        <p:spPr>
          <a:xfrm>
            <a:off x="6553200" y="1809750"/>
            <a:ext cx="4762500" cy="285750"/>
          </a:xfrm>
          <a:prstGeom prst="rect">
            <a:avLst/>
          </a:prstGeom>
          <a:noFill/>
          <a:ln w="0">
            <a:noFill/>
            <a:prstDash val="solid"/>
          </a:ln>
        </p:spPr>
        <p:txBody>
          <a:bodyPr wrap="square" lIns="0" tIns="0" rIns="0" bIns="0" anchor="t">
            <a:normAutofit/>
          </a:bodyPr>
          <a:lstStyle/>
          <a:p>
            <a:pPr algn="l">
              <a:defRPr sz="1650" b="1" i="0">
                <a:solidFill>
                  <a:srgbClr val="C64B2D"/>
                </a:solidFill>
                <a:latin typeface="Arial"/>
                <a:ea typeface="Arial"/>
                <a:cs typeface="Arial"/>
              </a:defRPr>
            </a:pPr>
            <a:r>
              <a:rPr sz="1650" b="1" i="0">
                <a:solidFill>
                  <a:srgbClr val="C64B2D"/>
                </a:solidFill>
                <a:latin typeface="Arial"/>
                <a:ea typeface="Arial"/>
                <a:cs typeface="Arial"/>
              </a:rPr>
              <a:t>FUTURE</a:t>
            </a:r>
          </a:p>
        </p:txBody>
      </p:sp>
      <p:sp>
        <p:nvSpPr>
          <p:cNvPr id="9" name="Rectangle 8">
            <a:extLst>
              <a:ext uri="{FF2B5EF4-FFF2-40B4-BE49-F238E27FC236}">
                <a16:creationId xmlns:a16="http://schemas.microsoft.com/office/drawing/2014/main" id="{00000005-0009-4000-8000-000000000000}"/>
              </a:ext>
            </a:extLst>
          </p:cNvPr>
          <p:cNvSpPr>
            <a:spLocks noGrp="1"/>
          </p:cNvSpPr>
          <p:nvPr/>
        </p:nvSpPr>
        <p:spPr>
          <a:xfrm>
            <a:off x="6553200" y="2238375"/>
            <a:ext cx="4762500" cy="1028700"/>
          </a:xfrm>
          <a:prstGeom prst="rect">
            <a:avLst/>
          </a:prstGeom>
          <a:noFill/>
          <a:ln w="0">
            <a:noFill/>
            <a:prstDash val="solid"/>
          </a:ln>
        </p:spPr>
        <p:txBody>
          <a:bodyPr wrap="square" lIns="0" tIns="0" rIns="0" bIns="0" anchor="ctr">
            <a:normAutofit/>
          </a:bodyPr>
          <a:lstStyle/>
          <a:p>
            <a:pPr algn="l">
              <a:defRPr sz="2925" b="1" i="0">
                <a:solidFill>
                  <a:srgbClr val="102A43"/>
                </a:solidFill>
                <a:latin typeface="Arial"/>
                <a:ea typeface="Arial"/>
                <a:cs typeface="Arial"/>
              </a:defRPr>
            </a:pPr>
            <a:r>
              <a:rPr sz="2925" b="1" i="0">
                <a:solidFill>
                  <a:srgbClr val="102A43"/>
                </a:solidFill>
                <a:latin typeface="Arial"/>
                <a:ea typeface="Arial"/>
                <a:cs typeface="Arial"/>
              </a:rPr>
              <a:t>R(θ) = E[ℓ(fθ(X), Y)]</a:t>
            </a:r>
          </a:p>
        </p:txBody>
      </p:sp>
      <p:sp>
        <p:nvSpPr>
          <p:cNvPr id="10" name="Rectangle 9">
            <a:extLst>
              <a:ext uri="{FF2B5EF4-FFF2-40B4-BE49-F238E27FC236}">
                <a16:creationId xmlns:a16="http://schemas.microsoft.com/office/drawing/2014/main" id="{00000005-000A-4000-8000-000000000000}"/>
              </a:ext>
            </a:extLst>
          </p:cNvPr>
          <p:cNvSpPr>
            <a:spLocks noGrp="1"/>
          </p:cNvSpPr>
          <p:nvPr/>
        </p:nvSpPr>
        <p:spPr>
          <a:xfrm>
            <a:off x="6553200" y="3429000"/>
            <a:ext cx="4762500" cy="685800"/>
          </a:xfrm>
          <a:prstGeom prst="rect">
            <a:avLst/>
          </a:prstGeom>
          <a:noFill/>
          <a:ln w="0">
            <a:noFill/>
            <a:prstDash val="solid"/>
          </a:ln>
        </p:spPr>
        <p:txBody>
          <a:bodyPr wrap="square" lIns="0" tIns="0" rIns="0" bIns="0" anchor="t">
            <a:normAutofit/>
          </a:bodyPr>
          <a:lstStyle/>
          <a:p>
            <a:pPr algn="l">
              <a:defRPr sz="2025" b="0" i="0">
                <a:solidFill>
                  <a:srgbClr val="52606D"/>
                </a:solidFill>
                <a:latin typeface="Arial"/>
                <a:ea typeface="Arial"/>
                <a:cs typeface="Arial"/>
              </a:defRPr>
            </a:pPr>
            <a:r>
              <a:rPr sz="2025" b="0" i="0">
                <a:solidFill>
                  <a:srgbClr val="52606D"/>
                </a:solidFill>
                <a:latin typeface="Arial"/>
                <a:ea typeface="Arial"/>
                <a:cs typeface="Arial"/>
              </a:rPr>
              <a:t>Expected loss under future use</a:t>
            </a:r>
          </a:p>
        </p:txBody>
      </p:sp>
      <p:sp>
        <p:nvSpPr>
          <p:cNvPr id="11" name="Rectangle 10">
            <a:extLst>
              <a:ext uri="{FF2B5EF4-FFF2-40B4-BE49-F238E27FC236}">
                <a16:creationId xmlns:a16="http://schemas.microsoft.com/office/drawing/2014/main" id="{00000005-000B-4000-8000-000000000000}"/>
              </a:ext>
            </a:extLst>
          </p:cNvPr>
          <p:cNvSpPr>
            <a:spLocks noGrp="1"/>
          </p:cNvSpPr>
          <p:nvPr/>
        </p:nvSpPr>
        <p:spPr>
          <a:xfrm>
            <a:off x="1123950" y="4629150"/>
            <a:ext cx="9944100" cy="762000"/>
          </a:xfrm>
          <a:prstGeom prst="rect">
            <a:avLst/>
          </a:prstGeom>
          <a:solidFill>
            <a:srgbClr val="FFF3E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0000005-000C-4000-8000-000000000000}"/>
              </a:ext>
            </a:extLst>
          </p:cNvPr>
          <p:cNvSpPr>
            <a:spLocks noGrp="1"/>
          </p:cNvSpPr>
          <p:nvPr/>
        </p:nvSpPr>
        <p:spPr>
          <a:xfrm>
            <a:off x="1381125" y="4800600"/>
            <a:ext cx="9429750" cy="419100"/>
          </a:xfrm>
          <a:prstGeom prst="rect">
            <a:avLst/>
          </a:prstGeom>
          <a:noFill/>
          <a:ln w="0">
            <a:noFill/>
            <a:prstDash val="solid"/>
          </a:ln>
        </p:spPr>
        <p:txBody>
          <a:bodyPr wrap="square" lIns="0" tIns="0" rIns="0" bIns="0" anchor="ctr">
            <a:normAutofit fontScale="94556"/>
          </a:bodyPr>
          <a:lstStyle/>
          <a:p>
            <a:pPr algn="ctr">
              <a:defRPr sz="2325" b="1" i="0">
                <a:solidFill>
                  <a:srgbClr val="C64B2D"/>
                </a:solidFill>
                <a:latin typeface="Arial"/>
                <a:ea typeface="Arial"/>
                <a:cs typeface="Arial"/>
              </a:defRPr>
            </a:pPr>
            <a:r>
              <a:rPr sz="2325" b="1" i="0">
                <a:solidFill>
                  <a:srgbClr val="C64B2D"/>
                </a:solidFill>
                <a:latin typeface="Arial"/>
                <a:ea typeface="Arial"/>
                <a:cs typeface="Arial"/>
              </a:rPr>
              <a:t>Minimising training loss does not prove future loss is small.</a:t>
            </a:r>
          </a:p>
        </p:txBody>
      </p:sp>
      <p:sp>
        <p:nvSpPr>
          <p:cNvPr id="13" name="Rectangle 12">
            <a:extLst>
              <a:ext uri="{FF2B5EF4-FFF2-40B4-BE49-F238E27FC236}">
                <a16:creationId xmlns:a16="http://schemas.microsoft.com/office/drawing/2014/main" id="{00000005-000D-4000-8000-000000000000}"/>
              </a:ext>
            </a:extLst>
          </p:cNvPr>
          <p:cNvSpPr>
            <a:spLocks noGrp="1"/>
          </p:cNvSpPr>
          <p:nvPr/>
        </p:nvSpPr>
        <p:spPr>
          <a:xfrm>
            <a:off x="2381250" y="5581650"/>
            <a:ext cx="7429500" cy="323850"/>
          </a:xfrm>
          <a:prstGeom prst="rect">
            <a:avLst/>
          </a:prstGeom>
          <a:noFill/>
          <a:ln w="0">
            <a:noFill/>
            <a:prstDash val="solid"/>
          </a:ln>
        </p:spPr>
        <p:txBody>
          <a:bodyPr wrap="square" lIns="0" tIns="0" rIns="0" bIns="0" anchor="t">
            <a:normAutofit/>
          </a:bodyPr>
          <a:lstStyle/>
          <a:p>
            <a:pPr algn="ctr">
              <a:defRPr sz="1800" b="0" i="1">
                <a:solidFill>
                  <a:srgbClr val="52606D"/>
                </a:solidFill>
                <a:latin typeface="Arial"/>
                <a:ea typeface="Arial"/>
                <a:cs typeface="Arial"/>
              </a:defRPr>
            </a:pPr>
            <a:r>
              <a:rPr sz="1800" b="0" i="1">
                <a:solidFill>
                  <a:srgbClr val="52606D"/>
                </a:solidFill>
                <a:latin typeface="Arial"/>
                <a:ea typeface="Arial"/>
                <a:cs typeface="Arial"/>
              </a:rPr>
              <a:t>The split must represent intended use.</a:t>
            </a:r>
          </a:p>
        </p:txBody>
      </p:sp>
      <p:sp>
        <p:nvSpPr>
          <p:cNvPr id="14" name="Rectangle 13">
            <a:extLst>
              <a:ext uri="{FF2B5EF4-FFF2-40B4-BE49-F238E27FC236}">
                <a16:creationId xmlns:a16="http://schemas.microsoft.com/office/drawing/2014/main" id="{00000005-000E-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00000005-0010-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SL05</a:t>
            </a:r>
          </a:p>
        </p:txBody>
      </p:sp>
    </p:spTree>
    <p:extLst>
      <p:ext uri="{BB962C8B-B14F-4D97-AF65-F5344CB8AC3E}">
        <p14:creationId xmlns:p14="http://schemas.microsoft.com/office/powerpoint/2010/main" val="5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0000006-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UNSUPERVISED LEARNING</a:t>
            </a:r>
          </a:p>
        </p:txBody>
      </p:sp>
      <p:sp>
        <p:nvSpPr>
          <p:cNvPr id="2" name="Rectangle 1">
            <a:extLst>
              <a:ext uri="{FF2B5EF4-FFF2-40B4-BE49-F238E27FC236}">
                <a16:creationId xmlns:a16="http://schemas.microsoft.com/office/drawing/2014/main" id="{00000006-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06</a:t>
            </a:r>
          </a:p>
        </p:txBody>
      </p:sp>
      <p:sp>
        <p:nvSpPr>
          <p:cNvPr id="3" name="Rectangle 2">
            <a:extLst>
              <a:ext uri="{FF2B5EF4-FFF2-40B4-BE49-F238E27FC236}">
                <a16:creationId xmlns:a16="http://schemas.microsoft.com/office/drawing/2014/main" id="{00000006-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Unsupervised learning still makes choices</a:t>
            </a:r>
          </a:p>
        </p:txBody>
      </p:sp>
      <p:sp>
        <p:nvSpPr>
          <p:cNvPr id="4" name="Rectangle 3">
            <a:extLst>
              <a:ext uri="{FF2B5EF4-FFF2-40B4-BE49-F238E27FC236}">
                <a16:creationId xmlns:a16="http://schemas.microsoft.com/office/drawing/2014/main" id="{00000006-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6-0005-4000-8000-000000000000}"/>
              </a:ext>
            </a:extLst>
          </p:cNvPr>
          <p:cNvSpPr>
            <a:spLocks noGrp="1"/>
          </p:cNvSpPr>
          <p:nvPr/>
        </p:nvSpPr>
        <p:spPr>
          <a:xfrm>
            <a:off x="685800" y="1733550"/>
            <a:ext cx="10820400" cy="514350"/>
          </a:xfrm>
          <a:prstGeom prst="rect">
            <a:avLst/>
          </a:prstGeom>
          <a:noFill/>
          <a:ln w="0">
            <a:noFill/>
            <a:prstDash val="solid"/>
          </a:ln>
        </p:spPr>
        <p:txBody>
          <a:bodyPr wrap="square" lIns="0" tIns="0" rIns="0" bIns="0" anchor="t">
            <a:normAutofit/>
          </a:bodyPr>
          <a:lstStyle/>
          <a:p>
            <a:pPr algn="ctr">
              <a:defRPr sz="2850" b="1" i="0">
                <a:solidFill>
                  <a:srgbClr val="102A43"/>
                </a:solidFill>
                <a:latin typeface="Arial"/>
                <a:ea typeface="Arial"/>
                <a:cs typeface="Arial"/>
              </a:defRPr>
            </a:pPr>
            <a:r>
              <a:rPr sz="2850" b="1" i="0">
                <a:solidFill>
                  <a:srgbClr val="102A43"/>
                </a:solidFill>
                <a:latin typeface="Arial"/>
                <a:ea typeface="Arial"/>
                <a:cs typeface="Arial"/>
              </a:rPr>
              <a:t>X without task labels</a:t>
            </a:r>
          </a:p>
        </p:txBody>
      </p:sp>
      <p:sp>
        <p:nvSpPr>
          <p:cNvPr id="6" name="Rectangle 5">
            <a:extLst>
              <a:ext uri="{FF2B5EF4-FFF2-40B4-BE49-F238E27FC236}">
                <a16:creationId xmlns:a16="http://schemas.microsoft.com/office/drawing/2014/main" id="{00000006-0006-4000-8000-000000000000}"/>
              </a:ext>
            </a:extLst>
          </p:cNvPr>
          <p:cNvSpPr>
            <a:spLocks noGrp="1"/>
          </p:cNvSpPr>
          <p:nvPr/>
        </p:nvSpPr>
        <p:spPr>
          <a:xfrm>
            <a:off x="5905500" y="2428875"/>
            <a:ext cx="28575" cy="2762250"/>
          </a:xfrm>
          <a:prstGeom prst="rect">
            <a:avLst/>
          </a:prstGeom>
          <a:solidFill>
            <a:srgbClr val="BCCCDC"/>
          </a:solidFill>
          <a:ln w="0">
            <a:noFill/>
            <a:prstDash val="solid"/>
          </a:ln>
        </p:spPr>
        <p:txBody>
          <a:bodyPr/>
          <a:lstStyle/>
          <a:p>
            <a:endParaRPr lang="en-US"/>
          </a:p>
        </p:txBody>
      </p:sp>
      <p:sp>
        <p:nvSpPr>
          <p:cNvPr id="7" name="Rectangle 6">
            <a:extLst>
              <a:ext uri="{FF2B5EF4-FFF2-40B4-BE49-F238E27FC236}">
                <a16:creationId xmlns:a16="http://schemas.microsoft.com/office/drawing/2014/main" id="{00000006-0007-4000-8000-000000000000}"/>
              </a:ext>
            </a:extLst>
          </p:cNvPr>
          <p:cNvSpPr>
            <a:spLocks noGrp="1"/>
          </p:cNvSpPr>
          <p:nvPr/>
        </p:nvSpPr>
        <p:spPr>
          <a:xfrm>
            <a:off x="685800" y="2667000"/>
            <a:ext cx="4476750" cy="32385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K-MEANS</a:t>
            </a:r>
          </a:p>
        </p:txBody>
      </p:sp>
      <p:sp>
        <p:nvSpPr>
          <p:cNvPr id="8" name="Rectangle 7">
            <a:extLst>
              <a:ext uri="{FF2B5EF4-FFF2-40B4-BE49-F238E27FC236}">
                <a16:creationId xmlns:a16="http://schemas.microsoft.com/office/drawing/2014/main" id="{00000006-0008-4000-8000-000000000000}"/>
              </a:ext>
            </a:extLst>
          </p:cNvPr>
          <p:cNvSpPr>
            <a:spLocks noGrp="1"/>
          </p:cNvSpPr>
          <p:nvPr/>
        </p:nvSpPr>
        <p:spPr>
          <a:xfrm>
            <a:off x="685800" y="3143250"/>
            <a:ext cx="4476750" cy="438150"/>
          </a:xfrm>
          <a:prstGeom prst="rect">
            <a:avLst/>
          </a:prstGeom>
          <a:noFill/>
          <a:ln w="0">
            <a:noFill/>
            <a:prstDash val="solid"/>
          </a:ln>
        </p:spPr>
        <p:txBody>
          <a:bodyPr wrap="square" lIns="0" tIns="0" rIns="0" bIns="0" anchor="t">
            <a:normAutofit/>
          </a:bodyPr>
          <a:lstStyle/>
          <a:p>
            <a:pPr algn="l">
              <a:defRPr sz="2550" b="1" i="0">
                <a:solidFill>
                  <a:srgbClr val="102A43"/>
                </a:solidFill>
                <a:latin typeface="Arial"/>
                <a:ea typeface="Arial"/>
                <a:cs typeface="Arial"/>
              </a:defRPr>
            </a:pPr>
            <a:r>
              <a:rPr sz="2550" b="1" i="0">
                <a:solidFill>
                  <a:srgbClr val="102A43"/>
                </a:solidFill>
                <a:latin typeface="Arial"/>
                <a:ea typeface="Arial"/>
                <a:cs typeface="Arial"/>
              </a:rPr>
              <a:t>Seeks compactness</a:t>
            </a:r>
          </a:p>
        </p:txBody>
      </p:sp>
      <p:sp>
        <p:nvSpPr>
          <p:cNvPr id="9" name="Rectangle 8">
            <a:extLst>
              <a:ext uri="{FF2B5EF4-FFF2-40B4-BE49-F238E27FC236}">
                <a16:creationId xmlns:a16="http://schemas.microsoft.com/office/drawing/2014/main" id="{00000006-0009-4000-8000-000000000000}"/>
              </a:ext>
            </a:extLst>
          </p:cNvPr>
          <p:cNvSpPr>
            <a:spLocks noGrp="1"/>
          </p:cNvSpPr>
          <p:nvPr/>
        </p:nvSpPr>
        <p:spPr>
          <a:xfrm>
            <a:off x="685800" y="3667125"/>
            <a:ext cx="4476750" cy="381000"/>
          </a:xfrm>
          <a:prstGeom prst="rect">
            <a:avLst/>
          </a:prstGeom>
          <a:noFill/>
          <a:ln w="0">
            <a:noFill/>
            <a:prstDash val="solid"/>
          </a:ln>
        </p:spPr>
        <p:txBody>
          <a:bodyPr wrap="square" lIns="0" tIns="0" rIns="0" bIns="0" anchor="t">
            <a:normAutofit/>
          </a:bodyPr>
          <a:lstStyle/>
          <a:p>
            <a:pPr algn="l">
              <a:defRPr sz="2100" b="0" i="0">
                <a:solidFill>
                  <a:srgbClr val="52606D"/>
                </a:solidFill>
                <a:latin typeface="Arial"/>
                <a:ea typeface="Arial"/>
                <a:cs typeface="Arial"/>
              </a:defRPr>
            </a:pPr>
            <a:r>
              <a:rPr sz="2100" b="0" i="0">
                <a:solidFill>
                  <a:srgbClr val="52606D"/>
                </a:solidFill>
                <a:latin typeface="Arial"/>
                <a:ea typeface="Arial"/>
                <a:cs typeface="Arial"/>
              </a:rPr>
              <a:t>under a specified distance</a:t>
            </a:r>
          </a:p>
        </p:txBody>
      </p:sp>
      <p:sp>
        <p:nvSpPr>
          <p:cNvPr id="10" name="Rectangle 9">
            <a:extLst>
              <a:ext uri="{FF2B5EF4-FFF2-40B4-BE49-F238E27FC236}">
                <a16:creationId xmlns:a16="http://schemas.microsoft.com/office/drawing/2014/main" id="{00000006-000A-4000-8000-000000000000}"/>
              </a:ext>
            </a:extLst>
          </p:cNvPr>
          <p:cNvSpPr>
            <a:spLocks noGrp="1"/>
          </p:cNvSpPr>
          <p:nvPr/>
        </p:nvSpPr>
        <p:spPr>
          <a:xfrm>
            <a:off x="685800" y="4476750"/>
            <a:ext cx="4476750" cy="685800"/>
          </a:xfrm>
          <a:prstGeom prst="rect">
            <a:avLst/>
          </a:prstGeom>
          <a:noFill/>
          <a:ln w="0">
            <a:noFill/>
            <a:prstDash val="solid"/>
          </a:ln>
        </p:spPr>
        <p:txBody>
          <a:bodyPr wrap="square" lIns="0" tIns="0" rIns="0" bIns="0" anchor="t">
            <a:normAutofit/>
          </a:bodyPr>
          <a:lstStyle/>
          <a:p>
            <a:pPr algn="l">
              <a:defRPr sz="1950" b="0" i="1">
                <a:solidFill>
                  <a:srgbClr val="C64B2D"/>
                </a:solidFill>
                <a:latin typeface="Arial"/>
                <a:ea typeface="Arial"/>
                <a:cs typeface="Arial"/>
              </a:defRPr>
            </a:pPr>
            <a:r>
              <a:rPr sz="1950" b="0" i="1">
                <a:solidFill>
                  <a:srgbClr val="C64B2D"/>
                </a:solidFill>
                <a:latin typeface="Arial"/>
                <a:ea typeface="Arial"/>
                <a:cs typeface="Arial"/>
              </a:rPr>
              <a:t>Scaling and distance can change the partition.</a:t>
            </a:r>
          </a:p>
        </p:txBody>
      </p:sp>
      <p:sp>
        <p:nvSpPr>
          <p:cNvPr id="11" name="Rectangle 10">
            <a:extLst>
              <a:ext uri="{FF2B5EF4-FFF2-40B4-BE49-F238E27FC236}">
                <a16:creationId xmlns:a16="http://schemas.microsoft.com/office/drawing/2014/main" id="{00000006-000B-4000-8000-000000000000}"/>
              </a:ext>
            </a:extLst>
          </p:cNvPr>
          <p:cNvSpPr>
            <a:spLocks noGrp="1"/>
          </p:cNvSpPr>
          <p:nvPr/>
        </p:nvSpPr>
        <p:spPr>
          <a:xfrm>
            <a:off x="6705600" y="2667000"/>
            <a:ext cx="4476750" cy="32385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PCA</a:t>
            </a:r>
          </a:p>
        </p:txBody>
      </p:sp>
      <p:sp>
        <p:nvSpPr>
          <p:cNvPr id="12" name="Rectangle 11">
            <a:extLst>
              <a:ext uri="{FF2B5EF4-FFF2-40B4-BE49-F238E27FC236}">
                <a16:creationId xmlns:a16="http://schemas.microsoft.com/office/drawing/2014/main" id="{00000006-000C-4000-8000-000000000000}"/>
              </a:ext>
            </a:extLst>
          </p:cNvPr>
          <p:cNvSpPr>
            <a:spLocks noGrp="1"/>
          </p:cNvSpPr>
          <p:nvPr/>
        </p:nvSpPr>
        <p:spPr>
          <a:xfrm>
            <a:off x="6705600" y="3143250"/>
            <a:ext cx="4476750" cy="723900"/>
          </a:xfrm>
          <a:prstGeom prst="rect">
            <a:avLst/>
          </a:prstGeom>
          <a:noFill/>
          <a:ln w="0">
            <a:noFill/>
            <a:prstDash val="solid"/>
          </a:ln>
        </p:spPr>
        <p:txBody>
          <a:bodyPr wrap="square" lIns="0" tIns="0" rIns="0" bIns="0" anchor="t">
            <a:normAutofit fontScale="93137" lnSpcReduction="10000"/>
          </a:bodyPr>
          <a:lstStyle/>
          <a:p>
            <a:pPr algn="l">
              <a:defRPr sz="2550" b="1" i="0">
                <a:solidFill>
                  <a:srgbClr val="102A43"/>
                </a:solidFill>
                <a:latin typeface="Arial"/>
                <a:ea typeface="Arial"/>
                <a:cs typeface="Arial"/>
              </a:defRPr>
            </a:pPr>
            <a:r>
              <a:rPr sz="2550" b="1" i="0">
                <a:solidFill>
                  <a:srgbClr val="102A43"/>
                </a:solidFill>
                <a:latin typeface="Arial"/>
                <a:ea typeface="Arial"/>
                <a:cs typeface="Arial"/>
              </a:rPr>
              <a:t>Seeks a low-dimensional representation</a:t>
            </a:r>
          </a:p>
        </p:txBody>
      </p:sp>
      <p:sp>
        <p:nvSpPr>
          <p:cNvPr id="13" name="Rectangle 12">
            <a:extLst>
              <a:ext uri="{FF2B5EF4-FFF2-40B4-BE49-F238E27FC236}">
                <a16:creationId xmlns:a16="http://schemas.microsoft.com/office/drawing/2014/main" id="{00000006-000D-4000-8000-000000000000}"/>
              </a:ext>
            </a:extLst>
          </p:cNvPr>
          <p:cNvSpPr>
            <a:spLocks noGrp="1"/>
          </p:cNvSpPr>
          <p:nvPr/>
        </p:nvSpPr>
        <p:spPr>
          <a:xfrm>
            <a:off x="6705600" y="4000500"/>
            <a:ext cx="4476750" cy="381000"/>
          </a:xfrm>
          <a:prstGeom prst="rect">
            <a:avLst/>
          </a:prstGeom>
          <a:noFill/>
          <a:ln w="0">
            <a:noFill/>
            <a:prstDash val="solid"/>
          </a:ln>
        </p:spPr>
        <p:txBody>
          <a:bodyPr wrap="square" lIns="0" tIns="0" rIns="0" bIns="0" anchor="t">
            <a:normAutofit/>
          </a:bodyPr>
          <a:lstStyle/>
          <a:p>
            <a:pPr algn="l">
              <a:defRPr sz="2100" b="0" i="0">
                <a:solidFill>
                  <a:srgbClr val="52606D"/>
                </a:solidFill>
                <a:latin typeface="Arial"/>
                <a:ea typeface="Arial"/>
                <a:cs typeface="Arial"/>
              </a:defRPr>
            </a:pPr>
            <a:r>
              <a:rPr sz="2100" b="0" i="0">
                <a:solidFill>
                  <a:srgbClr val="52606D"/>
                </a:solidFill>
                <a:latin typeface="Arial"/>
                <a:ea typeface="Arial"/>
                <a:cs typeface="Arial"/>
              </a:rPr>
              <a:t>that preserves variance</a:t>
            </a:r>
          </a:p>
        </p:txBody>
      </p:sp>
      <p:sp>
        <p:nvSpPr>
          <p:cNvPr id="14" name="Rectangle 13">
            <a:extLst>
              <a:ext uri="{FF2B5EF4-FFF2-40B4-BE49-F238E27FC236}">
                <a16:creationId xmlns:a16="http://schemas.microsoft.com/office/drawing/2014/main" id="{00000006-000E-4000-8000-000000000000}"/>
              </a:ext>
            </a:extLst>
          </p:cNvPr>
          <p:cNvSpPr>
            <a:spLocks noGrp="1"/>
          </p:cNvSpPr>
          <p:nvPr/>
        </p:nvSpPr>
        <p:spPr>
          <a:xfrm>
            <a:off x="6705600" y="4667250"/>
            <a:ext cx="4476750" cy="571500"/>
          </a:xfrm>
          <a:prstGeom prst="rect">
            <a:avLst/>
          </a:prstGeom>
          <a:noFill/>
          <a:ln w="0">
            <a:noFill/>
            <a:prstDash val="solid"/>
          </a:ln>
        </p:spPr>
        <p:txBody>
          <a:bodyPr wrap="square" lIns="0" tIns="0" rIns="0" bIns="0" anchor="t">
            <a:normAutofit fontScale="96154" lnSpcReduction="10000"/>
          </a:bodyPr>
          <a:lstStyle/>
          <a:p>
            <a:pPr algn="l">
              <a:defRPr sz="1950" b="0" i="1">
                <a:solidFill>
                  <a:srgbClr val="C64B2D"/>
                </a:solidFill>
                <a:latin typeface="Arial"/>
                <a:ea typeface="Arial"/>
                <a:cs typeface="Arial"/>
              </a:defRPr>
            </a:pPr>
            <a:r>
              <a:rPr sz="1950" b="0" i="1">
                <a:solidFill>
                  <a:srgbClr val="C64B2D"/>
                </a:solidFill>
                <a:latin typeface="Arial"/>
                <a:ea typeface="Arial"/>
                <a:cs typeface="Arial"/>
              </a:rPr>
              <a:t>Projected variance need not equal usefulness.</a:t>
            </a:r>
          </a:p>
        </p:txBody>
      </p:sp>
      <p:sp>
        <p:nvSpPr>
          <p:cNvPr id="15" name="Rectangle 14">
            <a:extLst>
              <a:ext uri="{FF2B5EF4-FFF2-40B4-BE49-F238E27FC236}">
                <a16:creationId xmlns:a16="http://schemas.microsoft.com/office/drawing/2014/main" id="{00000006-000F-4000-8000-000000000000}"/>
              </a:ext>
            </a:extLst>
          </p:cNvPr>
          <p:cNvSpPr>
            <a:spLocks noGrp="1"/>
          </p:cNvSpPr>
          <p:nvPr/>
        </p:nvSpPr>
        <p:spPr>
          <a:xfrm>
            <a:off x="1714500" y="5619750"/>
            <a:ext cx="8763000" cy="323850"/>
          </a:xfrm>
          <a:prstGeom prst="rect">
            <a:avLst/>
          </a:prstGeom>
          <a:noFill/>
          <a:ln w="0">
            <a:noFill/>
            <a:prstDash val="solid"/>
          </a:ln>
        </p:spPr>
        <p:txBody>
          <a:bodyPr wrap="square" lIns="0" tIns="0" rIns="0" bIns="0" anchor="t">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Cluster IDs are assigned names—not external truth.</a:t>
            </a:r>
          </a:p>
        </p:txBody>
      </p:sp>
      <p:sp>
        <p:nvSpPr>
          <p:cNvPr id="16" name="Rectangle 15">
            <a:extLst>
              <a:ext uri="{FF2B5EF4-FFF2-40B4-BE49-F238E27FC236}">
                <a16:creationId xmlns:a16="http://schemas.microsoft.com/office/drawing/2014/main" id="{00000006-0010-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0000006-0012-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SL06</a:t>
            </a:r>
          </a:p>
        </p:txBody>
      </p:sp>
    </p:spTree>
    <p:extLst>
      <p:ext uri="{BB962C8B-B14F-4D97-AF65-F5344CB8AC3E}">
        <p14:creationId xmlns:p14="http://schemas.microsoft.com/office/powerpoint/2010/main" val="60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000007-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K-MEANS OBJECTIVE</a:t>
            </a:r>
          </a:p>
        </p:txBody>
      </p:sp>
      <p:sp>
        <p:nvSpPr>
          <p:cNvPr id="2" name="Rectangle 1">
            <a:extLst>
              <a:ext uri="{FF2B5EF4-FFF2-40B4-BE49-F238E27FC236}">
                <a16:creationId xmlns:a16="http://schemas.microsoft.com/office/drawing/2014/main" id="{00000007-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07</a:t>
            </a:r>
          </a:p>
        </p:txBody>
      </p:sp>
      <p:sp>
        <p:nvSpPr>
          <p:cNvPr id="3" name="Rectangle 2">
            <a:extLst>
              <a:ext uri="{FF2B5EF4-FFF2-40B4-BE49-F238E27FC236}">
                <a16:creationId xmlns:a16="http://schemas.microsoft.com/office/drawing/2014/main" id="{00000007-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fontScale="98828"/>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A clustering objective encodes a worldview</a:t>
            </a:r>
          </a:p>
        </p:txBody>
      </p:sp>
      <p:sp>
        <p:nvSpPr>
          <p:cNvPr id="4" name="Rectangle 3">
            <a:extLst>
              <a:ext uri="{FF2B5EF4-FFF2-40B4-BE49-F238E27FC236}">
                <a16:creationId xmlns:a16="http://schemas.microsoft.com/office/drawing/2014/main" id="{00000007-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7-0005-4000-8000-000000000000}"/>
              </a:ext>
            </a:extLst>
          </p:cNvPr>
          <p:cNvSpPr>
            <a:spLocks noGrp="1"/>
          </p:cNvSpPr>
          <p:nvPr/>
        </p:nvSpPr>
        <p:spPr>
          <a:xfrm>
            <a:off x="685800" y="2019300"/>
            <a:ext cx="2095500" cy="609600"/>
          </a:xfrm>
          <a:prstGeom prst="rect">
            <a:avLst/>
          </a:prstGeom>
          <a:noFill/>
          <a:ln w="0">
            <a:noFill/>
            <a:prstDash val="solid"/>
          </a:ln>
        </p:spPr>
        <p:txBody>
          <a:bodyPr wrap="square" lIns="0" tIns="0" rIns="0" bIns="0" anchor="ctr">
            <a:normAutofit/>
          </a:bodyPr>
          <a:lstStyle/>
          <a:p>
            <a:pPr algn="ctr">
              <a:defRPr sz="2475" b="1" i="0">
                <a:solidFill>
                  <a:srgbClr val="007C83"/>
                </a:solidFill>
                <a:latin typeface="Arial"/>
                <a:ea typeface="Arial"/>
                <a:cs typeface="Arial"/>
              </a:defRPr>
            </a:pPr>
            <a:r>
              <a:rPr sz="2475" b="1" i="0">
                <a:solidFill>
                  <a:srgbClr val="007C83"/>
                </a:solidFill>
                <a:latin typeface="Arial"/>
                <a:ea typeface="Arial"/>
                <a:cs typeface="Arial"/>
              </a:rPr>
              <a:t>min z, μ</a:t>
            </a:r>
          </a:p>
        </p:txBody>
      </p:sp>
      <p:sp>
        <p:nvSpPr>
          <p:cNvPr id="6" name="Rectangle 5">
            <a:extLst>
              <a:ext uri="{FF2B5EF4-FFF2-40B4-BE49-F238E27FC236}">
                <a16:creationId xmlns:a16="http://schemas.microsoft.com/office/drawing/2014/main" id="{00000007-0006-4000-8000-000000000000}"/>
              </a:ext>
            </a:extLst>
          </p:cNvPr>
          <p:cNvSpPr>
            <a:spLocks noGrp="1"/>
          </p:cNvSpPr>
          <p:nvPr/>
        </p:nvSpPr>
        <p:spPr>
          <a:xfrm>
            <a:off x="2857500" y="1857375"/>
            <a:ext cx="6667500" cy="952500"/>
          </a:xfrm>
          <a:prstGeom prst="rect">
            <a:avLst/>
          </a:prstGeom>
          <a:noFill/>
          <a:ln w="0">
            <a:noFill/>
            <a:prstDash val="solid"/>
          </a:ln>
        </p:spPr>
        <p:txBody>
          <a:bodyPr wrap="square" lIns="0" tIns="0" rIns="0" bIns="0" anchor="ctr">
            <a:normAutofit/>
          </a:bodyPr>
          <a:lstStyle/>
          <a:p>
            <a:pPr algn="ctr">
              <a:defRPr sz="4350" b="1" i="0">
                <a:solidFill>
                  <a:srgbClr val="102A43"/>
                </a:solidFill>
                <a:latin typeface="Arial"/>
                <a:ea typeface="Arial"/>
                <a:cs typeface="Arial"/>
              </a:defRPr>
            </a:pPr>
            <a:r>
              <a:rPr sz="4350" b="1" i="0">
                <a:solidFill>
                  <a:srgbClr val="102A43"/>
                </a:solidFill>
                <a:latin typeface="Arial"/>
                <a:ea typeface="Arial"/>
                <a:cs typeface="Arial"/>
              </a:rPr>
              <a:t>Σᵢ ‖xᵢ − μzᵢ‖²</a:t>
            </a:r>
          </a:p>
        </p:txBody>
      </p:sp>
      <p:sp>
        <p:nvSpPr>
          <p:cNvPr id="7" name="Rectangle 6">
            <a:extLst>
              <a:ext uri="{FF2B5EF4-FFF2-40B4-BE49-F238E27FC236}">
                <a16:creationId xmlns:a16="http://schemas.microsoft.com/office/drawing/2014/main" id="{00000007-0007-4000-8000-000000000000}"/>
              </a:ext>
            </a:extLst>
          </p:cNvPr>
          <p:cNvSpPr>
            <a:spLocks noGrp="1"/>
          </p:cNvSpPr>
          <p:nvPr/>
        </p:nvSpPr>
        <p:spPr>
          <a:xfrm>
            <a:off x="9620250" y="2019300"/>
            <a:ext cx="1885950" cy="609600"/>
          </a:xfrm>
          <a:prstGeom prst="rect">
            <a:avLst/>
          </a:prstGeom>
          <a:noFill/>
          <a:ln w="0">
            <a:noFill/>
            <a:prstDash val="solid"/>
          </a:ln>
        </p:spPr>
        <p:txBody>
          <a:bodyPr wrap="square" lIns="0" tIns="0" rIns="0" bIns="0" anchor="ctr">
            <a:normAutofit/>
          </a:bodyPr>
          <a:lstStyle/>
          <a:p>
            <a:pPr algn="ctr">
              <a:defRPr sz="2325" b="1" i="0">
                <a:solidFill>
                  <a:srgbClr val="007C83"/>
                </a:solidFill>
                <a:latin typeface="Arial"/>
                <a:ea typeface="Arial"/>
                <a:cs typeface="Arial"/>
              </a:defRPr>
            </a:pPr>
            <a:r>
              <a:rPr sz="2325" b="1" i="0">
                <a:solidFill>
                  <a:srgbClr val="007C83"/>
                </a:solidFill>
                <a:latin typeface="Arial"/>
                <a:ea typeface="Arial"/>
                <a:cs typeface="Arial"/>
              </a:rPr>
              <a:t>xᵢ, μₖ ∈ ℝᵖ</a:t>
            </a:r>
          </a:p>
        </p:txBody>
      </p:sp>
      <p:sp>
        <p:nvSpPr>
          <p:cNvPr id="8" name="Rectangle 7">
            <a:extLst>
              <a:ext uri="{FF2B5EF4-FFF2-40B4-BE49-F238E27FC236}">
                <a16:creationId xmlns:a16="http://schemas.microsoft.com/office/drawing/2014/main" id="{00000007-0008-4000-8000-000000000000}"/>
              </a:ext>
            </a:extLst>
          </p:cNvPr>
          <p:cNvSpPr>
            <a:spLocks noGrp="1"/>
          </p:cNvSpPr>
          <p:nvPr/>
        </p:nvSpPr>
        <p:spPr>
          <a:xfrm>
            <a:off x="1428750" y="3143250"/>
            <a:ext cx="9334500" cy="38100"/>
          </a:xfrm>
          <a:prstGeom prst="rect">
            <a:avLst/>
          </a:prstGeom>
          <a:solidFill>
            <a:srgbClr val="007C83"/>
          </a:solidFill>
          <a:ln w="0">
            <a:noFill/>
            <a:prstDash val="solid"/>
          </a:ln>
        </p:spPr>
        <p:txBody>
          <a:bodyPr/>
          <a:lstStyle/>
          <a:p>
            <a:endParaRPr lang="en-US"/>
          </a:p>
        </p:txBody>
      </p:sp>
      <p:sp>
        <p:nvSpPr>
          <p:cNvPr id="9" name="Rectangle 8">
            <a:extLst>
              <a:ext uri="{FF2B5EF4-FFF2-40B4-BE49-F238E27FC236}">
                <a16:creationId xmlns:a16="http://schemas.microsoft.com/office/drawing/2014/main" id="{00000007-0009-4000-8000-000000000000}"/>
              </a:ext>
            </a:extLst>
          </p:cNvPr>
          <p:cNvSpPr>
            <a:spLocks noGrp="1"/>
          </p:cNvSpPr>
          <p:nvPr/>
        </p:nvSpPr>
        <p:spPr>
          <a:xfrm>
            <a:off x="1238250" y="3562350"/>
            <a:ext cx="1333500" cy="438150"/>
          </a:xfrm>
          <a:prstGeom prst="rect">
            <a:avLst/>
          </a:prstGeom>
          <a:noFill/>
          <a:ln w="0">
            <a:noFill/>
            <a:prstDash val="solid"/>
          </a:ln>
        </p:spPr>
        <p:txBody>
          <a:bodyPr wrap="square" lIns="0" tIns="0" rIns="0" bIns="0" anchor="t">
            <a:normAutofit/>
          </a:bodyPr>
          <a:lstStyle/>
          <a:p>
            <a:pPr algn="ctr">
              <a:defRPr sz="2550" b="1" i="0">
                <a:solidFill>
                  <a:srgbClr val="007C83"/>
                </a:solidFill>
                <a:latin typeface="Arial"/>
                <a:ea typeface="Arial"/>
                <a:cs typeface="Arial"/>
              </a:defRPr>
            </a:pPr>
            <a:r>
              <a:rPr sz="2550" b="1" i="0">
                <a:solidFill>
                  <a:srgbClr val="007C83"/>
                </a:solidFill>
                <a:latin typeface="Arial"/>
                <a:ea typeface="Arial"/>
                <a:cs typeface="Arial"/>
              </a:rPr>
              <a:t>zᵢ</a:t>
            </a:r>
          </a:p>
        </p:txBody>
      </p:sp>
      <p:sp>
        <p:nvSpPr>
          <p:cNvPr id="10" name="Rectangle 9">
            <a:extLst>
              <a:ext uri="{FF2B5EF4-FFF2-40B4-BE49-F238E27FC236}">
                <a16:creationId xmlns:a16="http://schemas.microsoft.com/office/drawing/2014/main" id="{00000007-000A-4000-8000-000000000000}"/>
              </a:ext>
            </a:extLst>
          </p:cNvPr>
          <p:cNvSpPr>
            <a:spLocks noGrp="1"/>
          </p:cNvSpPr>
          <p:nvPr/>
        </p:nvSpPr>
        <p:spPr>
          <a:xfrm>
            <a:off x="876300" y="4095750"/>
            <a:ext cx="2057400" cy="342900"/>
          </a:xfrm>
          <a:prstGeom prst="rect">
            <a:avLst/>
          </a:prstGeom>
          <a:noFill/>
          <a:ln w="0">
            <a:noFill/>
            <a:prstDash val="solid"/>
          </a:ln>
        </p:spPr>
        <p:txBody>
          <a:bodyPr wrap="square" lIns="0" tIns="0" rIns="0" bIns="0" anchor="t">
            <a:normAutofit/>
          </a:bodyPr>
          <a:lstStyle/>
          <a:p>
            <a:pPr algn="ctr">
              <a:defRPr sz="1800" b="0" i="0">
                <a:solidFill>
                  <a:srgbClr val="52606D"/>
                </a:solidFill>
                <a:latin typeface="Arial"/>
                <a:ea typeface="Arial"/>
                <a:cs typeface="Arial"/>
              </a:defRPr>
            </a:pPr>
            <a:r>
              <a:rPr sz="1800" b="0" i="0">
                <a:solidFill>
                  <a:srgbClr val="52606D"/>
                </a:solidFill>
                <a:latin typeface="Arial"/>
                <a:ea typeface="Arial"/>
                <a:cs typeface="Arial"/>
              </a:rPr>
              <a:t>assigned cluster</a:t>
            </a:r>
          </a:p>
        </p:txBody>
      </p:sp>
      <p:sp>
        <p:nvSpPr>
          <p:cNvPr id="11" name="Rectangle 10">
            <a:extLst>
              <a:ext uri="{FF2B5EF4-FFF2-40B4-BE49-F238E27FC236}">
                <a16:creationId xmlns:a16="http://schemas.microsoft.com/office/drawing/2014/main" id="{00000007-000B-4000-8000-000000000000}"/>
              </a:ext>
            </a:extLst>
          </p:cNvPr>
          <p:cNvSpPr>
            <a:spLocks noGrp="1"/>
          </p:cNvSpPr>
          <p:nvPr/>
        </p:nvSpPr>
        <p:spPr>
          <a:xfrm>
            <a:off x="3667125" y="3562350"/>
            <a:ext cx="1333500" cy="438150"/>
          </a:xfrm>
          <a:prstGeom prst="rect">
            <a:avLst/>
          </a:prstGeom>
          <a:noFill/>
          <a:ln w="0">
            <a:noFill/>
            <a:prstDash val="solid"/>
          </a:ln>
        </p:spPr>
        <p:txBody>
          <a:bodyPr wrap="square" lIns="0" tIns="0" rIns="0" bIns="0" anchor="t">
            <a:normAutofit/>
          </a:bodyPr>
          <a:lstStyle/>
          <a:p>
            <a:pPr algn="ctr">
              <a:defRPr sz="2550" b="1" i="0">
                <a:solidFill>
                  <a:srgbClr val="007C83"/>
                </a:solidFill>
                <a:latin typeface="Arial"/>
                <a:ea typeface="Arial"/>
                <a:cs typeface="Arial"/>
              </a:defRPr>
            </a:pPr>
            <a:r>
              <a:rPr sz="2550" b="1" i="0">
                <a:solidFill>
                  <a:srgbClr val="007C83"/>
                </a:solidFill>
                <a:latin typeface="Arial"/>
                <a:ea typeface="Arial"/>
                <a:cs typeface="Arial"/>
              </a:rPr>
              <a:t>μₖ</a:t>
            </a:r>
          </a:p>
        </p:txBody>
      </p:sp>
      <p:sp>
        <p:nvSpPr>
          <p:cNvPr id="12" name="Rectangle 11">
            <a:extLst>
              <a:ext uri="{FF2B5EF4-FFF2-40B4-BE49-F238E27FC236}">
                <a16:creationId xmlns:a16="http://schemas.microsoft.com/office/drawing/2014/main" id="{00000007-000C-4000-8000-000000000000}"/>
              </a:ext>
            </a:extLst>
          </p:cNvPr>
          <p:cNvSpPr>
            <a:spLocks noGrp="1"/>
          </p:cNvSpPr>
          <p:nvPr/>
        </p:nvSpPr>
        <p:spPr>
          <a:xfrm>
            <a:off x="3305175" y="4095750"/>
            <a:ext cx="2057400" cy="342900"/>
          </a:xfrm>
          <a:prstGeom prst="rect">
            <a:avLst/>
          </a:prstGeom>
          <a:noFill/>
          <a:ln w="0">
            <a:noFill/>
            <a:prstDash val="solid"/>
          </a:ln>
        </p:spPr>
        <p:txBody>
          <a:bodyPr wrap="square" lIns="0" tIns="0" rIns="0" bIns="0" anchor="t">
            <a:normAutofit/>
          </a:bodyPr>
          <a:lstStyle/>
          <a:p>
            <a:pPr algn="ctr">
              <a:defRPr sz="1800" b="0" i="0">
                <a:solidFill>
                  <a:srgbClr val="52606D"/>
                </a:solidFill>
                <a:latin typeface="Arial"/>
                <a:ea typeface="Arial"/>
                <a:cs typeface="Arial"/>
              </a:defRPr>
            </a:pPr>
            <a:r>
              <a:rPr sz="1800" b="0" i="0">
                <a:solidFill>
                  <a:srgbClr val="52606D"/>
                </a:solidFill>
                <a:latin typeface="Arial"/>
                <a:ea typeface="Arial"/>
                <a:cs typeface="Arial"/>
              </a:rPr>
              <a:t>cluster centre</a:t>
            </a:r>
          </a:p>
        </p:txBody>
      </p:sp>
      <p:sp>
        <p:nvSpPr>
          <p:cNvPr id="13" name="Rectangle 12">
            <a:extLst>
              <a:ext uri="{FF2B5EF4-FFF2-40B4-BE49-F238E27FC236}">
                <a16:creationId xmlns:a16="http://schemas.microsoft.com/office/drawing/2014/main" id="{00000007-000D-4000-8000-000000000000}"/>
              </a:ext>
            </a:extLst>
          </p:cNvPr>
          <p:cNvSpPr>
            <a:spLocks noGrp="1"/>
          </p:cNvSpPr>
          <p:nvPr/>
        </p:nvSpPr>
        <p:spPr>
          <a:xfrm>
            <a:off x="6096000" y="3562350"/>
            <a:ext cx="1333500" cy="438150"/>
          </a:xfrm>
          <a:prstGeom prst="rect">
            <a:avLst/>
          </a:prstGeom>
          <a:noFill/>
          <a:ln w="0">
            <a:noFill/>
            <a:prstDash val="solid"/>
          </a:ln>
        </p:spPr>
        <p:txBody>
          <a:bodyPr wrap="square" lIns="0" tIns="0" rIns="0" bIns="0" anchor="t">
            <a:normAutofit/>
          </a:bodyPr>
          <a:lstStyle/>
          <a:p>
            <a:pPr algn="ctr">
              <a:defRPr sz="2550" b="1" i="0">
                <a:solidFill>
                  <a:srgbClr val="007C83"/>
                </a:solidFill>
                <a:latin typeface="Arial"/>
                <a:ea typeface="Arial"/>
                <a:cs typeface="Arial"/>
              </a:defRPr>
            </a:pPr>
            <a:r>
              <a:rPr sz="2550" b="1" i="0">
                <a:solidFill>
                  <a:srgbClr val="007C83"/>
                </a:solidFill>
                <a:latin typeface="Arial"/>
                <a:ea typeface="Arial"/>
                <a:cs typeface="Arial"/>
              </a:rPr>
              <a:t>‖·‖²</a:t>
            </a:r>
          </a:p>
        </p:txBody>
      </p:sp>
      <p:sp>
        <p:nvSpPr>
          <p:cNvPr id="14" name="Rectangle 13">
            <a:extLst>
              <a:ext uri="{FF2B5EF4-FFF2-40B4-BE49-F238E27FC236}">
                <a16:creationId xmlns:a16="http://schemas.microsoft.com/office/drawing/2014/main" id="{00000007-000E-4000-8000-000000000000}"/>
              </a:ext>
            </a:extLst>
          </p:cNvPr>
          <p:cNvSpPr>
            <a:spLocks noGrp="1"/>
          </p:cNvSpPr>
          <p:nvPr/>
        </p:nvSpPr>
        <p:spPr>
          <a:xfrm>
            <a:off x="5734050" y="4095750"/>
            <a:ext cx="2057400" cy="342900"/>
          </a:xfrm>
          <a:prstGeom prst="rect">
            <a:avLst/>
          </a:prstGeom>
          <a:noFill/>
          <a:ln w="0">
            <a:noFill/>
            <a:prstDash val="solid"/>
          </a:ln>
        </p:spPr>
        <p:txBody>
          <a:bodyPr wrap="square" lIns="0" tIns="0" rIns="0" bIns="0" anchor="t">
            <a:normAutofit/>
          </a:bodyPr>
          <a:lstStyle/>
          <a:p>
            <a:pPr algn="ctr">
              <a:defRPr sz="1800" b="0" i="0">
                <a:solidFill>
                  <a:srgbClr val="52606D"/>
                </a:solidFill>
                <a:latin typeface="Arial"/>
                <a:ea typeface="Arial"/>
                <a:cs typeface="Arial"/>
              </a:defRPr>
            </a:pPr>
            <a:r>
              <a:rPr sz="1800" b="0" i="0">
                <a:solidFill>
                  <a:srgbClr val="52606D"/>
                </a:solidFill>
                <a:latin typeface="Arial"/>
                <a:ea typeface="Arial"/>
                <a:cs typeface="Arial"/>
              </a:rPr>
              <a:t>squared distance</a:t>
            </a:r>
          </a:p>
        </p:txBody>
      </p:sp>
      <p:sp>
        <p:nvSpPr>
          <p:cNvPr id="15" name="Rectangle 14">
            <a:extLst>
              <a:ext uri="{FF2B5EF4-FFF2-40B4-BE49-F238E27FC236}">
                <a16:creationId xmlns:a16="http://schemas.microsoft.com/office/drawing/2014/main" id="{00000007-000F-4000-8000-000000000000}"/>
              </a:ext>
            </a:extLst>
          </p:cNvPr>
          <p:cNvSpPr>
            <a:spLocks noGrp="1"/>
          </p:cNvSpPr>
          <p:nvPr/>
        </p:nvSpPr>
        <p:spPr>
          <a:xfrm>
            <a:off x="8524875" y="3562350"/>
            <a:ext cx="1333500" cy="438150"/>
          </a:xfrm>
          <a:prstGeom prst="rect">
            <a:avLst/>
          </a:prstGeom>
          <a:noFill/>
          <a:ln w="0">
            <a:noFill/>
            <a:prstDash val="solid"/>
          </a:ln>
        </p:spPr>
        <p:txBody>
          <a:bodyPr wrap="square" lIns="0" tIns="0" rIns="0" bIns="0" anchor="t">
            <a:normAutofit/>
          </a:bodyPr>
          <a:lstStyle/>
          <a:p>
            <a:pPr algn="ctr">
              <a:defRPr sz="2550" b="1" i="0">
                <a:solidFill>
                  <a:srgbClr val="C64B2D"/>
                </a:solidFill>
                <a:latin typeface="Arial"/>
                <a:ea typeface="Arial"/>
                <a:cs typeface="Arial"/>
              </a:defRPr>
            </a:pPr>
            <a:r>
              <a:rPr sz="2550" b="1" i="0">
                <a:solidFill>
                  <a:srgbClr val="C64B2D"/>
                </a:solidFill>
                <a:latin typeface="Arial"/>
                <a:ea typeface="Arial"/>
                <a:cs typeface="Arial"/>
              </a:rPr>
              <a:t>no y</a:t>
            </a:r>
          </a:p>
        </p:txBody>
      </p:sp>
      <p:sp>
        <p:nvSpPr>
          <p:cNvPr id="16" name="Rectangle 15">
            <a:extLst>
              <a:ext uri="{FF2B5EF4-FFF2-40B4-BE49-F238E27FC236}">
                <a16:creationId xmlns:a16="http://schemas.microsoft.com/office/drawing/2014/main" id="{00000007-0010-4000-8000-000000000000}"/>
              </a:ext>
            </a:extLst>
          </p:cNvPr>
          <p:cNvSpPr>
            <a:spLocks noGrp="1"/>
          </p:cNvSpPr>
          <p:nvPr/>
        </p:nvSpPr>
        <p:spPr>
          <a:xfrm>
            <a:off x="8162925" y="4095750"/>
            <a:ext cx="2057400" cy="342900"/>
          </a:xfrm>
          <a:prstGeom prst="rect">
            <a:avLst/>
          </a:prstGeom>
          <a:noFill/>
          <a:ln w="0">
            <a:noFill/>
            <a:prstDash val="solid"/>
          </a:ln>
        </p:spPr>
        <p:txBody>
          <a:bodyPr wrap="square" lIns="0" tIns="0" rIns="0" bIns="0" anchor="t">
            <a:normAutofit/>
          </a:bodyPr>
          <a:lstStyle/>
          <a:p>
            <a:pPr algn="ctr">
              <a:defRPr sz="1800" b="0" i="0">
                <a:solidFill>
                  <a:srgbClr val="52606D"/>
                </a:solidFill>
                <a:latin typeface="Arial"/>
                <a:ea typeface="Arial"/>
                <a:cs typeface="Arial"/>
              </a:defRPr>
            </a:pPr>
            <a:r>
              <a:rPr sz="1800" b="0" i="0">
                <a:solidFill>
                  <a:srgbClr val="52606D"/>
                </a:solidFill>
                <a:latin typeface="Arial"/>
                <a:ea typeface="Arial"/>
                <a:cs typeface="Arial"/>
              </a:rPr>
              <a:t>no task label</a:t>
            </a:r>
          </a:p>
        </p:txBody>
      </p:sp>
      <p:sp>
        <p:nvSpPr>
          <p:cNvPr id="17" name="Rectangle 16">
            <a:extLst>
              <a:ext uri="{FF2B5EF4-FFF2-40B4-BE49-F238E27FC236}">
                <a16:creationId xmlns:a16="http://schemas.microsoft.com/office/drawing/2014/main" id="{00000007-0011-4000-8000-000000000000}"/>
              </a:ext>
            </a:extLst>
          </p:cNvPr>
          <p:cNvSpPr>
            <a:spLocks noGrp="1"/>
          </p:cNvSpPr>
          <p:nvPr/>
        </p:nvSpPr>
        <p:spPr>
          <a:xfrm>
            <a:off x="1714500" y="4905375"/>
            <a:ext cx="8763000" cy="704850"/>
          </a:xfrm>
          <a:prstGeom prst="rect">
            <a:avLst/>
          </a:prstGeom>
          <a:solidFill>
            <a:srgbClr val="D9F0EF"/>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0000007-0012-4000-8000-000000000000}"/>
              </a:ext>
            </a:extLst>
          </p:cNvPr>
          <p:cNvSpPr>
            <a:spLocks noGrp="1"/>
          </p:cNvSpPr>
          <p:nvPr/>
        </p:nvSpPr>
        <p:spPr>
          <a:xfrm>
            <a:off x="2000250" y="5048250"/>
            <a:ext cx="8191500" cy="419100"/>
          </a:xfrm>
          <a:prstGeom prst="rect">
            <a:avLst/>
          </a:prstGeom>
          <a:noFill/>
          <a:ln w="0">
            <a:noFill/>
            <a:prstDash val="solid"/>
          </a:ln>
        </p:spPr>
        <p:txBody>
          <a:bodyPr wrap="square" lIns="0" tIns="0" rIns="0" bIns="0" anchor="ctr">
            <a:normAutofit fontScale="91116"/>
          </a:bodyPr>
          <a:lstStyle/>
          <a:p>
            <a:pPr algn="ctr">
              <a:defRPr sz="2100" b="1" i="0">
                <a:solidFill>
                  <a:srgbClr val="102A43"/>
                </a:solidFill>
                <a:latin typeface="Arial"/>
                <a:ea typeface="Arial"/>
                <a:cs typeface="Arial"/>
              </a:defRPr>
            </a:pPr>
            <a:r>
              <a:rPr sz="2100" b="1" i="0">
                <a:solidFill>
                  <a:srgbClr val="102A43"/>
                </a:solidFill>
                <a:latin typeface="Arial"/>
                <a:ea typeface="Arial"/>
                <a:cs typeface="Arial"/>
              </a:rPr>
              <a:t>Compactness in a selected representation is not proof of natural kinds.</a:t>
            </a:r>
          </a:p>
        </p:txBody>
      </p:sp>
      <p:sp>
        <p:nvSpPr>
          <p:cNvPr id="19" name="Rectangle 18">
            <a:extLst>
              <a:ext uri="{FF2B5EF4-FFF2-40B4-BE49-F238E27FC236}">
                <a16:creationId xmlns:a16="http://schemas.microsoft.com/office/drawing/2014/main" id="{00000007-0013-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00000007-0015-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SL07</a:t>
            </a:r>
          </a:p>
        </p:txBody>
      </p:sp>
    </p:spTree>
    <p:extLst>
      <p:ext uri="{BB962C8B-B14F-4D97-AF65-F5344CB8AC3E}">
        <p14:creationId xmlns:p14="http://schemas.microsoft.com/office/powerpoint/2010/main" val="70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000008-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REINFORCEMENT LEARNING</a:t>
            </a:r>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08</a:t>
            </a:r>
          </a:p>
        </p:txBody>
      </p:sp>
      <p:sp>
        <p:nvSpPr>
          <p:cNvPr id="3" name="Rectangle 2">
            <a:extLst>
              <a:ext uri="{FF2B5EF4-FFF2-40B4-BE49-F238E27FC236}">
                <a16:creationId xmlns:a16="http://schemas.microsoft.com/office/drawing/2014/main" id="{00000008-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fontScale="96674"/>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Reinforcement learning evaluates a policy over time</a:t>
            </a:r>
          </a:p>
        </p:txBody>
      </p:sp>
      <p:sp>
        <p:nvSpPr>
          <p:cNvPr id="4" name="Rectangle 3">
            <a:extLst>
              <a:ext uri="{FF2B5EF4-FFF2-40B4-BE49-F238E27FC236}">
                <a16:creationId xmlns:a16="http://schemas.microsoft.com/office/drawing/2014/main" id="{00000008-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8-0005-4000-8000-000000000000}"/>
              </a:ext>
            </a:extLst>
          </p:cNvPr>
          <p:cNvSpPr>
            <a:spLocks noGrp="1"/>
          </p:cNvSpPr>
          <p:nvPr/>
        </p:nvSpPr>
        <p:spPr>
          <a:xfrm>
            <a:off x="1476375" y="2095500"/>
            <a:ext cx="2095500" cy="933450"/>
          </a:xfrm>
          <a:prstGeom prst="rect">
            <a:avLst/>
          </a:prstGeom>
          <a:solidFill>
            <a:srgbClr val="EAF2F8"/>
          </a:solidFill>
          <a:ln w="19050">
            <a:solidFill>
              <a:srgbClr val="BCCCDC"/>
            </a:solidFill>
            <a:prstDash val="solid"/>
          </a:ln>
        </p:spPr>
        <p:txBody>
          <a:bodyPr/>
          <a:lstStyle/>
          <a:p>
            <a:endParaRPr lang="en-US"/>
          </a:p>
        </p:txBody>
      </p:sp>
      <p:sp>
        <p:nvSpPr>
          <p:cNvPr id="6" name="Rectangle 5">
            <a:extLst>
              <a:ext uri="{FF2B5EF4-FFF2-40B4-BE49-F238E27FC236}">
                <a16:creationId xmlns:a16="http://schemas.microsoft.com/office/drawing/2014/main" id="{00000008-0006-4000-8000-000000000000}"/>
              </a:ext>
            </a:extLst>
          </p:cNvPr>
          <p:cNvSpPr>
            <a:spLocks noGrp="1"/>
          </p:cNvSpPr>
          <p:nvPr/>
        </p:nvSpPr>
        <p:spPr>
          <a:xfrm>
            <a:off x="1609725" y="2190750"/>
            <a:ext cx="1828800" cy="7429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State</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sₜ</a:t>
            </a:r>
          </a:p>
        </p:txBody>
      </p:sp>
      <p:sp>
        <p:nvSpPr>
          <p:cNvPr id="7" name="Rectangle 6">
            <a:extLst>
              <a:ext uri="{FF2B5EF4-FFF2-40B4-BE49-F238E27FC236}">
                <a16:creationId xmlns:a16="http://schemas.microsoft.com/office/drawing/2014/main" id="{00000008-0007-4000-8000-000000000000}"/>
              </a:ext>
            </a:extLst>
          </p:cNvPr>
          <p:cNvSpPr>
            <a:spLocks noGrp="1"/>
          </p:cNvSpPr>
          <p:nvPr/>
        </p:nvSpPr>
        <p:spPr>
          <a:xfrm>
            <a:off x="4953000" y="2095500"/>
            <a:ext cx="2095500" cy="933450"/>
          </a:xfrm>
          <a:prstGeom prst="rect">
            <a:avLst/>
          </a:prstGeom>
          <a:solidFill>
            <a:srgbClr val="D9F0EF"/>
          </a:solidFill>
          <a:ln w="19050">
            <a:solidFill>
              <a:srgbClr val="BCCCDC"/>
            </a:solidFill>
            <a:prstDash val="solid"/>
          </a:ln>
        </p:spPr>
        <p:txBody>
          <a:bodyPr/>
          <a:lstStyle/>
          <a:p>
            <a:endParaRPr lang="en-US"/>
          </a:p>
        </p:txBody>
      </p:sp>
      <p:sp>
        <p:nvSpPr>
          <p:cNvPr id="8" name="Rectangle 7">
            <a:extLst>
              <a:ext uri="{FF2B5EF4-FFF2-40B4-BE49-F238E27FC236}">
                <a16:creationId xmlns:a16="http://schemas.microsoft.com/office/drawing/2014/main" id="{00000008-0008-4000-8000-000000000000}"/>
              </a:ext>
            </a:extLst>
          </p:cNvPr>
          <p:cNvSpPr>
            <a:spLocks noGrp="1"/>
          </p:cNvSpPr>
          <p:nvPr/>
        </p:nvSpPr>
        <p:spPr>
          <a:xfrm>
            <a:off x="5086350" y="2190750"/>
            <a:ext cx="1828800" cy="7429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Action</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aₜ</a:t>
            </a:r>
          </a:p>
        </p:txBody>
      </p:sp>
      <p:sp>
        <p:nvSpPr>
          <p:cNvPr id="9" name="Rectangle 8">
            <a:extLst>
              <a:ext uri="{FF2B5EF4-FFF2-40B4-BE49-F238E27FC236}">
                <a16:creationId xmlns:a16="http://schemas.microsoft.com/office/drawing/2014/main" id="{00000008-0009-4000-8000-000000000000}"/>
              </a:ext>
            </a:extLst>
          </p:cNvPr>
          <p:cNvSpPr>
            <a:spLocks noGrp="1"/>
          </p:cNvSpPr>
          <p:nvPr/>
        </p:nvSpPr>
        <p:spPr>
          <a:xfrm>
            <a:off x="8429625" y="2095500"/>
            <a:ext cx="2095500" cy="933450"/>
          </a:xfrm>
          <a:prstGeom prst="rect">
            <a:avLst/>
          </a:prstGeom>
          <a:solidFill>
            <a:srgbClr val="FFF3E8"/>
          </a:solidFill>
          <a:ln w="19050">
            <a:solidFill>
              <a:srgbClr val="BCCCDC"/>
            </a:solidFill>
            <a:prstDash val="solid"/>
          </a:ln>
        </p:spPr>
        <p:txBody>
          <a:bodyPr/>
          <a:lstStyle/>
          <a:p>
            <a:endParaRPr lang="en-US"/>
          </a:p>
        </p:txBody>
      </p:sp>
      <p:sp>
        <p:nvSpPr>
          <p:cNvPr id="10" name="Rectangle 9">
            <a:extLst>
              <a:ext uri="{FF2B5EF4-FFF2-40B4-BE49-F238E27FC236}">
                <a16:creationId xmlns:a16="http://schemas.microsoft.com/office/drawing/2014/main" id="{00000008-000A-4000-8000-000000000000}"/>
              </a:ext>
            </a:extLst>
          </p:cNvPr>
          <p:cNvSpPr>
            <a:spLocks noGrp="1"/>
          </p:cNvSpPr>
          <p:nvPr/>
        </p:nvSpPr>
        <p:spPr>
          <a:xfrm>
            <a:off x="8562975" y="2190750"/>
            <a:ext cx="1828800" cy="7429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Reward</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rₜ₊₁</a:t>
            </a:r>
          </a:p>
        </p:txBody>
      </p:sp>
      <p:sp>
        <p:nvSpPr>
          <p:cNvPr id="11" name="Rectangle 10">
            <a:extLst>
              <a:ext uri="{FF2B5EF4-FFF2-40B4-BE49-F238E27FC236}">
                <a16:creationId xmlns:a16="http://schemas.microsoft.com/office/drawing/2014/main" id="{00000008-000B-4000-8000-000000000000}"/>
              </a:ext>
            </a:extLst>
          </p:cNvPr>
          <p:cNvSpPr>
            <a:spLocks noGrp="1"/>
          </p:cNvSpPr>
          <p:nvPr/>
        </p:nvSpPr>
        <p:spPr>
          <a:xfrm>
            <a:off x="4953000" y="4095750"/>
            <a:ext cx="2095500" cy="933450"/>
          </a:xfrm>
          <a:prstGeom prst="rect">
            <a:avLst/>
          </a:prstGeom>
          <a:solidFill>
            <a:srgbClr val="E9F6F3"/>
          </a:solidFill>
          <a:ln w="19050">
            <a:solidFill>
              <a:srgbClr val="BCCCDC"/>
            </a:solidFill>
            <a:prstDash val="solid"/>
          </a:ln>
        </p:spPr>
        <p:txBody>
          <a:bodyPr/>
          <a:lstStyle/>
          <a:p>
            <a:endParaRPr lang="en-US"/>
          </a:p>
        </p:txBody>
      </p:sp>
      <p:sp>
        <p:nvSpPr>
          <p:cNvPr id="12" name="Rectangle 11">
            <a:extLst>
              <a:ext uri="{FF2B5EF4-FFF2-40B4-BE49-F238E27FC236}">
                <a16:creationId xmlns:a16="http://schemas.microsoft.com/office/drawing/2014/main" id="{00000008-000C-4000-8000-000000000000}"/>
              </a:ext>
            </a:extLst>
          </p:cNvPr>
          <p:cNvSpPr>
            <a:spLocks noGrp="1"/>
          </p:cNvSpPr>
          <p:nvPr/>
        </p:nvSpPr>
        <p:spPr>
          <a:xfrm>
            <a:off x="5086350" y="4191000"/>
            <a:ext cx="1828800" cy="74295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New state</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sₜ₊₁</a:t>
            </a:r>
          </a:p>
        </p:txBody>
      </p:sp>
      <p:cxnSp>
        <p:nvCxnSpPr>
          <p:cNvPr id="34" name="Straight Arrow Connector 33"/>
          <p:cNvCxnSpPr>
            <a:stCxn id="5" idx="3"/>
            <a:endCxn id="7" idx="1"/>
          </p:cNvCxnSpPr>
          <p:nvPr/>
        </p:nvCxnSpPr>
        <p:spPr>
          <a:xfrm>
            <a:off x="3571875" y="2562225"/>
            <a:ext cx="1381125" cy="0"/>
          </a:xfrm>
          <a:prstGeom prst="straightConnector1">
            <a:avLst/>
          </a:prstGeom>
          <a:ln w="38100">
            <a:solidFill>
              <a:srgbClr val="007C83"/>
            </a:solidFill>
            <a:prstDash val="solid"/>
            <a:tailEnd type="arrow" w="med" len="med"/>
          </a:ln>
        </p:spPr>
      </p:cxnSp>
      <p:cxnSp>
        <p:nvCxnSpPr>
          <p:cNvPr id="35" name="Straight Arrow Connector 34"/>
          <p:cNvCxnSpPr>
            <a:stCxn id="7" idx="3"/>
            <a:endCxn id="9" idx="1"/>
          </p:cNvCxnSpPr>
          <p:nvPr/>
        </p:nvCxnSpPr>
        <p:spPr>
          <a:xfrm>
            <a:off x="7048500" y="2562225"/>
            <a:ext cx="1381125" cy="0"/>
          </a:xfrm>
          <a:prstGeom prst="straightConnector1">
            <a:avLst/>
          </a:prstGeom>
          <a:ln w="38100">
            <a:solidFill>
              <a:srgbClr val="007C83"/>
            </a:solidFill>
            <a:prstDash val="solid"/>
            <a:tailEnd type="arrow" w="med" len="med"/>
          </a:ln>
        </p:spPr>
      </p:cxnSp>
      <p:cxnSp>
        <p:nvCxnSpPr>
          <p:cNvPr id="36" name="Connector: Elbow 35"/>
          <p:cNvCxnSpPr>
            <a:stCxn id="9" idx="2"/>
            <a:endCxn id="11" idx="3"/>
          </p:cNvCxnSpPr>
          <p:nvPr/>
        </p:nvCxnSpPr>
        <p:spPr>
          <a:xfrm flipH="1">
            <a:off x="7048500" y="3028950"/>
            <a:ext cx="2428875" cy="1533525"/>
          </a:xfrm>
          <a:prstGeom prst="bentConnector3">
            <a:avLst>
              <a:gd name="adj1" fmla="val 0"/>
            </a:avLst>
          </a:prstGeom>
          <a:ln w="38100">
            <a:solidFill>
              <a:srgbClr val="C64B2D"/>
            </a:solidFill>
            <a:prstDash val="solid"/>
            <a:tailEnd type="arrow" w="med" len="med"/>
          </a:ln>
        </p:spPr>
      </p:cxnSp>
      <p:cxnSp>
        <p:nvCxnSpPr>
          <p:cNvPr id="37" name="Connector: Elbow 36"/>
          <p:cNvCxnSpPr>
            <a:stCxn id="11" idx="1"/>
            <a:endCxn id="5" idx="2"/>
          </p:cNvCxnSpPr>
          <p:nvPr/>
        </p:nvCxnSpPr>
        <p:spPr>
          <a:xfrm flipH="1" flipV="1">
            <a:off x="2524125" y="3028950"/>
            <a:ext cx="2428875" cy="1533525"/>
          </a:xfrm>
          <a:prstGeom prst="bentConnector2">
            <a:avLst/>
          </a:prstGeom>
          <a:ln w="38100">
            <a:solidFill>
              <a:srgbClr val="007C83"/>
            </a:solidFill>
            <a:prstDash val="solid"/>
            <a:tailEnd type="arrow" w="med" len="med"/>
          </a:ln>
        </p:spPr>
      </p:cxnSp>
      <p:sp>
        <p:nvSpPr>
          <p:cNvPr id="17" name="Rectangle 16">
            <a:extLst>
              <a:ext uri="{FF2B5EF4-FFF2-40B4-BE49-F238E27FC236}">
                <a16:creationId xmlns:a16="http://schemas.microsoft.com/office/drawing/2014/main" id="{00000008-000D-4000-8000-000000000000}"/>
              </a:ext>
            </a:extLst>
          </p:cNvPr>
          <p:cNvSpPr>
            <a:spLocks noGrp="1"/>
          </p:cNvSpPr>
          <p:nvPr/>
        </p:nvSpPr>
        <p:spPr>
          <a:xfrm>
            <a:off x="4810125" y="3295650"/>
            <a:ext cx="2381250" cy="400050"/>
          </a:xfrm>
          <a:prstGeom prst="rect">
            <a:avLst/>
          </a:prstGeom>
          <a:noFill/>
          <a:ln w="0">
            <a:noFill/>
            <a:prstDash val="solid"/>
          </a:ln>
        </p:spPr>
        <p:txBody>
          <a:bodyPr wrap="square" lIns="0" tIns="0" rIns="0" bIns="0" anchor="t">
            <a:normAutofit/>
          </a:bodyPr>
          <a:lstStyle/>
          <a:p>
            <a:pPr algn="ctr">
              <a:defRPr sz="2100" b="1" i="0">
                <a:solidFill>
                  <a:srgbClr val="005B61"/>
                </a:solidFill>
                <a:latin typeface="Arial"/>
                <a:ea typeface="Arial"/>
                <a:cs typeface="Arial"/>
              </a:defRPr>
            </a:pPr>
            <a:r>
              <a:rPr sz="2100" b="1" i="0">
                <a:solidFill>
                  <a:srgbClr val="005B61"/>
                </a:solidFill>
                <a:latin typeface="Arial"/>
                <a:ea typeface="Arial"/>
                <a:cs typeface="Arial"/>
              </a:rPr>
              <a:t>policy π(a | s)</a:t>
            </a:r>
          </a:p>
        </p:txBody>
      </p:sp>
      <p:sp>
        <p:nvSpPr>
          <p:cNvPr id="18" name="Rectangle 17">
            <a:extLst>
              <a:ext uri="{FF2B5EF4-FFF2-40B4-BE49-F238E27FC236}">
                <a16:creationId xmlns:a16="http://schemas.microsoft.com/office/drawing/2014/main" id="{00000008-000E-4000-8000-000000000000}"/>
              </a:ext>
            </a:extLst>
          </p:cNvPr>
          <p:cNvSpPr>
            <a:spLocks noGrp="1"/>
          </p:cNvSpPr>
          <p:nvPr/>
        </p:nvSpPr>
        <p:spPr>
          <a:xfrm>
            <a:off x="1238250" y="5429250"/>
            <a:ext cx="9715500" cy="552450"/>
          </a:xfrm>
          <a:prstGeom prst="rect">
            <a:avLst/>
          </a:prstGeom>
          <a:noFill/>
          <a:ln w="0">
            <a:noFill/>
            <a:prstDash val="solid"/>
          </a:ln>
        </p:spPr>
        <p:txBody>
          <a:bodyPr wrap="square" lIns="0" tIns="0" rIns="0" bIns="0" anchor="t">
            <a:normAutofit fontScale="97006" lnSpcReduction="10000"/>
          </a:bodyPr>
          <a:lstStyle/>
          <a:p>
            <a:pPr algn="ctr">
              <a:defRPr sz="2025" b="1" i="0">
                <a:solidFill>
                  <a:srgbClr val="102A43"/>
                </a:solidFill>
                <a:latin typeface="Arial"/>
                <a:ea typeface="Arial"/>
                <a:cs typeface="Arial"/>
              </a:defRPr>
            </a:pPr>
            <a:r>
              <a:rPr sz="2025" b="1" i="0">
                <a:solidFill>
                  <a:srgbClr val="102A43"/>
                </a:solidFill>
                <a:latin typeface="Arial"/>
                <a:ea typeface="Arial"/>
                <a:cs typeface="Arial"/>
              </a:rPr>
              <a:t>Actions can change tomorrow’s state. Logged data from one policy do not automatically validate another.</a:t>
            </a:r>
          </a:p>
        </p:txBody>
      </p:sp>
      <p:sp>
        <p:nvSpPr>
          <p:cNvPr id="19" name="Rectangle 18">
            <a:extLst>
              <a:ext uri="{FF2B5EF4-FFF2-40B4-BE49-F238E27FC236}">
                <a16:creationId xmlns:a16="http://schemas.microsoft.com/office/drawing/2014/main" id="{00000008-000F-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00000008-0011-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SL08</a:t>
            </a:r>
          </a:p>
        </p:txBody>
      </p:sp>
    </p:spTree>
    <p:extLst>
      <p:ext uri="{BB962C8B-B14F-4D97-AF65-F5344CB8AC3E}">
        <p14:creationId xmlns:p14="http://schemas.microsoft.com/office/powerpoint/2010/main" val="80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0000009-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POLICY OBJECTIVE</a:t>
            </a:r>
          </a:p>
        </p:txBody>
      </p:sp>
      <p:sp>
        <p:nvSpPr>
          <p:cNvPr id="2" name="Rectangle 1">
            <a:extLst>
              <a:ext uri="{FF2B5EF4-FFF2-40B4-BE49-F238E27FC236}">
                <a16:creationId xmlns:a16="http://schemas.microsoft.com/office/drawing/2014/main" id="{00000009-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09</a:t>
            </a:r>
          </a:p>
        </p:txBody>
      </p:sp>
      <p:sp>
        <p:nvSpPr>
          <p:cNvPr id="3" name="Rectangle 2">
            <a:extLst>
              <a:ext uri="{FF2B5EF4-FFF2-40B4-BE49-F238E27FC236}">
                <a16:creationId xmlns:a16="http://schemas.microsoft.com/office/drawing/2014/main" id="{00000009-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Return combines delayed rewards</a:t>
            </a:r>
          </a:p>
        </p:txBody>
      </p:sp>
      <p:sp>
        <p:nvSpPr>
          <p:cNvPr id="4" name="Rectangle 3">
            <a:extLst>
              <a:ext uri="{FF2B5EF4-FFF2-40B4-BE49-F238E27FC236}">
                <a16:creationId xmlns:a16="http://schemas.microsoft.com/office/drawing/2014/main" id="{00000009-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9-0005-4000-8000-000000000000}"/>
              </a:ext>
            </a:extLst>
          </p:cNvPr>
          <p:cNvSpPr>
            <a:spLocks noGrp="1"/>
          </p:cNvSpPr>
          <p:nvPr/>
        </p:nvSpPr>
        <p:spPr>
          <a:xfrm>
            <a:off x="1047750" y="1952625"/>
            <a:ext cx="10096500" cy="1143000"/>
          </a:xfrm>
          <a:prstGeom prst="rect">
            <a:avLst/>
          </a:prstGeom>
          <a:noFill/>
          <a:ln w="0">
            <a:noFill/>
            <a:prstDash val="solid"/>
          </a:ln>
        </p:spPr>
        <p:txBody>
          <a:bodyPr wrap="square" lIns="0" tIns="0" rIns="0" bIns="0" anchor="ctr">
            <a:normAutofit/>
          </a:bodyPr>
          <a:lstStyle/>
          <a:p>
            <a:pPr algn="ctr">
              <a:defRPr sz="4425" b="1" i="0">
                <a:solidFill>
                  <a:srgbClr val="102A43"/>
                </a:solidFill>
                <a:latin typeface="Arial"/>
                <a:ea typeface="Arial"/>
                <a:cs typeface="Arial"/>
              </a:defRPr>
            </a:pPr>
            <a:r>
              <a:rPr sz="4425" b="1" i="0">
                <a:solidFill>
                  <a:srgbClr val="102A43"/>
                </a:solidFill>
                <a:latin typeface="Arial"/>
                <a:ea typeface="Arial"/>
                <a:cs typeface="Arial"/>
              </a:rPr>
              <a:t>J(π) = Eπ [ Σₜ₌₀∞ γᵗ rₜ₊₁ ]</a:t>
            </a:r>
          </a:p>
        </p:txBody>
      </p:sp>
      <p:sp>
        <p:nvSpPr>
          <p:cNvPr id="6" name="Rectangle 5">
            <a:extLst>
              <a:ext uri="{FF2B5EF4-FFF2-40B4-BE49-F238E27FC236}">
                <a16:creationId xmlns:a16="http://schemas.microsoft.com/office/drawing/2014/main" id="{00000009-0006-4000-8000-000000000000}"/>
              </a:ext>
            </a:extLst>
          </p:cNvPr>
          <p:cNvSpPr>
            <a:spLocks noGrp="1"/>
          </p:cNvSpPr>
          <p:nvPr/>
        </p:nvSpPr>
        <p:spPr>
          <a:xfrm>
            <a:off x="4000500" y="3143250"/>
            <a:ext cx="4191000" cy="419100"/>
          </a:xfrm>
          <a:prstGeom prst="rect">
            <a:avLst/>
          </a:prstGeom>
          <a:noFill/>
          <a:ln w="0">
            <a:noFill/>
            <a:prstDash val="solid"/>
          </a:ln>
        </p:spPr>
        <p:txBody>
          <a:bodyPr wrap="square" lIns="0" tIns="0" rIns="0" bIns="0" anchor="t">
            <a:normAutofit/>
          </a:bodyPr>
          <a:lstStyle/>
          <a:p>
            <a:pPr algn="ctr">
              <a:defRPr sz="2250" b="1" i="0">
                <a:solidFill>
                  <a:srgbClr val="007C83"/>
                </a:solidFill>
                <a:latin typeface="Arial"/>
                <a:ea typeface="Arial"/>
                <a:cs typeface="Arial"/>
              </a:defRPr>
            </a:pPr>
            <a:r>
              <a:rPr sz="2250" b="1" i="0">
                <a:solidFill>
                  <a:srgbClr val="007C83"/>
                </a:solidFill>
                <a:latin typeface="Arial"/>
                <a:ea typeface="Arial"/>
                <a:cs typeface="Arial"/>
              </a:rPr>
              <a:t>0 ≤ γ &lt; 1</a:t>
            </a:r>
          </a:p>
        </p:txBody>
      </p:sp>
      <p:sp>
        <p:nvSpPr>
          <p:cNvPr id="7" name="Rectangle 6">
            <a:extLst>
              <a:ext uri="{FF2B5EF4-FFF2-40B4-BE49-F238E27FC236}">
                <a16:creationId xmlns:a16="http://schemas.microsoft.com/office/drawing/2014/main" id="{00000009-0007-4000-8000-000000000000}"/>
              </a:ext>
            </a:extLst>
          </p:cNvPr>
          <p:cNvSpPr>
            <a:spLocks noGrp="1"/>
          </p:cNvSpPr>
          <p:nvPr/>
        </p:nvSpPr>
        <p:spPr>
          <a:xfrm>
            <a:off x="2190750" y="3752850"/>
            <a:ext cx="7810500" cy="400050"/>
          </a:xfrm>
          <a:prstGeom prst="rect">
            <a:avLst/>
          </a:prstGeom>
          <a:noFill/>
          <a:ln w="0">
            <a:noFill/>
            <a:prstDash val="solid"/>
          </a:ln>
        </p:spPr>
        <p:txBody>
          <a:bodyPr wrap="square" lIns="0" tIns="0" rIns="0" bIns="0" anchor="t">
            <a:normAutofit/>
          </a:bodyPr>
          <a:lstStyle/>
          <a:p>
            <a:pPr algn="ctr">
              <a:defRPr sz="2100" b="0" i="0">
                <a:solidFill>
                  <a:srgbClr val="52606D"/>
                </a:solidFill>
                <a:latin typeface="Arial"/>
                <a:ea typeface="Arial"/>
                <a:cs typeface="Arial"/>
              </a:defRPr>
            </a:pPr>
            <a:r>
              <a:rPr sz="2100" b="0" i="0">
                <a:solidFill>
                  <a:srgbClr val="52606D"/>
                </a:solidFill>
                <a:latin typeface="Arial"/>
                <a:ea typeface="Arial"/>
                <a:cs typeface="Arial"/>
              </a:rPr>
              <a:t>expected discounted sum of subsequent rewards</a:t>
            </a:r>
          </a:p>
        </p:txBody>
      </p:sp>
      <p:sp>
        <p:nvSpPr>
          <p:cNvPr id="8" name="Rectangle 7">
            <a:extLst>
              <a:ext uri="{FF2B5EF4-FFF2-40B4-BE49-F238E27FC236}">
                <a16:creationId xmlns:a16="http://schemas.microsoft.com/office/drawing/2014/main" id="{00000009-0008-4000-8000-000000000000}"/>
              </a:ext>
            </a:extLst>
          </p:cNvPr>
          <p:cNvSpPr>
            <a:spLocks noGrp="1"/>
          </p:cNvSpPr>
          <p:nvPr/>
        </p:nvSpPr>
        <p:spPr>
          <a:xfrm>
            <a:off x="857250" y="4762500"/>
            <a:ext cx="3429000" cy="381000"/>
          </a:xfrm>
          <a:prstGeom prst="rect">
            <a:avLst/>
          </a:prstGeom>
          <a:noFill/>
          <a:ln w="0">
            <a:noFill/>
            <a:prstDash val="solid"/>
          </a:ln>
        </p:spPr>
        <p:txBody>
          <a:bodyPr wrap="square" lIns="0" tIns="0" rIns="0" bIns="0" anchor="t">
            <a:normAutofit fontScale="97626"/>
          </a:bodyPr>
          <a:lstStyle/>
          <a:p>
            <a:pPr algn="ctr">
              <a:defRPr sz="1875" b="0" i="0">
                <a:solidFill>
                  <a:srgbClr val="52606D"/>
                </a:solidFill>
                <a:latin typeface="Arial"/>
                <a:ea typeface="Arial"/>
                <a:cs typeface="Arial"/>
              </a:defRPr>
            </a:pPr>
            <a:r>
              <a:rPr sz="1875" b="0" i="0">
                <a:solidFill>
                  <a:srgbClr val="52606D"/>
                </a:solidFill>
                <a:latin typeface="Arial"/>
                <a:ea typeface="Arial"/>
                <a:cs typeface="Arial"/>
              </a:rPr>
              <a:t>more influence on near rewards</a:t>
            </a:r>
          </a:p>
        </p:txBody>
      </p:sp>
      <p:sp>
        <p:nvSpPr>
          <p:cNvPr id="9" name="Rectangle 8">
            <a:extLst>
              <a:ext uri="{FF2B5EF4-FFF2-40B4-BE49-F238E27FC236}">
                <a16:creationId xmlns:a16="http://schemas.microsoft.com/office/drawing/2014/main" id="{00000009-0009-4000-8000-000000000000}"/>
              </a:ext>
            </a:extLst>
          </p:cNvPr>
          <p:cNvSpPr>
            <a:spLocks noGrp="1"/>
          </p:cNvSpPr>
          <p:nvPr/>
        </p:nvSpPr>
        <p:spPr>
          <a:xfrm>
            <a:off x="2095500" y="5314950"/>
            <a:ext cx="8001000" cy="76200"/>
          </a:xfrm>
          <a:prstGeom prst="rect">
            <a:avLst/>
          </a:prstGeom>
          <a:solidFill>
            <a:srgbClr val="007C8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0000009-000A-4000-8000-000000000000}"/>
              </a:ext>
            </a:extLst>
          </p:cNvPr>
          <p:cNvSpPr>
            <a:spLocks noGrp="1"/>
          </p:cNvSpPr>
          <p:nvPr/>
        </p:nvSpPr>
        <p:spPr>
          <a:xfrm>
            <a:off x="2095500" y="5210175"/>
            <a:ext cx="38100" cy="285750"/>
          </a:xfrm>
          <a:prstGeom prst="rect">
            <a:avLst/>
          </a:prstGeom>
          <a:solidFill>
            <a:srgbClr val="102A4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0000009-000B-4000-8000-000000000000}"/>
              </a:ext>
            </a:extLst>
          </p:cNvPr>
          <p:cNvSpPr>
            <a:spLocks noGrp="1"/>
          </p:cNvSpPr>
          <p:nvPr/>
        </p:nvSpPr>
        <p:spPr>
          <a:xfrm>
            <a:off x="10058400" y="5210175"/>
            <a:ext cx="38100" cy="285750"/>
          </a:xfrm>
          <a:prstGeom prst="rect">
            <a:avLst/>
          </a:prstGeom>
          <a:solidFill>
            <a:srgbClr val="102A4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0000009-000C-4000-8000-000000000000}"/>
              </a:ext>
            </a:extLst>
          </p:cNvPr>
          <p:cNvSpPr>
            <a:spLocks noGrp="1"/>
          </p:cNvSpPr>
          <p:nvPr/>
        </p:nvSpPr>
        <p:spPr>
          <a:xfrm>
            <a:off x="1714500" y="5600700"/>
            <a:ext cx="1143000" cy="285750"/>
          </a:xfrm>
          <a:prstGeom prst="rect">
            <a:avLst/>
          </a:prstGeom>
          <a:noFill/>
          <a:ln w="0">
            <a:noFill/>
            <a:prstDash val="solid"/>
          </a:ln>
        </p:spPr>
        <p:txBody>
          <a:bodyPr wrap="square" lIns="0" tIns="0" rIns="0" bIns="0" anchor="t">
            <a:normAutofit/>
          </a:bodyPr>
          <a:lstStyle/>
          <a:p>
            <a:pPr algn="ctr">
              <a:defRPr sz="1650" b="1" i="0">
                <a:solidFill>
                  <a:srgbClr val="007C83"/>
                </a:solidFill>
                <a:latin typeface="Arial"/>
                <a:ea typeface="Arial"/>
                <a:cs typeface="Arial"/>
              </a:defRPr>
            </a:pPr>
            <a:r>
              <a:rPr sz="1650" b="1" i="0">
                <a:solidFill>
                  <a:srgbClr val="007C83"/>
                </a:solidFill>
                <a:latin typeface="Arial"/>
                <a:ea typeface="Arial"/>
                <a:cs typeface="Arial"/>
              </a:rPr>
              <a:t>γ → 0</a:t>
            </a:r>
          </a:p>
        </p:txBody>
      </p:sp>
      <p:sp>
        <p:nvSpPr>
          <p:cNvPr id="13" name="Rectangle 12">
            <a:extLst>
              <a:ext uri="{FF2B5EF4-FFF2-40B4-BE49-F238E27FC236}">
                <a16:creationId xmlns:a16="http://schemas.microsoft.com/office/drawing/2014/main" id="{00000009-000D-4000-8000-000000000000}"/>
              </a:ext>
            </a:extLst>
          </p:cNvPr>
          <p:cNvSpPr>
            <a:spLocks noGrp="1"/>
          </p:cNvSpPr>
          <p:nvPr/>
        </p:nvSpPr>
        <p:spPr>
          <a:xfrm>
            <a:off x="9334500" y="5600700"/>
            <a:ext cx="1143000" cy="285750"/>
          </a:xfrm>
          <a:prstGeom prst="rect">
            <a:avLst/>
          </a:prstGeom>
          <a:noFill/>
          <a:ln w="0">
            <a:noFill/>
            <a:prstDash val="solid"/>
          </a:ln>
        </p:spPr>
        <p:txBody>
          <a:bodyPr wrap="square" lIns="0" tIns="0" rIns="0" bIns="0" anchor="t">
            <a:normAutofit/>
          </a:bodyPr>
          <a:lstStyle/>
          <a:p>
            <a:pPr algn="ctr">
              <a:defRPr sz="1650" b="1" i="0">
                <a:solidFill>
                  <a:srgbClr val="007C83"/>
                </a:solidFill>
                <a:latin typeface="Arial"/>
                <a:ea typeface="Arial"/>
                <a:cs typeface="Arial"/>
              </a:defRPr>
            </a:pPr>
            <a:r>
              <a:rPr sz="1650" b="1" i="0">
                <a:solidFill>
                  <a:srgbClr val="007C83"/>
                </a:solidFill>
                <a:latin typeface="Arial"/>
                <a:ea typeface="Arial"/>
                <a:cs typeface="Arial"/>
              </a:rPr>
              <a:t>γ → 1</a:t>
            </a:r>
          </a:p>
        </p:txBody>
      </p:sp>
      <p:sp>
        <p:nvSpPr>
          <p:cNvPr id="14" name="Rectangle 13">
            <a:extLst>
              <a:ext uri="{FF2B5EF4-FFF2-40B4-BE49-F238E27FC236}">
                <a16:creationId xmlns:a16="http://schemas.microsoft.com/office/drawing/2014/main" id="{00000009-000E-4000-8000-000000000000}"/>
              </a:ext>
            </a:extLst>
          </p:cNvPr>
          <p:cNvSpPr>
            <a:spLocks noGrp="1"/>
          </p:cNvSpPr>
          <p:nvPr/>
        </p:nvSpPr>
        <p:spPr>
          <a:xfrm>
            <a:off x="7905750" y="4762500"/>
            <a:ext cx="3429000" cy="381000"/>
          </a:xfrm>
          <a:prstGeom prst="rect">
            <a:avLst/>
          </a:prstGeom>
          <a:noFill/>
          <a:ln w="0">
            <a:noFill/>
            <a:prstDash val="solid"/>
          </a:ln>
        </p:spPr>
        <p:txBody>
          <a:bodyPr wrap="square" lIns="0" tIns="0" rIns="0" bIns="0" anchor="t">
            <a:normAutofit fontScale="89562" lnSpcReduction="20000"/>
          </a:bodyPr>
          <a:lstStyle/>
          <a:p>
            <a:pPr algn="ctr">
              <a:defRPr sz="1875" b="0" i="0">
                <a:solidFill>
                  <a:srgbClr val="52606D"/>
                </a:solidFill>
                <a:latin typeface="Arial"/>
                <a:ea typeface="Arial"/>
                <a:cs typeface="Arial"/>
              </a:defRPr>
            </a:pPr>
            <a:r>
              <a:rPr sz="1875" b="0" i="0">
                <a:solidFill>
                  <a:srgbClr val="52606D"/>
                </a:solidFill>
                <a:latin typeface="Arial"/>
                <a:ea typeface="Arial"/>
                <a:cs typeface="Arial"/>
              </a:rPr>
              <a:t>later rewards gain numerical influence</a:t>
            </a:r>
          </a:p>
        </p:txBody>
      </p:sp>
      <p:sp>
        <p:nvSpPr>
          <p:cNvPr id="15" name="Rectangle 14">
            <a:extLst>
              <a:ext uri="{FF2B5EF4-FFF2-40B4-BE49-F238E27FC236}">
                <a16:creationId xmlns:a16="http://schemas.microsoft.com/office/drawing/2014/main" id="{00000009-000F-4000-8000-000000000000}"/>
              </a:ext>
            </a:extLst>
          </p:cNvPr>
          <p:cNvSpPr>
            <a:spLocks noGrp="1"/>
          </p:cNvSpPr>
          <p:nvPr/>
        </p:nvSpPr>
        <p:spPr>
          <a:xfrm>
            <a:off x="3857625" y="5810250"/>
            <a:ext cx="4476750" cy="266700"/>
          </a:xfrm>
          <a:prstGeom prst="rect">
            <a:avLst/>
          </a:prstGeom>
          <a:noFill/>
          <a:ln w="0">
            <a:noFill/>
            <a:prstDash val="solid"/>
          </a:ln>
        </p:spPr>
        <p:txBody>
          <a:bodyPr wrap="square" lIns="0" tIns="0" rIns="0" bIns="0" anchor="t">
            <a:normAutofit fontScale="97839"/>
          </a:bodyPr>
          <a:lstStyle/>
          <a:p>
            <a:pPr algn="ctr">
              <a:defRPr sz="1650" b="1" i="0">
                <a:solidFill>
                  <a:srgbClr val="C64B2D"/>
                </a:solidFill>
                <a:latin typeface="Arial"/>
                <a:ea typeface="Arial"/>
                <a:cs typeface="Arial"/>
              </a:defRPr>
            </a:pPr>
            <a:r>
              <a:rPr sz="1650" b="1" i="0">
                <a:solidFill>
                  <a:srgbClr val="C64B2D"/>
                </a:solidFill>
                <a:latin typeface="Arial"/>
                <a:ea typeface="Arial"/>
                <a:cs typeface="Arial"/>
              </a:rPr>
              <a:t>γ does not settle reward design or safety.</a:t>
            </a:r>
          </a:p>
        </p:txBody>
      </p:sp>
      <p:sp>
        <p:nvSpPr>
          <p:cNvPr id="16" name="Rectangle 15">
            <a:extLst>
              <a:ext uri="{FF2B5EF4-FFF2-40B4-BE49-F238E27FC236}">
                <a16:creationId xmlns:a16="http://schemas.microsoft.com/office/drawing/2014/main" id="{00000009-0010-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0000009-0012-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SL09</a:t>
            </a:r>
          </a:p>
        </p:txBody>
      </p:sp>
    </p:spTree>
    <p:extLst>
      <p:ext uri="{BB962C8B-B14F-4D97-AF65-F5344CB8AC3E}">
        <p14:creationId xmlns:p14="http://schemas.microsoft.com/office/powerpoint/2010/main" val="9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000000A-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INDEPENDENT CLASSIFICATION · EXERCISES A–C</a:t>
            </a:r>
          </a:p>
        </p:txBody>
      </p:sp>
      <p:sp>
        <p:nvSpPr>
          <p:cNvPr id="2" name="Rectangle 1">
            <a:extLst>
              <a:ext uri="{FF2B5EF4-FFF2-40B4-BE49-F238E27FC236}">
                <a16:creationId xmlns:a16="http://schemas.microsoft.com/office/drawing/2014/main" id="{0000000A-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10</a:t>
            </a:r>
          </a:p>
        </p:txBody>
      </p:sp>
      <p:sp>
        <p:nvSpPr>
          <p:cNvPr id="3" name="Rectangle 2">
            <a:extLst>
              <a:ext uri="{FF2B5EF4-FFF2-40B4-BE49-F238E27FC236}">
                <a16:creationId xmlns:a16="http://schemas.microsoft.com/office/drawing/2014/main" id="{0000000A-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Defend a formulation</a:t>
            </a:r>
          </a:p>
        </p:txBody>
      </p:sp>
      <p:sp>
        <p:nvSpPr>
          <p:cNvPr id="4" name="Rectangle 3">
            <a:extLst>
              <a:ext uri="{FF2B5EF4-FFF2-40B4-BE49-F238E27FC236}">
                <a16:creationId xmlns:a16="http://schemas.microsoft.com/office/drawing/2014/main" id="{0000000A-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A-0005-4000-8000-000000000000}"/>
              </a:ext>
            </a:extLst>
          </p:cNvPr>
          <p:cNvSpPr>
            <a:spLocks noGrp="1"/>
          </p:cNvSpPr>
          <p:nvPr/>
        </p:nvSpPr>
        <p:spPr>
          <a:xfrm>
            <a:off x="685800" y="1762125"/>
            <a:ext cx="5715000" cy="419100"/>
          </a:xfrm>
          <a:prstGeom prst="rect">
            <a:avLst/>
          </a:prstGeom>
          <a:noFill/>
          <a:ln w="0">
            <a:noFill/>
            <a:prstDash val="solid"/>
          </a:ln>
        </p:spPr>
        <p:txBody>
          <a:bodyPr wrap="square" lIns="0" tIns="0" rIns="0" bIns="0" anchor="t">
            <a:normAutofit/>
          </a:bodyPr>
          <a:lstStyle/>
          <a:p>
            <a:pPr algn="l">
              <a:defRPr sz="2250" b="1" i="0">
                <a:solidFill>
                  <a:srgbClr val="102A43"/>
                </a:solidFill>
                <a:latin typeface="Arial"/>
                <a:ea typeface="Arial"/>
                <a:cs typeface="Arial"/>
              </a:defRPr>
            </a:pPr>
            <a:r>
              <a:rPr sz="2250" b="1" i="0">
                <a:solidFill>
                  <a:srgbClr val="102A43"/>
                </a:solidFill>
                <a:latin typeface="Arial"/>
                <a:ea typeface="Arial"/>
                <a:cs typeface="Arial"/>
              </a:rPr>
              <a:t>For each scenario, name:</a:t>
            </a:r>
          </a:p>
        </p:txBody>
      </p:sp>
      <p:sp>
        <p:nvSpPr>
          <p:cNvPr id="6" name="Rectangle 5">
            <a:extLst>
              <a:ext uri="{FF2B5EF4-FFF2-40B4-BE49-F238E27FC236}">
                <a16:creationId xmlns:a16="http://schemas.microsoft.com/office/drawing/2014/main" id="{0000000A-0006-4000-8000-000000000000}"/>
              </a:ext>
            </a:extLst>
          </p:cNvPr>
          <p:cNvSpPr>
            <a:spLocks noGrp="1"/>
          </p:cNvSpPr>
          <p:nvPr/>
        </p:nvSpPr>
        <p:spPr>
          <a:xfrm>
            <a:off x="685800" y="2476500"/>
            <a:ext cx="552450" cy="514350"/>
          </a:xfrm>
          <a:prstGeom prst="rect">
            <a:avLst/>
          </a:prstGeom>
          <a:noFill/>
          <a:ln w="0">
            <a:noFill/>
            <a:prstDash val="solid"/>
          </a:ln>
        </p:spPr>
        <p:txBody>
          <a:bodyPr wrap="square" lIns="0" tIns="0" rIns="0" bIns="0" anchor="ctr">
            <a:normAutofit/>
          </a:bodyPr>
          <a:lstStyle/>
          <a:p>
            <a:pPr algn="ctr">
              <a:defRPr sz="2850" b="1" i="0">
                <a:solidFill>
                  <a:srgbClr val="007C83"/>
                </a:solidFill>
                <a:latin typeface="Arial"/>
                <a:ea typeface="Arial"/>
                <a:cs typeface="Arial"/>
              </a:defRPr>
            </a:pPr>
            <a:r>
              <a:rPr sz="2850" b="1" i="0">
                <a:solidFill>
                  <a:srgbClr val="007C83"/>
                </a:solidFill>
                <a:latin typeface="Arial"/>
                <a:ea typeface="Arial"/>
                <a:cs typeface="Arial"/>
              </a:rPr>
              <a:t>1</a:t>
            </a:r>
          </a:p>
        </p:txBody>
      </p:sp>
      <p:sp>
        <p:nvSpPr>
          <p:cNvPr id="7" name="Rectangle 6">
            <a:extLst>
              <a:ext uri="{FF2B5EF4-FFF2-40B4-BE49-F238E27FC236}">
                <a16:creationId xmlns:a16="http://schemas.microsoft.com/office/drawing/2014/main" id="{0000000A-0007-4000-8000-000000000000}"/>
              </a:ext>
            </a:extLst>
          </p:cNvPr>
          <p:cNvSpPr>
            <a:spLocks noGrp="1"/>
          </p:cNvSpPr>
          <p:nvPr/>
        </p:nvSpPr>
        <p:spPr>
          <a:xfrm>
            <a:off x="1428750" y="2686050"/>
            <a:ext cx="666750" cy="38100"/>
          </a:xfrm>
          <a:prstGeom prst="rect">
            <a:avLst/>
          </a:prstGeom>
          <a:solidFill>
            <a:srgbClr val="007C83"/>
          </a:solidFill>
          <a:ln w="0">
            <a:noFill/>
            <a:prstDash val="solid"/>
          </a:ln>
        </p:spPr>
        <p:txBody>
          <a:bodyPr/>
          <a:lstStyle/>
          <a:p>
            <a:endParaRPr lang="en-US"/>
          </a:p>
        </p:txBody>
      </p:sp>
      <p:sp>
        <p:nvSpPr>
          <p:cNvPr id="8" name="Rectangle 7">
            <a:extLst>
              <a:ext uri="{FF2B5EF4-FFF2-40B4-BE49-F238E27FC236}">
                <a16:creationId xmlns:a16="http://schemas.microsoft.com/office/drawing/2014/main" id="{0000000A-0008-4000-8000-000000000000}"/>
              </a:ext>
            </a:extLst>
          </p:cNvPr>
          <p:cNvSpPr>
            <a:spLocks noGrp="1"/>
          </p:cNvSpPr>
          <p:nvPr/>
        </p:nvSpPr>
        <p:spPr>
          <a:xfrm>
            <a:off x="2381250" y="2476500"/>
            <a:ext cx="6191250" cy="5143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Available signal</a:t>
            </a:r>
          </a:p>
        </p:txBody>
      </p:sp>
      <p:sp>
        <p:nvSpPr>
          <p:cNvPr id="9" name="Rectangle 8">
            <a:extLst>
              <a:ext uri="{FF2B5EF4-FFF2-40B4-BE49-F238E27FC236}">
                <a16:creationId xmlns:a16="http://schemas.microsoft.com/office/drawing/2014/main" id="{0000000A-0009-4000-8000-000000000000}"/>
              </a:ext>
            </a:extLst>
          </p:cNvPr>
          <p:cNvSpPr>
            <a:spLocks noGrp="1"/>
          </p:cNvSpPr>
          <p:nvPr/>
        </p:nvSpPr>
        <p:spPr>
          <a:xfrm>
            <a:off x="685800" y="3238500"/>
            <a:ext cx="552450" cy="514350"/>
          </a:xfrm>
          <a:prstGeom prst="rect">
            <a:avLst/>
          </a:prstGeom>
          <a:noFill/>
          <a:ln w="0">
            <a:noFill/>
            <a:prstDash val="solid"/>
          </a:ln>
        </p:spPr>
        <p:txBody>
          <a:bodyPr wrap="square" lIns="0" tIns="0" rIns="0" bIns="0" anchor="ctr">
            <a:normAutofit/>
          </a:bodyPr>
          <a:lstStyle/>
          <a:p>
            <a:pPr algn="ctr">
              <a:defRPr sz="2850" b="1" i="0">
                <a:solidFill>
                  <a:srgbClr val="007C83"/>
                </a:solidFill>
                <a:latin typeface="Arial"/>
                <a:ea typeface="Arial"/>
                <a:cs typeface="Arial"/>
              </a:defRPr>
            </a:pPr>
            <a:r>
              <a:rPr sz="2850" b="1" i="0">
                <a:solidFill>
                  <a:srgbClr val="007C83"/>
                </a:solidFill>
                <a:latin typeface="Arial"/>
                <a:ea typeface="Arial"/>
                <a:cs typeface="Arial"/>
              </a:rPr>
              <a:t>2</a:t>
            </a:r>
          </a:p>
        </p:txBody>
      </p:sp>
      <p:sp>
        <p:nvSpPr>
          <p:cNvPr id="10" name="Rectangle 9">
            <a:extLst>
              <a:ext uri="{FF2B5EF4-FFF2-40B4-BE49-F238E27FC236}">
                <a16:creationId xmlns:a16="http://schemas.microsoft.com/office/drawing/2014/main" id="{0000000A-000A-4000-8000-000000000000}"/>
              </a:ext>
            </a:extLst>
          </p:cNvPr>
          <p:cNvSpPr>
            <a:spLocks noGrp="1"/>
          </p:cNvSpPr>
          <p:nvPr/>
        </p:nvSpPr>
        <p:spPr>
          <a:xfrm>
            <a:off x="1428750" y="3448050"/>
            <a:ext cx="666750" cy="38100"/>
          </a:xfrm>
          <a:prstGeom prst="rect">
            <a:avLst/>
          </a:prstGeom>
          <a:solidFill>
            <a:srgbClr val="007C83"/>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000000A-000B-4000-8000-000000000000}"/>
              </a:ext>
            </a:extLst>
          </p:cNvPr>
          <p:cNvSpPr>
            <a:spLocks noGrp="1"/>
          </p:cNvSpPr>
          <p:nvPr/>
        </p:nvSpPr>
        <p:spPr>
          <a:xfrm>
            <a:off x="2381250" y="3238500"/>
            <a:ext cx="6191250" cy="5143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Goal</a:t>
            </a:r>
          </a:p>
        </p:txBody>
      </p:sp>
      <p:sp>
        <p:nvSpPr>
          <p:cNvPr id="12" name="Rectangle 11">
            <a:extLst>
              <a:ext uri="{FF2B5EF4-FFF2-40B4-BE49-F238E27FC236}">
                <a16:creationId xmlns:a16="http://schemas.microsoft.com/office/drawing/2014/main" id="{0000000A-000C-4000-8000-000000000000}"/>
              </a:ext>
            </a:extLst>
          </p:cNvPr>
          <p:cNvSpPr>
            <a:spLocks noGrp="1"/>
          </p:cNvSpPr>
          <p:nvPr/>
        </p:nvSpPr>
        <p:spPr>
          <a:xfrm>
            <a:off x="685800" y="4000500"/>
            <a:ext cx="552450" cy="514350"/>
          </a:xfrm>
          <a:prstGeom prst="rect">
            <a:avLst/>
          </a:prstGeom>
          <a:noFill/>
          <a:ln w="0">
            <a:noFill/>
            <a:prstDash val="solid"/>
          </a:ln>
        </p:spPr>
        <p:txBody>
          <a:bodyPr wrap="square" lIns="0" tIns="0" rIns="0" bIns="0" anchor="ctr">
            <a:normAutofit/>
          </a:bodyPr>
          <a:lstStyle/>
          <a:p>
            <a:pPr algn="ctr">
              <a:defRPr sz="2850" b="1" i="0">
                <a:solidFill>
                  <a:srgbClr val="007C83"/>
                </a:solidFill>
                <a:latin typeface="Arial"/>
                <a:ea typeface="Arial"/>
                <a:cs typeface="Arial"/>
              </a:defRPr>
            </a:pPr>
            <a:r>
              <a:rPr sz="2850" b="1" i="0">
                <a:solidFill>
                  <a:srgbClr val="007C83"/>
                </a:solidFill>
                <a:latin typeface="Arial"/>
                <a:ea typeface="Arial"/>
                <a:cs typeface="Arial"/>
              </a:rPr>
              <a:t>3</a:t>
            </a:r>
          </a:p>
        </p:txBody>
      </p:sp>
      <p:sp>
        <p:nvSpPr>
          <p:cNvPr id="13" name="Rectangle 12">
            <a:extLst>
              <a:ext uri="{FF2B5EF4-FFF2-40B4-BE49-F238E27FC236}">
                <a16:creationId xmlns:a16="http://schemas.microsoft.com/office/drawing/2014/main" id="{0000000A-000D-4000-8000-000000000000}"/>
              </a:ext>
            </a:extLst>
          </p:cNvPr>
          <p:cNvSpPr>
            <a:spLocks noGrp="1"/>
          </p:cNvSpPr>
          <p:nvPr/>
        </p:nvSpPr>
        <p:spPr>
          <a:xfrm>
            <a:off x="1428750" y="4210050"/>
            <a:ext cx="666750" cy="38100"/>
          </a:xfrm>
          <a:prstGeom prst="rect">
            <a:avLst/>
          </a:prstGeom>
          <a:solidFill>
            <a:srgbClr val="007C8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000000A-000E-4000-8000-000000000000}"/>
              </a:ext>
            </a:extLst>
          </p:cNvPr>
          <p:cNvSpPr>
            <a:spLocks noGrp="1"/>
          </p:cNvSpPr>
          <p:nvPr/>
        </p:nvSpPr>
        <p:spPr>
          <a:xfrm>
            <a:off x="2381250" y="4000500"/>
            <a:ext cx="6191250" cy="5143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Plausible paradigm</a:t>
            </a:r>
          </a:p>
        </p:txBody>
      </p:sp>
      <p:sp>
        <p:nvSpPr>
          <p:cNvPr id="15" name="Rectangle 14">
            <a:extLst>
              <a:ext uri="{FF2B5EF4-FFF2-40B4-BE49-F238E27FC236}">
                <a16:creationId xmlns:a16="http://schemas.microsoft.com/office/drawing/2014/main" id="{0000000A-000F-4000-8000-000000000000}"/>
              </a:ext>
            </a:extLst>
          </p:cNvPr>
          <p:cNvSpPr>
            <a:spLocks noGrp="1"/>
          </p:cNvSpPr>
          <p:nvPr/>
        </p:nvSpPr>
        <p:spPr>
          <a:xfrm>
            <a:off x="685800" y="4762500"/>
            <a:ext cx="552450" cy="514350"/>
          </a:xfrm>
          <a:prstGeom prst="rect">
            <a:avLst/>
          </a:prstGeom>
          <a:noFill/>
          <a:ln w="0">
            <a:noFill/>
            <a:prstDash val="solid"/>
          </a:ln>
        </p:spPr>
        <p:txBody>
          <a:bodyPr wrap="square" lIns="0" tIns="0" rIns="0" bIns="0" anchor="ctr">
            <a:normAutofit/>
          </a:bodyPr>
          <a:lstStyle/>
          <a:p>
            <a:pPr algn="ctr">
              <a:defRPr sz="2850" b="1" i="0">
                <a:solidFill>
                  <a:srgbClr val="007C83"/>
                </a:solidFill>
                <a:latin typeface="Arial"/>
                <a:ea typeface="Arial"/>
                <a:cs typeface="Arial"/>
              </a:defRPr>
            </a:pPr>
            <a:r>
              <a:rPr sz="2850" b="1" i="0">
                <a:solidFill>
                  <a:srgbClr val="007C83"/>
                </a:solidFill>
                <a:latin typeface="Arial"/>
                <a:ea typeface="Arial"/>
                <a:cs typeface="Arial"/>
              </a:rPr>
              <a:t>4</a:t>
            </a:r>
          </a:p>
        </p:txBody>
      </p:sp>
      <p:sp>
        <p:nvSpPr>
          <p:cNvPr id="16" name="Rectangle 15">
            <a:extLst>
              <a:ext uri="{FF2B5EF4-FFF2-40B4-BE49-F238E27FC236}">
                <a16:creationId xmlns:a16="http://schemas.microsoft.com/office/drawing/2014/main" id="{0000000A-0010-4000-8000-000000000000}"/>
              </a:ext>
            </a:extLst>
          </p:cNvPr>
          <p:cNvSpPr>
            <a:spLocks noGrp="1"/>
          </p:cNvSpPr>
          <p:nvPr/>
        </p:nvSpPr>
        <p:spPr>
          <a:xfrm>
            <a:off x="1428750" y="4972050"/>
            <a:ext cx="666750" cy="38100"/>
          </a:xfrm>
          <a:prstGeom prst="rect">
            <a:avLst/>
          </a:prstGeom>
          <a:solidFill>
            <a:srgbClr val="007C8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0000000A-0011-4000-8000-000000000000}"/>
              </a:ext>
            </a:extLst>
          </p:cNvPr>
          <p:cNvSpPr>
            <a:spLocks noGrp="1"/>
          </p:cNvSpPr>
          <p:nvPr/>
        </p:nvSpPr>
        <p:spPr>
          <a:xfrm>
            <a:off x="2381250" y="4762500"/>
            <a:ext cx="6191250" cy="5143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One missing fact</a:t>
            </a:r>
          </a:p>
        </p:txBody>
      </p:sp>
      <p:sp>
        <p:nvSpPr>
          <p:cNvPr id="18" name="Rectangle 17">
            <a:extLst>
              <a:ext uri="{FF2B5EF4-FFF2-40B4-BE49-F238E27FC236}">
                <a16:creationId xmlns:a16="http://schemas.microsoft.com/office/drawing/2014/main" id="{0000000A-0012-4000-8000-000000000000}"/>
              </a:ext>
            </a:extLst>
          </p:cNvPr>
          <p:cNvSpPr>
            <a:spLocks noGrp="1"/>
          </p:cNvSpPr>
          <p:nvPr/>
        </p:nvSpPr>
        <p:spPr>
          <a:xfrm>
            <a:off x="8858250" y="2190750"/>
            <a:ext cx="2476500" cy="2952750"/>
          </a:xfrm>
          <a:prstGeom prst="rect">
            <a:avLst/>
          </a:prstGeom>
          <a:solidFill>
            <a:srgbClr val="D9F0E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0000000A-0013-4000-8000-000000000000}"/>
              </a:ext>
            </a:extLst>
          </p:cNvPr>
          <p:cNvSpPr>
            <a:spLocks noGrp="1"/>
          </p:cNvSpPr>
          <p:nvPr/>
        </p:nvSpPr>
        <p:spPr>
          <a:xfrm>
            <a:off x="9096375" y="2457450"/>
            <a:ext cx="2000250" cy="609600"/>
          </a:xfrm>
          <a:prstGeom prst="rect">
            <a:avLst/>
          </a:prstGeom>
          <a:noFill/>
          <a:ln w="0">
            <a:noFill/>
            <a:prstDash val="solid"/>
          </a:ln>
        </p:spPr>
        <p:txBody>
          <a:bodyPr wrap="square" lIns="0" tIns="0" rIns="0" bIns="0" anchor="t">
            <a:normAutofit/>
          </a:bodyPr>
          <a:lstStyle/>
          <a:p>
            <a:pPr algn="ctr">
              <a:defRPr sz="3900" b="1" i="0">
                <a:solidFill>
                  <a:srgbClr val="005B61"/>
                </a:solidFill>
                <a:latin typeface="Arial"/>
                <a:ea typeface="Arial"/>
                <a:cs typeface="Arial"/>
              </a:defRPr>
            </a:pPr>
            <a:r>
              <a:rPr sz="3900" b="1" i="0">
                <a:solidFill>
                  <a:srgbClr val="005B61"/>
                </a:solidFill>
                <a:latin typeface="Arial"/>
                <a:ea typeface="Arial"/>
                <a:cs typeface="Arial"/>
              </a:rPr>
              <a:t>5 min</a:t>
            </a:r>
          </a:p>
        </p:txBody>
      </p:sp>
      <p:sp>
        <p:nvSpPr>
          <p:cNvPr id="20" name="Rectangle 19">
            <a:extLst>
              <a:ext uri="{FF2B5EF4-FFF2-40B4-BE49-F238E27FC236}">
                <a16:creationId xmlns:a16="http://schemas.microsoft.com/office/drawing/2014/main" id="{0000000A-0014-4000-8000-000000000000}"/>
              </a:ext>
            </a:extLst>
          </p:cNvPr>
          <p:cNvSpPr>
            <a:spLocks noGrp="1"/>
          </p:cNvSpPr>
          <p:nvPr/>
        </p:nvSpPr>
        <p:spPr>
          <a:xfrm>
            <a:off x="9096375" y="3067050"/>
            <a:ext cx="2000250" cy="361950"/>
          </a:xfrm>
          <a:prstGeom prst="rect">
            <a:avLst/>
          </a:prstGeom>
          <a:noFill/>
          <a:ln w="0">
            <a:noFill/>
            <a:prstDash val="solid"/>
          </a:ln>
        </p:spPr>
        <p:txBody>
          <a:bodyPr wrap="square" lIns="0" tIns="0" rIns="0" bIns="0" anchor="t">
            <a:normAutofit/>
          </a:bodyPr>
          <a:lstStyle/>
          <a:p>
            <a:pPr algn="ctr">
              <a:defRPr sz="2025" b="1" i="0">
                <a:solidFill>
                  <a:srgbClr val="102A43"/>
                </a:solidFill>
                <a:latin typeface="Arial"/>
                <a:ea typeface="Arial"/>
                <a:cs typeface="Arial"/>
              </a:defRPr>
            </a:pPr>
            <a:r>
              <a:rPr sz="2025" b="1" i="0">
                <a:solidFill>
                  <a:srgbClr val="102A43"/>
                </a:solidFill>
                <a:latin typeface="Arial"/>
                <a:ea typeface="Arial"/>
                <a:cs typeface="Arial"/>
              </a:rPr>
              <a:t>alone</a:t>
            </a:r>
          </a:p>
        </p:txBody>
      </p:sp>
      <p:sp>
        <p:nvSpPr>
          <p:cNvPr id="21" name="Rectangle 20">
            <a:extLst>
              <a:ext uri="{FF2B5EF4-FFF2-40B4-BE49-F238E27FC236}">
                <a16:creationId xmlns:a16="http://schemas.microsoft.com/office/drawing/2014/main" id="{0000000A-0015-4000-8000-000000000000}"/>
              </a:ext>
            </a:extLst>
          </p:cNvPr>
          <p:cNvSpPr>
            <a:spLocks noGrp="1"/>
          </p:cNvSpPr>
          <p:nvPr/>
        </p:nvSpPr>
        <p:spPr>
          <a:xfrm>
            <a:off x="9334500" y="3638550"/>
            <a:ext cx="1524000" cy="28575"/>
          </a:xfrm>
          <a:prstGeom prst="rect">
            <a:avLst/>
          </a:prstGeom>
          <a:solidFill>
            <a:srgbClr val="007C83"/>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0000000A-0016-4000-8000-000000000000}"/>
              </a:ext>
            </a:extLst>
          </p:cNvPr>
          <p:cNvSpPr>
            <a:spLocks noGrp="1"/>
          </p:cNvSpPr>
          <p:nvPr/>
        </p:nvSpPr>
        <p:spPr>
          <a:xfrm>
            <a:off x="9096375" y="3886200"/>
            <a:ext cx="2000250" cy="762000"/>
          </a:xfrm>
          <a:prstGeom prst="rect">
            <a:avLst/>
          </a:prstGeom>
          <a:noFill/>
          <a:ln w="0">
            <a:noFill/>
            <a:prstDash val="solid"/>
          </a:ln>
        </p:spPr>
        <p:txBody>
          <a:bodyPr wrap="square" lIns="0" tIns="0" rIns="0" bIns="0" anchor="t">
            <a:normAutofit/>
          </a:bodyPr>
          <a:lstStyle/>
          <a:p>
            <a:pPr algn="ctr">
              <a:defRPr sz="2175" b="1" i="0">
                <a:solidFill>
                  <a:srgbClr val="102A43"/>
                </a:solidFill>
                <a:latin typeface="Arial"/>
                <a:ea typeface="Arial"/>
                <a:cs typeface="Arial"/>
              </a:defRPr>
            </a:pPr>
            <a:r>
              <a:rPr sz="2175" b="1" i="0">
                <a:solidFill>
                  <a:srgbClr val="102A43"/>
                </a:solidFill>
                <a:latin typeface="Arial"/>
                <a:ea typeface="Arial"/>
                <a:cs typeface="Arial"/>
              </a:rPr>
              <a:t>then peer</a:t>
            </a:r>
          </a:p>
          <a:p>
            <a:pPr algn="ctr">
              <a:defRPr sz="2175" b="1" i="0">
                <a:solidFill>
                  <a:srgbClr val="102A43"/>
                </a:solidFill>
                <a:latin typeface="Arial"/>
                <a:ea typeface="Arial"/>
                <a:cs typeface="Arial"/>
              </a:defRPr>
            </a:pPr>
            <a:r>
              <a:rPr sz="2175" b="1" i="0">
                <a:solidFill>
                  <a:srgbClr val="102A43"/>
                </a:solidFill>
                <a:latin typeface="Arial"/>
                <a:ea typeface="Arial"/>
                <a:cs typeface="Arial"/>
              </a:rPr>
              <a:t>critique</a:t>
            </a:r>
          </a:p>
        </p:txBody>
      </p:sp>
      <p:sp>
        <p:nvSpPr>
          <p:cNvPr id="23" name="Rectangle 22">
            <a:extLst>
              <a:ext uri="{FF2B5EF4-FFF2-40B4-BE49-F238E27FC236}">
                <a16:creationId xmlns:a16="http://schemas.microsoft.com/office/drawing/2014/main" id="{0000000A-0017-4000-8000-000000000000}"/>
              </a:ext>
            </a:extLst>
          </p:cNvPr>
          <p:cNvSpPr>
            <a:spLocks noGrp="1"/>
          </p:cNvSpPr>
          <p:nvPr/>
        </p:nvSpPr>
        <p:spPr>
          <a:xfrm>
            <a:off x="1762125" y="5619750"/>
            <a:ext cx="8667750" cy="419100"/>
          </a:xfrm>
          <a:prstGeom prst="rect">
            <a:avLst/>
          </a:prstGeom>
          <a:noFill/>
          <a:ln w="0">
            <a:noFill/>
            <a:prstDash val="solid"/>
          </a:ln>
        </p:spPr>
        <p:txBody>
          <a:bodyPr wrap="square" lIns="0" tIns="0" rIns="0" bIns="0" anchor="t">
            <a:normAutofit fontScale="97475"/>
          </a:bodyPr>
          <a:lstStyle/>
          <a:p>
            <a:pPr algn="ctr">
              <a:defRPr sz="1950" b="0" i="1">
                <a:solidFill>
                  <a:srgbClr val="52606D"/>
                </a:solidFill>
                <a:latin typeface="Arial"/>
                <a:ea typeface="Arial"/>
                <a:cs typeface="Arial"/>
              </a:defRPr>
            </a:pPr>
            <a:r>
              <a:rPr sz="1950" b="0" i="1">
                <a:solidFill>
                  <a:srgbClr val="52606D"/>
                </a:solidFill>
                <a:latin typeface="Arial"/>
                <a:ea typeface="Arial"/>
                <a:cs typeface="Arial"/>
              </a:rPr>
              <a:t>More than one formulation may be defensible under different evidence.</a:t>
            </a:r>
          </a:p>
        </p:txBody>
      </p:sp>
      <p:sp>
        <p:nvSpPr>
          <p:cNvPr id="24" name="Rectangle 23">
            <a:extLst>
              <a:ext uri="{FF2B5EF4-FFF2-40B4-BE49-F238E27FC236}">
                <a16:creationId xmlns:a16="http://schemas.microsoft.com/office/drawing/2014/main" id="{0000000A-0018-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0000000A-001A-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SL10</a:t>
            </a:r>
          </a:p>
        </p:txBody>
      </p:sp>
    </p:spTree>
    <p:extLst>
      <p:ext uri="{BB962C8B-B14F-4D97-AF65-F5344CB8AC3E}">
        <p14:creationId xmlns:p14="http://schemas.microsoft.com/office/powerpoint/2010/main" val="10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000000B-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DEVICE LOG · INVENTED NON-IDENTIFYING EXAMPLE</a:t>
            </a:r>
          </a:p>
        </p:txBody>
      </p:sp>
      <p:sp>
        <p:nvSpPr>
          <p:cNvPr id="2" name="Rectangle 1">
            <a:extLst>
              <a:ext uri="{FF2B5EF4-FFF2-40B4-BE49-F238E27FC236}">
                <a16:creationId xmlns:a16="http://schemas.microsoft.com/office/drawing/2014/main" id="{0000000B-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11</a:t>
            </a:r>
          </a:p>
        </p:txBody>
      </p:sp>
      <p:sp>
        <p:nvSpPr>
          <p:cNvPr id="3" name="Rectangle 2">
            <a:extLst>
              <a:ext uri="{FF2B5EF4-FFF2-40B4-BE49-F238E27FC236}">
                <a16:creationId xmlns:a16="http://schemas.microsoft.com/office/drawing/2014/main" id="{0000000B-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Same case, different question</a:t>
            </a:r>
          </a:p>
        </p:txBody>
      </p:sp>
      <p:sp>
        <p:nvSpPr>
          <p:cNvPr id="4" name="Rectangle 3">
            <a:extLst>
              <a:ext uri="{FF2B5EF4-FFF2-40B4-BE49-F238E27FC236}">
                <a16:creationId xmlns:a16="http://schemas.microsoft.com/office/drawing/2014/main" id="{0000000B-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graphicFrame>
        <p:nvGraphicFramePr>
          <p:cNvPr id="14" name="Table 13"/>
          <p:cNvGraphicFramePr/>
          <p:nvPr/>
        </p:nvGraphicFramePr>
        <p:xfrm>
          <a:off x="571500" y="1809750"/>
          <a:ext cx="11049000" cy="3333752"/>
        </p:xfrm>
        <a:graphic>
          <a:graphicData uri="http://schemas.openxmlformats.org/drawingml/2006/table">
            <a:tbl>
              <a:tblPr firstRow="1"/>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833438">
                <a:tc>
                  <a:txBody>
                    <a:bodyPr/>
                    <a:lstStyle/>
                    <a:p>
                      <a:r>
                        <a:rPr sz="1500" b="1">
                          <a:solidFill>
                            <a:srgbClr val="FFFFFF"/>
                          </a:solidFill>
                        </a:rPr>
                        <a:t>Paradigm</a:t>
                      </a:r>
                    </a:p>
                  </a:txBody>
                  <a:tcPr>
                    <a:solidFill>
                      <a:srgbClr val="102A43"/>
                    </a:solidFill>
                  </a:tcPr>
                </a:tc>
                <a:tc>
                  <a:txBody>
                    <a:bodyPr/>
                    <a:lstStyle/>
                    <a:p>
                      <a:r>
                        <a:rPr sz="1500" b="1">
                          <a:solidFill>
                            <a:srgbClr val="FFFFFF"/>
                          </a:solidFill>
                        </a:rPr>
                        <a:t>Available signal</a:t>
                      </a:r>
                    </a:p>
                  </a:txBody>
                  <a:tcPr>
                    <a:solidFill>
                      <a:srgbClr val="102A43"/>
                    </a:solidFill>
                  </a:tcPr>
                </a:tc>
                <a:tc>
                  <a:txBody>
                    <a:bodyPr/>
                    <a:lstStyle/>
                    <a:p>
                      <a:r>
                        <a:rPr sz="1500" b="1">
                          <a:solidFill>
                            <a:srgbClr val="FFFFFF"/>
                          </a:solidFill>
                        </a:rPr>
                        <a:t>Question</a:t>
                      </a:r>
                    </a:p>
                  </a:txBody>
                  <a:tcPr>
                    <a:solidFill>
                      <a:srgbClr val="102A43"/>
                    </a:solidFill>
                  </a:tcPr>
                </a:tc>
                <a:tc>
                  <a:txBody>
                    <a:bodyPr/>
                    <a:lstStyle/>
                    <a:p>
                      <a:r>
                        <a:rPr sz="1500" b="1">
                          <a:solidFill>
                            <a:srgbClr val="FFFFFF"/>
                          </a:solidFill>
                        </a:rPr>
                        <a:t>What changes</a:t>
                      </a:r>
                    </a:p>
                  </a:txBody>
                  <a:tcPr>
                    <a:solidFill>
                      <a:srgbClr val="102A43"/>
                    </a:solidFill>
                  </a:tcPr>
                </a:tc>
                <a:extLst>
                  <a:ext uri="{0D108BD9-81ED-4DB2-BD59-A6C34878D82A}">
                    <a16:rowId xmlns:a16="http://schemas.microsoft.com/office/drawing/2014/main" val="10000"/>
                  </a:ext>
                </a:extLst>
              </a:tr>
              <a:tr h="833438">
                <a:tc>
                  <a:txBody>
                    <a:bodyPr/>
                    <a:lstStyle/>
                    <a:p>
                      <a:r>
                        <a:rPr sz="1575" b="1">
                          <a:solidFill>
                            <a:srgbClr val="102A43"/>
                          </a:solidFill>
                        </a:rPr>
                        <a:t>Supervised</a:t>
                      </a:r>
                    </a:p>
                  </a:txBody>
                  <a:tcPr>
                    <a:solidFill>
                      <a:srgbClr val="EAF2F8"/>
                    </a:solidFill>
                  </a:tcPr>
                </a:tc>
                <a:tc>
                  <a:txBody>
                    <a:bodyPr/>
                    <a:lstStyle/>
                    <a:p>
                      <a:r>
                        <a:rPr sz="1650">
                          <a:solidFill>
                            <a:srgbClr val="102A43"/>
                          </a:solidFill>
                        </a:rPr>
                        <a:t>Failure label</a:t>
                      </a:r>
                    </a:p>
                  </a:txBody>
                  <a:tcPr/>
                </a:tc>
                <a:tc>
                  <a:txBody>
                    <a:bodyPr/>
                    <a:lstStyle/>
                    <a:p>
                      <a:r>
                        <a:rPr sz="1650">
                          <a:solidFill>
                            <a:srgbClr val="102A43"/>
                          </a:solidFill>
                        </a:rPr>
                        <a:t>Predict next-day failure</a:t>
                      </a:r>
                    </a:p>
                  </a:txBody>
                  <a:tcPr/>
                </a:tc>
                <a:tc>
                  <a:txBody>
                    <a:bodyPr/>
                    <a:lstStyle/>
                    <a:p>
                      <a:r>
                        <a:rPr sz="1650">
                          <a:solidFill>
                            <a:srgbClr val="102A43"/>
                          </a:solidFill>
                        </a:rPr>
                        <a:t>Needs defined target</a:t>
                      </a:r>
                    </a:p>
                  </a:txBody>
                  <a:tcPr/>
                </a:tc>
                <a:extLst>
                  <a:ext uri="{0D108BD9-81ED-4DB2-BD59-A6C34878D82A}">
                    <a16:rowId xmlns:a16="http://schemas.microsoft.com/office/drawing/2014/main" val="10001"/>
                  </a:ext>
                </a:extLst>
              </a:tr>
              <a:tr h="833438">
                <a:tc>
                  <a:txBody>
                    <a:bodyPr/>
                    <a:lstStyle/>
                    <a:p>
                      <a:r>
                        <a:rPr sz="1575" b="1">
                          <a:solidFill>
                            <a:srgbClr val="102A43"/>
                          </a:solidFill>
                        </a:rPr>
                        <a:t>Unsupervised</a:t>
                      </a:r>
                    </a:p>
                  </a:txBody>
                  <a:tcPr>
                    <a:solidFill>
                      <a:srgbClr val="D9F0EF"/>
                    </a:solidFill>
                  </a:tcPr>
                </a:tc>
                <a:tc>
                  <a:txBody>
                    <a:bodyPr/>
                    <a:lstStyle/>
                    <a:p>
                      <a:r>
                        <a:rPr sz="1650">
                          <a:solidFill>
                            <a:srgbClr val="102A43"/>
                          </a:solidFill>
                        </a:rPr>
                        <a:t>No task label</a:t>
                      </a:r>
                    </a:p>
                  </a:txBody>
                  <a:tcPr/>
                </a:tc>
                <a:tc>
                  <a:txBody>
                    <a:bodyPr/>
                    <a:lstStyle/>
                    <a:p>
                      <a:r>
                        <a:rPr sz="1650">
                          <a:solidFill>
                            <a:srgbClr val="102A43"/>
                          </a:solidFill>
                        </a:rPr>
                        <a:t>Group behaviour profiles</a:t>
                      </a:r>
                    </a:p>
                  </a:txBody>
                  <a:tcPr/>
                </a:tc>
                <a:tc>
                  <a:txBody>
                    <a:bodyPr/>
                    <a:lstStyle/>
                    <a:p>
                      <a:r>
                        <a:rPr sz="1650">
                          <a:solidFill>
                            <a:srgbClr val="102A43"/>
                          </a:solidFill>
                        </a:rPr>
                        <a:t>Needs distance / representation</a:t>
                      </a:r>
                    </a:p>
                  </a:txBody>
                  <a:tcPr/>
                </a:tc>
                <a:extLst>
                  <a:ext uri="{0D108BD9-81ED-4DB2-BD59-A6C34878D82A}">
                    <a16:rowId xmlns:a16="http://schemas.microsoft.com/office/drawing/2014/main" val="10002"/>
                  </a:ext>
                </a:extLst>
              </a:tr>
              <a:tr h="833438">
                <a:tc>
                  <a:txBody>
                    <a:bodyPr/>
                    <a:lstStyle/>
                    <a:p>
                      <a:r>
                        <a:rPr sz="1575" b="1">
                          <a:solidFill>
                            <a:srgbClr val="102A43"/>
                          </a:solidFill>
                        </a:rPr>
                        <a:t>Reinforcement</a:t>
                      </a:r>
                    </a:p>
                  </a:txBody>
                  <a:tcPr>
                    <a:solidFill>
                      <a:srgbClr val="FFF3E8"/>
                    </a:solidFill>
                  </a:tcPr>
                </a:tc>
                <a:tc>
                  <a:txBody>
                    <a:bodyPr/>
                    <a:lstStyle/>
                    <a:p>
                      <a:r>
                        <a:rPr sz="1650">
                          <a:solidFill>
                            <a:srgbClr val="102A43"/>
                          </a:solidFill>
                        </a:rPr>
                        <a:t>Sequential feedback</a:t>
                      </a:r>
                    </a:p>
                  </a:txBody>
                  <a:tcPr/>
                </a:tc>
                <a:tc>
                  <a:txBody>
                    <a:bodyPr/>
                    <a:lstStyle/>
                    <a:p>
                      <a:r>
                        <a:rPr sz="1650">
                          <a:solidFill>
                            <a:srgbClr val="102A43"/>
                          </a:solidFill>
                        </a:rPr>
                        <a:t>Schedule maintenance actions</a:t>
                      </a:r>
                    </a:p>
                  </a:txBody>
                  <a:tcPr/>
                </a:tc>
                <a:tc>
                  <a:txBody>
                    <a:bodyPr/>
                    <a:lstStyle/>
                    <a:p>
                      <a:r>
                        <a:rPr sz="1650">
                          <a:solidFill>
                            <a:srgbClr val="102A43"/>
                          </a:solidFill>
                        </a:rPr>
                        <a:t>Needs downstream cost + safety</a:t>
                      </a:r>
                    </a:p>
                  </a:txBody>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0000000B-0005-4000-8000-000000000000}"/>
              </a:ext>
            </a:extLst>
          </p:cNvPr>
          <p:cNvSpPr>
            <a:spLocks noGrp="1"/>
          </p:cNvSpPr>
          <p:nvPr/>
        </p:nvSpPr>
        <p:spPr>
          <a:xfrm>
            <a:off x="1285875" y="5505450"/>
            <a:ext cx="9620250" cy="400050"/>
          </a:xfrm>
          <a:prstGeom prst="rect">
            <a:avLst/>
          </a:prstGeom>
          <a:noFill/>
          <a:ln w="0">
            <a:noFill/>
            <a:prstDash val="solid"/>
          </a:ln>
        </p:spPr>
        <p:txBody>
          <a:bodyPr wrap="square" lIns="0" tIns="0" rIns="0" bIns="0" anchor="t">
            <a:normAutofit fontScale="93228"/>
          </a:bodyPr>
          <a:lstStyle/>
          <a:p>
            <a:pPr algn="ctr">
              <a:defRPr sz="2025" b="1" i="0">
                <a:solidFill>
                  <a:srgbClr val="102A43"/>
                </a:solidFill>
                <a:latin typeface="Arial"/>
                <a:ea typeface="Arial"/>
                <a:cs typeface="Arial"/>
              </a:defRPr>
            </a:pPr>
            <a:r>
              <a:rPr sz="2025" b="1" i="0">
                <a:solidFill>
                  <a:srgbClr val="102A43"/>
                </a:solidFill>
                <a:latin typeface="Arial"/>
                <a:ea typeface="Arial"/>
                <a:cs typeface="Arial"/>
              </a:rPr>
              <a:t>Read row-wise: the goal and data access change the valid formulation.</a:t>
            </a:r>
          </a:p>
        </p:txBody>
      </p:sp>
      <p:sp>
        <p:nvSpPr>
          <p:cNvPr id="7" name="Rectangle 6">
            <a:extLst>
              <a:ext uri="{FF2B5EF4-FFF2-40B4-BE49-F238E27FC236}">
                <a16:creationId xmlns:a16="http://schemas.microsoft.com/office/drawing/2014/main" id="{0000000B-0006-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9" name="Rectangle 8">
            <a:extLst>
              <a:ext uri="{FF2B5EF4-FFF2-40B4-BE49-F238E27FC236}">
                <a16:creationId xmlns:a16="http://schemas.microsoft.com/office/drawing/2014/main" id="{0000000B-0008-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SL11</a:t>
            </a:r>
          </a:p>
        </p:txBody>
      </p:sp>
    </p:spTree>
    <p:extLst>
      <p:ext uri="{BB962C8B-B14F-4D97-AF65-F5344CB8AC3E}">
        <p14:creationId xmlns:p14="http://schemas.microsoft.com/office/powerpoint/2010/main" val="110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 Scientific Python Stack and LO1"/>
          <p:cNvSpPr/>
          <p:nvPr/>
        </p:nvSpPr>
        <p:spPr>
          <a:xfrm>
            <a:off x="457200" y="323850"/>
            <a:ext cx="8572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lnSpc>
                <a:spcPct val="100000"/>
              </a:lnSpc>
              <a:spcBef>
                <a:spcPts val="0"/>
              </a:spcBef>
              <a:spcAft>
                <a:spcPts val="0"/>
              </a:spcAft>
            </a:pPr>
            <a:r>
              <a:rPr sz="1350" b="1">
                <a:solidFill>
                  <a:srgbClr val="007C83"/>
                </a:solidFill>
                <a:latin typeface="Arial"/>
              </a:rPr>
              <a:t>SCIENTIFIC PYTHON STACK · LO1</a:t>
            </a:r>
          </a:p>
        </p:txBody>
      </p:sp>
      <p:sp>
        <p:nvSpPr>
          <p:cNvPr id="3" name="Slide number 12"/>
          <p:cNvSpPr/>
          <p:nvPr/>
        </p:nvSpPr>
        <p:spPr>
          <a:xfrm>
            <a:off x="11096625" y="285750"/>
            <a:ext cx="628650" cy="323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r">
              <a:lnSpc>
                <a:spcPct val="100000"/>
              </a:lnSpc>
              <a:spcBef>
                <a:spcPts val="0"/>
              </a:spcBef>
              <a:spcAft>
                <a:spcPts val="0"/>
              </a:spcAft>
            </a:pPr>
            <a:r>
              <a:rPr sz="1650" b="1">
                <a:solidFill>
                  <a:srgbClr val="7B8794"/>
                </a:solidFill>
                <a:latin typeface="Arial"/>
              </a:rPr>
              <a:t>12</a:t>
            </a:r>
          </a:p>
        </p:txBody>
      </p:sp>
      <p:sp>
        <p:nvSpPr>
          <p:cNvPr id="4" name="Title — The Scientific Python Stack Has Distinct Jobs"/>
          <p:cNvSpPr/>
          <p:nvPr/>
        </p:nvSpPr>
        <p:spPr>
          <a:xfrm>
            <a:off x="457200" y="6667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lnSpc>
                <a:spcPct val="100000"/>
              </a:lnSpc>
              <a:spcBef>
                <a:spcPts val="0"/>
              </a:spcBef>
              <a:spcAft>
                <a:spcPts val="0"/>
              </a:spcAft>
            </a:pPr>
            <a:r>
              <a:rPr sz="3600" b="1">
                <a:solidFill>
                  <a:srgbClr val="102A43"/>
                </a:solidFill>
                <a:latin typeface="Arial"/>
              </a:rPr>
              <a:t>The Scientific Python Stack Has Distinct Jobs</a:t>
            </a:r>
          </a:p>
        </p:txBody>
      </p:sp>
      <p:sp>
        <p:nvSpPr>
          <p:cNvPr id="5" name="Teal title rule"/>
          <p:cNvSpPr/>
          <p:nvPr/>
        </p:nvSpPr>
        <p:spPr>
          <a:xfrm>
            <a:off x="457200" y="1381125"/>
            <a:ext cx="11277600" cy="28575"/>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ier label — Foundation"/>
          <p:cNvSpPr/>
          <p:nvPr/>
        </p:nvSpPr>
        <p:spPr>
          <a:xfrm>
            <a:off x="4087368" y="1536192"/>
            <a:ext cx="4014215"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ctr">
              <a:lnSpc>
                <a:spcPct val="100000"/>
              </a:lnSpc>
              <a:spcBef>
                <a:spcPts val="0"/>
              </a:spcBef>
              <a:spcAft>
                <a:spcPts val="0"/>
              </a:spcAft>
            </a:pPr>
            <a:r>
              <a:rPr lang="en-US" sz="1400" b="1">
                <a:solidFill>
                  <a:srgbClr val="007C83"/>
                </a:solidFill>
                <a:latin typeface="Arial"/>
              </a:rPr>
              <a:t>PROGRAMMING FOUNDATION</a:t>
            </a:r>
          </a:p>
        </p:txBody>
      </p:sp>
      <p:sp>
        <p:nvSpPr>
          <p:cNvPr id="7" name="Python — programming foundation and reproducible workflows"/>
          <p:cNvSpPr/>
          <p:nvPr/>
        </p:nvSpPr>
        <p:spPr>
          <a:xfrm>
            <a:off x="4087368" y="1773936"/>
            <a:ext cx="4014215" cy="76809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0000"/>
              </a:lnSpc>
              <a:spcBef>
                <a:spcPts val="0"/>
              </a:spcBef>
              <a:spcAft>
                <a:spcPts val="300"/>
              </a:spcAft>
            </a:pPr>
            <a:r>
              <a:rPr lang="en-GB" sz="2100" b="1">
                <a:solidFill>
                  <a:srgbClr val="FFFFFF"/>
                </a:solidFill>
                <a:latin typeface="Arial"/>
              </a:rPr>
              <a:t>Python</a:t>
            </a:r>
          </a:p>
          <a:p>
            <a:pPr algn="ctr">
              <a:lnSpc>
                <a:spcPct val="100000"/>
              </a:lnSpc>
              <a:spcBef>
                <a:spcPts val="0"/>
              </a:spcBef>
              <a:spcAft>
                <a:spcPts val="0"/>
              </a:spcAft>
            </a:pPr>
            <a:r>
              <a:rPr lang="en-GB" sz="1500" b="0">
                <a:solidFill>
                  <a:srgbClr val="FFFFFF"/>
                </a:solidFill>
                <a:latin typeface="Arial"/>
              </a:rPr>
              <a:t>Programming foundation · reproducible workflows</a:t>
            </a:r>
          </a:p>
        </p:txBody>
      </p:sp>
      <p:sp>
        <p:nvSpPr>
          <p:cNvPr id="8" name="Tier label — Specialist libraries"/>
          <p:cNvSpPr/>
          <p:nvPr/>
        </p:nvSpPr>
        <p:spPr>
          <a:xfrm>
            <a:off x="3657600" y="2633472"/>
            <a:ext cx="487375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ctr">
              <a:lnSpc>
                <a:spcPct val="100000"/>
              </a:lnSpc>
              <a:spcBef>
                <a:spcPts val="0"/>
              </a:spcBef>
              <a:spcAft>
                <a:spcPts val="0"/>
              </a:spcAft>
            </a:pPr>
            <a:r>
              <a:rPr lang="en-US" sz="1400" b="1">
                <a:solidFill>
                  <a:srgbClr val="52606D"/>
                </a:solidFill>
                <a:latin typeface="Arial"/>
              </a:rPr>
              <a:t>SPECIALIST LIBRARIES · DISTINCT RESPONSIBILITIES</a:t>
            </a:r>
          </a:p>
        </p:txBody>
      </p:sp>
      <p:sp>
        <p:nvSpPr>
          <p:cNvPr id="9" name="NumPy — Numerical arrays &amp; mathematical operations"/>
          <p:cNvSpPr/>
          <p:nvPr/>
        </p:nvSpPr>
        <p:spPr>
          <a:xfrm>
            <a:off x="566928" y="2889504"/>
            <a:ext cx="2642616" cy="1207008"/>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0000"/>
              </a:lnSpc>
              <a:spcBef>
                <a:spcPts val="0"/>
              </a:spcBef>
              <a:spcAft>
                <a:spcPts val="300"/>
              </a:spcAft>
            </a:pPr>
            <a:r>
              <a:rPr lang="en-GB" sz="1900" b="1">
                <a:solidFill>
                  <a:srgbClr val="102A43"/>
                </a:solidFill>
                <a:latin typeface="Arial"/>
              </a:rPr>
              <a:t>NumPy</a:t>
            </a:r>
          </a:p>
          <a:p>
            <a:pPr algn="ctr">
              <a:lnSpc>
                <a:spcPct val="100000"/>
              </a:lnSpc>
              <a:spcBef>
                <a:spcPts val="0"/>
              </a:spcBef>
              <a:spcAft>
                <a:spcPts val="0"/>
              </a:spcAft>
            </a:pPr>
            <a:r>
              <a:rPr lang="en-GB" sz="1450" b="0">
                <a:solidFill>
                  <a:srgbClr val="52606D"/>
                </a:solidFill>
                <a:latin typeface="Arial"/>
              </a:rPr>
              <a:t>Numerical arrays &amp; mathematical operations</a:t>
            </a:r>
          </a:p>
        </p:txBody>
      </p:sp>
      <p:sp>
        <p:nvSpPr>
          <p:cNvPr id="10" name="pandas — Structured data &amp; DataFrames"/>
          <p:cNvSpPr/>
          <p:nvPr/>
        </p:nvSpPr>
        <p:spPr>
          <a:xfrm>
            <a:off x="3374136" y="2889504"/>
            <a:ext cx="2642616" cy="1207008"/>
          </a:xfrm>
          <a:prstGeom prst="rect">
            <a:avLst/>
          </a:prstGeom>
          <a:solidFill>
            <a:srgbClr val="D9F0EF"/>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0000"/>
              </a:lnSpc>
              <a:spcBef>
                <a:spcPts val="0"/>
              </a:spcBef>
              <a:spcAft>
                <a:spcPts val="300"/>
              </a:spcAft>
            </a:pPr>
            <a:r>
              <a:rPr lang="en-US" sz="1900" b="1">
                <a:solidFill>
                  <a:srgbClr val="102A43"/>
                </a:solidFill>
                <a:latin typeface="Arial"/>
              </a:rPr>
              <a:t>pandas</a:t>
            </a:r>
          </a:p>
          <a:p>
            <a:pPr algn="ctr">
              <a:lnSpc>
                <a:spcPct val="100000"/>
              </a:lnSpc>
              <a:spcBef>
                <a:spcPts val="0"/>
              </a:spcBef>
              <a:spcAft>
                <a:spcPts val="0"/>
              </a:spcAft>
            </a:pPr>
            <a:r>
              <a:rPr lang="en-US" sz="1450" b="0">
                <a:solidFill>
                  <a:srgbClr val="52606D"/>
                </a:solidFill>
                <a:latin typeface="Arial"/>
              </a:rPr>
              <a:t>Structured data &amp; DataFrames</a:t>
            </a:r>
          </a:p>
        </p:txBody>
      </p:sp>
      <p:sp>
        <p:nvSpPr>
          <p:cNvPr id="11" name="Matplotlib — Visualisation &amp; exploratory plots"/>
          <p:cNvSpPr/>
          <p:nvPr/>
        </p:nvSpPr>
        <p:spPr>
          <a:xfrm>
            <a:off x="6181344" y="2889504"/>
            <a:ext cx="2642616" cy="1207008"/>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0000"/>
              </a:lnSpc>
              <a:spcBef>
                <a:spcPts val="0"/>
              </a:spcBef>
              <a:spcAft>
                <a:spcPts val="300"/>
              </a:spcAft>
            </a:pPr>
            <a:r>
              <a:rPr lang="en-US" sz="1900" b="1">
                <a:solidFill>
                  <a:srgbClr val="102A43"/>
                </a:solidFill>
                <a:latin typeface="Arial"/>
              </a:rPr>
              <a:t>Matplotlib</a:t>
            </a:r>
          </a:p>
          <a:p>
            <a:pPr algn="ctr">
              <a:lnSpc>
                <a:spcPct val="100000"/>
              </a:lnSpc>
              <a:spcBef>
                <a:spcPts val="0"/>
              </a:spcBef>
              <a:spcAft>
                <a:spcPts val="0"/>
              </a:spcAft>
            </a:pPr>
            <a:r>
              <a:rPr lang="en-US" sz="1450" b="0">
                <a:solidFill>
                  <a:srgbClr val="52606D"/>
                </a:solidFill>
                <a:latin typeface="Arial"/>
              </a:rPr>
              <a:t>Visualisation &amp; exploratory plots</a:t>
            </a:r>
          </a:p>
        </p:txBody>
      </p:sp>
      <p:sp>
        <p:nvSpPr>
          <p:cNvPr id="12" name="scikit-learn — Models, pipelines &amp; evaluation"/>
          <p:cNvSpPr/>
          <p:nvPr/>
        </p:nvSpPr>
        <p:spPr>
          <a:xfrm>
            <a:off x="8988552" y="2889504"/>
            <a:ext cx="2642616" cy="1207008"/>
          </a:xfrm>
          <a:prstGeom prst="rect">
            <a:avLst/>
          </a:prstGeom>
          <a:solidFill>
            <a:srgbClr val="D9F0EF"/>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0000"/>
              </a:lnSpc>
              <a:spcBef>
                <a:spcPts val="0"/>
              </a:spcBef>
              <a:spcAft>
                <a:spcPts val="300"/>
              </a:spcAft>
            </a:pPr>
            <a:r>
              <a:rPr lang="en-US" sz="1900" b="1">
                <a:solidFill>
                  <a:srgbClr val="102A43"/>
                </a:solidFill>
                <a:latin typeface="Arial"/>
              </a:rPr>
              <a:t>scikit-learn</a:t>
            </a:r>
          </a:p>
          <a:p>
            <a:pPr algn="ctr">
              <a:lnSpc>
                <a:spcPct val="100000"/>
              </a:lnSpc>
              <a:spcBef>
                <a:spcPts val="0"/>
              </a:spcBef>
              <a:spcAft>
                <a:spcPts val="0"/>
              </a:spcAft>
            </a:pPr>
            <a:r>
              <a:rPr lang="en-US" sz="1450" b="0">
                <a:solidFill>
                  <a:srgbClr val="52606D"/>
                </a:solidFill>
                <a:latin typeface="Arial"/>
              </a:rPr>
              <a:t>Models, pipelines &amp; evaluation</a:t>
            </a:r>
          </a:p>
        </p:txBody>
      </p:sp>
      <p:sp>
        <p:nvSpPr>
          <p:cNvPr id="13" name="Tier label — Hosted notebook environment"/>
          <p:cNvSpPr/>
          <p:nvPr/>
        </p:nvSpPr>
        <p:spPr>
          <a:xfrm>
            <a:off x="3858768" y="4215384"/>
            <a:ext cx="4471416"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ctr">
              <a:lnSpc>
                <a:spcPct val="100000"/>
              </a:lnSpc>
              <a:spcBef>
                <a:spcPts val="0"/>
              </a:spcBef>
              <a:spcAft>
                <a:spcPts val="0"/>
              </a:spcAft>
            </a:pPr>
            <a:r>
              <a:rPr lang="en-US" sz="1400" b="1">
                <a:solidFill>
                  <a:srgbClr val="007C83"/>
                </a:solidFill>
                <a:latin typeface="Arial"/>
              </a:rPr>
              <a:t>HOSTED NOTEBOOK ENVIRONMENT</a:t>
            </a:r>
          </a:p>
        </p:txBody>
      </p:sp>
      <p:sp>
        <p:nvSpPr>
          <p:cNvPr id="14" name="Google Colab — hosted environment for running Python notebooks"/>
          <p:cNvSpPr/>
          <p:nvPr/>
        </p:nvSpPr>
        <p:spPr>
          <a:xfrm>
            <a:off x="4087368" y="4471416"/>
            <a:ext cx="4014215" cy="768096"/>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noAutofit/>
          </a:bodyPr>
          <a:lstStyle/>
          <a:p>
            <a:pPr algn="ctr">
              <a:lnSpc>
                <a:spcPct val="100000"/>
              </a:lnSpc>
              <a:spcBef>
                <a:spcPts val="0"/>
              </a:spcBef>
              <a:spcAft>
                <a:spcPts val="300"/>
              </a:spcAft>
            </a:pPr>
            <a:r>
              <a:rPr lang="en-GB" sz="2100" b="1">
                <a:solidFill>
                  <a:srgbClr val="FFFFFF"/>
                </a:solidFill>
                <a:latin typeface="Arial"/>
              </a:rPr>
              <a:t>Google Colab</a:t>
            </a:r>
          </a:p>
          <a:p>
            <a:pPr algn="ctr">
              <a:lnSpc>
                <a:spcPct val="100000"/>
              </a:lnSpc>
              <a:spcBef>
                <a:spcPts val="0"/>
              </a:spcBef>
              <a:spcAft>
                <a:spcPts val="0"/>
              </a:spcAft>
            </a:pPr>
            <a:r>
              <a:rPr lang="en-GB" sz="1500" b="0">
                <a:solidFill>
                  <a:srgbClr val="FFFFFF"/>
                </a:solidFill>
                <a:latin typeface="Arial"/>
              </a:rPr>
              <a:t>Hosted environment for running Python notebooks</a:t>
            </a:r>
          </a:p>
        </p:txBody>
      </p:sp>
      <p:sp>
        <p:nvSpPr>
          <p:cNvPr id="15" name="Key takeaway — libraries and methodology"/>
          <p:cNvSpPr/>
          <p:nvPr/>
        </p:nvSpPr>
        <p:spPr>
          <a:xfrm>
            <a:off x="1143000" y="5340096"/>
            <a:ext cx="9902952" cy="6583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spcBef>
                <a:spcPts val="0"/>
              </a:spcBef>
              <a:spcAft>
                <a:spcPts val="0"/>
              </a:spcAft>
            </a:pPr>
            <a:r>
              <a:rPr lang="en-GB" sz="1700" b="1">
                <a:solidFill>
                  <a:srgbClr val="102A43"/>
                </a:solidFill>
                <a:latin typeface="Arial"/>
              </a:rPr>
              <a:t>Libraries provide the tools; sound methodology determines whether our machine learning workflow is valid.</a:t>
            </a:r>
          </a:p>
        </p:txBody>
      </p:sp>
      <p:sp>
        <p:nvSpPr>
          <p:cNvPr id="16" name="Footer rule"/>
          <p:cNvSpPr/>
          <p:nvPr/>
        </p:nvSpPr>
        <p:spPr>
          <a:xfrm>
            <a:off x="457200" y="6324600"/>
            <a:ext cx="11277600" cy="19050"/>
          </a:xfrm>
          <a:prstGeom prst="rect">
            <a:avLst/>
          </a:prstGeom>
          <a:solidFill>
            <a:srgbClr val="BCC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lide identifier SL12"/>
          <p:cNvSpPr/>
          <p:nvPr/>
        </p:nvSpPr>
        <p:spPr>
          <a:xfrm>
            <a:off x="10782300" y="6419850"/>
            <a:ext cx="952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r">
              <a:lnSpc>
                <a:spcPct val="100000"/>
              </a:lnSpc>
              <a:spcBef>
                <a:spcPts val="0"/>
              </a:spcBef>
              <a:spcAft>
                <a:spcPts val="0"/>
              </a:spcAft>
            </a:pPr>
            <a:r>
              <a:rPr sz="1275" b="1">
                <a:solidFill>
                  <a:srgbClr val="7B8794"/>
                </a:solidFill>
                <a:latin typeface="Arial"/>
              </a:rPr>
              <a:t>SL12</a:t>
            </a:r>
          </a:p>
        </p:txBody>
      </p:sp>
    </p:spTree>
    <p:extLst>
      <p:ext uri="{BB962C8B-B14F-4D97-AF65-F5344CB8AC3E}">
        <p14:creationId xmlns:p14="http://schemas.microsoft.com/office/powerpoint/2010/main" val="236162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000000D-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SPLIT DISCIPLINE</a:t>
            </a:r>
          </a:p>
        </p:txBody>
      </p:sp>
      <p:sp>
        <p:nvSpPr>
          <p:cNvPr id="2" name="Rectangle 1">
            <a:extLst>
              <a:ext uri="{FF2B5EF4-FFF2-40B4-BE49-F238E27FC236}">
                <a16:creationId xmlns:a16="http://schemas.microsoft.com/office/drawing/2014/main" id="{0000000D-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13</a:t>
            </a:r>
          </a:p>
        </p:txBody>
      </p:sp>
      <p:sp>
        <p:nvSpPr>
          <p:cNvPr id="3" name="Rectangle 2">
            <a:extLst>
              <a:ext uri="{FF2B5EF4-FFF2-40B4-BE49-F238E27FC236}">
                <a16:creationId xmlns:a16="http://schemas.microsoft.com/office/drawing/2014/main" id="{0000000D-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Separate fitting from checking</a:t>
            </a:r>
          </a:p>
        </p:txBody>
      </p:sp>
      <p:sp>
        <p:nvSpPr>
          <p:cNvPr id="4" name="Rectangle 3">
            <a:extLst>
              <a:ext uri="{FF2B5EF4-FFF2-40B4-BE49-F238E27FC236}">
                <a16:creationId xmlns:a16="http://schemas.microsoft.com/office/drawing/2014/main" id="{0000000D-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D-0005-4000-8000-000000000000}"/>
              </a:ext>
            </a:extLst>
          </p:cNvPr>
          <p:cNvSpPr>
            <a:spLocks noGrp="1"/>
          </p:cNvSpPr>
          <p:nvPr/>
        </p:nvSpPr>
        <p:spPr>
          <a:xfrm>
            <a:off x="476250" y="2857500"/>
            <a:ext cx="1619250" cy="876300"/>
          </a:xfrm>
          <a:prstGeom prst="rect">
            <a:avLst/>
          </a:prstGeom>
          <a:solidFill>
            <a:srgbClr val="EAF2F8"/>
          </a:solidFill>
          <a:ln w="19050">
            <a:solidFill>
              <a:srgbClr val="BCCCDC"/>
            </a:solidFill>
            <a:prstDash val="solid"/>
          </a:ln>
        </p:spPr>
        <p:txBody>
          <a:bodyPr/>
          <a:lstStyle/>
          <a:p>
            <a:endParaRPr lang="en-US"/>
          </a:p>
        </p:txBody>
      </p:sp>
      <p:sp>
        <p:nvSpPr>
          <p:cNvPr id="6" name="Rectangle 5">
            <a:extLst>
              <a:ext uri="{FF2B5EF4-FFF2-40B4-BE49-F238E27FC236}">
                <a16:creationId xmlns:a16="http://schemas.microsoft.com/office/drawing/2014/main" id="{0000000D-0006-4000-8000-000000000000}"/>
              </a:ext>
            </a:extLst>
          </p:cNvPr>
          <p:cNvSpPr>
            <a:spLocks noGrp="1"/>
          </p:cNvSpPr>
          <p:nvPr/>
        </p:nvSpPr>
        <p:spPr>
          <a:xfrm>
            <a:off x="609600" y="2952750"/>
            <a:ext cx="1352550" cy="6858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Data</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version</a:t>
            </a:r>
          </a:p>
        </p:txBody>
      </p:sp>
      <p:sp>
        <p:nvSpPr>
          <p:cNvPr id="7" name="Rectangle 6">
            <a:extLst>
              <a:ext uri="{FF2B5EF4-FFF2-40B4-BE49-F238E27FC236}">
                <a16:creationId xmlns:a16="http://schemas.microsoft.com/office/drawing/2014/main" id="{0000000D-0007-4000-8000-000000000000}"/>
              </a:ext>
            </a:extLst>
          </p:cNvPr>
          <p:cNvSpPr>
            <a:spLocks noGrp="1"/>
          </p:cNvSpPr>
          <p:nvPr/>
        </p:nvSpPr>
        <p:spPr>
          <a:xfrm>
            <a:off x="2400300" y="2857500"/>
            <a:ext cx="1619250" cy="876300"/>
          </a:xfrm>
          <a:prstGeom prst="rect">
            <a:avLst/>
          </a:prstGeom>
          <a:solidFill>
            <a:srgbClr val="D9F0EF"/>
          </a:solidFill>
          <a:ln w="19050">
            <a:solidFill>
              <a:srgbClr val="BCCCDC"/>
            </a:solidFill>
            <a:prstDash val="solid"/>
          </a:ln>
        </p:spPr>
        <p:txBody>
          <a:bodyPr/>
          <a:lstStyle/>
          <a:p>
            <a:endParaRPr lang="en-US"/>
          </a:p>
        </p:txBody>
      </p:sp>
      <p:sp>
        <p:nvSpPr>
          <p:cNvPr id="8" name="Rectangle 7">
            <a:extLst>
              <a:ext uri="{FF2B5EF4-FFF2-40B4-BE49-F238E27FC236}">
                <a16:creationId xmlns:a16="http://schemas.microsoft.com/office/drawing/2014/main" id="{0000000D-0008-4000-8000-000000000000}"/>
              </a:ext>
            </a:extLst>
          </p:cNvPr>
          <p:cNvSpPr>
            <a:spLocks noGrp="1"/>
          </p:cNvSpPr>
          <p:nvPr/>
        </p:nvSpPr>
        <p:spPr>
          <a:xfrm>
            <a:off x="2533650" y="2952750"/>
            <a:ext cx="1352550" cy="6858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Partition</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IDs</a:t>
            </a:r>
          </a:p>
        </p:txBody>
      </p:sp>
      <p:sp>
        <p:nvSpPr>
          <p:cNvPr id="9" name="Rectangle 8">
            <a:extLst>
              <a:ext uri="{FF2B5EF4-FFF2-40B4-BE49-F238E27FC236}">
                <a16:creationId xmlns:a16="http://schemas.microsoft.com/office/drawing/2014/main" id="{0000000D-0009-4000-8000-000000000000}"/>
              </a:ext>
            </a:extLst>
          </p:cNvPr>
          <p:cNvSpPr>
            <a:spLocks noGrp="1"/>
          </p:cNvSpPr>
          <p:nvPr/>
        </p:nvSpPr>
        <p:spPr>
          <a:xfrm>
            <a:off x="4324350" y="2857500"/>
            <a:ext cx="1619250" cy="876300"/>
          </a:xfrm>
          <a:prstGeom prst="rect">
            <a:avLst/>
          </a:prstGeom>
          <a:solidFill>
            <a:srgbClr val="EAF2F8"/>
          </a:solidFill>
          <a:ln w="19050">
            <a:solidFill>
              <a:srgbClr val="BCCCDC"/>
            </a:solidFill>
            <a:prstDash val="solid"/>
          </a:ln>
        </p:spPr>
        <p:txBody>
          <a:bodyPr/>
          <a:lstStyle/>
          <a:p>
            <a:endParaRPr lang="en-US"/>
          </a:p>
        </p:txBody>
      </p:sp>
      <p:sp>
        <p:nvSpPr>
          <p:cNvPr id="10" name="Rectangle 9">
            <a:extLst>
              <a:ext uri="{FF2B5EF4-FFF2-40B4-BE49-F238E27FC236}">
                <a16:creationId xmlns:a16="http://schemas.microsoft.com/office/drawing/2014/main" id="{0000000D-000A-4000-8000-000000000000}"/>
              </a:ext>
            </a:extLst>
          </p:cNvPr>
          <p:cNvSpPr>
            <a:spLocks noGrp="1"/>
          </p:cNvSpPr>
          <p:nvPr/>
        </p:nvSpPr>
        <p:spPr>
          <a:xfrm>
            <a:off x="4457700" y="2952750"/>
            <a:ext cx="1352550" cy="685800"/>
          </a:xfrm>
          <a:prstGeom prst="rect">
            <a:avLst/>
          </a:prstGeom>
          <a:noFill/>
          <a:ln w="0">
            <a:noFill/>
            <a:prstDash val="solid"/>
          </a:ln>
        </p:spPr>
        <p:txBody>
          <a:bodyPr wrap="square" lIns="0" tIns="0" rIns="0" bIns="0" anchor="ctr">
            <a:normAutofit fontScale="91923" lnSpcReduction="20000"/>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Training-only</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fit</a:t>
            </a:r>
          </a:p>
        </p:txBody>
      </p:sp>
      <p:sp>
        <p:nvSpPr>
          <p:cNvPr id="11" name="Rectangle 10">
            <a:extLst>
              <a:ext uri="{FF2B5EF4-FFF2-40B4-BE49-F238E27FC236}">
                <a16:creationId xmlns:a16="http://schemas.microsoft.com/office/drawing/2014/main" id="{0000000D-000B-4000-8000-000000000000}"/>
              </a:ext>
            </a:extLst>
          </p:cNvPr>
          <p:cNvSpPr>
            <a:spLocks noGrp="1"/>
          </p:cNvSpPr>
          <p:nvPr/>
        </p:nvSpPr>
        <p:spPr>
          <a:xfrm>
            <a:off x="6248400" y="2857500"/>
            <a:ext cx="1619250" cy="876300"/>
          </a:xfrm>
          <a:prstGeom prst="rect">
            <a:avLst/>
          </a:prstGeom>
          <a:solidFill>
            <a:srgbClr val="D9F0EF"/>
          </a:solidFill>
          <a:ln w="19050">
            <a:solidFill>
              <a:srgbClr val="BCCCDC"/>
            </a:solidFill>
            <a:prstDash val="solid"/>
          </a:ln>
        </p:spPr>
        <p:txBody>
          <a:bodyPr/>
          <a:lstStyle/>
          <a:p>
            <a:endParaRPr lang="en-US"/>
          </a:p>
        </p:txBody>
      </p:sp>
      <p:sp>
        <p:nvSpPr>
          <p:cNvPr id="12" name="Rectangle 11">
            <a:extLst>
              <a:ext uri="{FF2B5EF4-FFF2-40B4-BE49-F238E27FC236}">
                <a16:creationId xmlns:a16="http://schemas.microsoft.com/office/drawing/2014/main" id="{0000000D-000C-4000-8000-000000000000}"/>
              </a:ext>
            </a:extLst>
          </p:cNvPr>
          <p:cNvSpPr>
            <a:spLocks noGrp="1"/>
          </p:cNvSpPr>
          <p:nvPr/>
        </p:nvSpPr>
        <p:spPr>
          <a:xfrm>
            <a:off x="6381750" y="2952750"/>
            <a:ext cx="1352550" cy="6858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Frozen</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predictor</a:t>
            </a:r>
          </a:p>
        </p:txBody>
      </p:sp>
      <p:sp>
        <p:nvSpPr>
          <p:cNvPr id="13" name="Rectangle 12">
            <a:extLst>
              <a:ext uri="{FF2B5EF4-FFF2-40B4-BE49-F238E27FC236}">
                <a16:creationId xmlns:a16="http://schemas.microsoft.com/office/drawing/2014/main" id="{0000000D-000D-4000-8000-000000000000}"/>
              </a:ext>
            </a:extLst>
          </p:cNvPr>
          <p:cNvSpPr>
            <a:spLocks noGrp="1"/>
          </p:cNvSpPr>
          <p:nvPr/>
        </p:nvSpPr>
        <p:spPr>
          <a:xfrm>
            <a:off x="8172450" y="2857500"/>
            <a:ext cx="1619250" cy="876300"/>
          </a:xfrm>
          <a:prstGeom prst="rect">
            <a:avLst/>
          </a:prstGeom>
          <a:solidFill>
            <a:srgbClr val="FFF3E8"/>
          </a:solidFill>
          <a:ln w="19050">
            <a:solidFill>
              <a:srgbClr val="BCCCDC"/>
            </a:solidFill>
            <a:prstDash val="solid"/>
          </a:ln>
        </p:spPr>
        <p:txBody>
          <a:bodyPr/>
          <a:lstStyle/>
          <a:p>
            <a:endParaRPr lang="en-US"/>
          </a:p>
        </p:txBody>
      </p:sp>
      <p:sp>
        <p:nvSpPr>
          <p:cNvPr id="14" name="Rectangle 13">
            <a:extLst>
              <a:ext uri="{FF2B5EF4-FFF2-40B4-BE49-F238E27FC236}">
                <a16:creationId xmlns:a16="http://schemas.microsoft.com/office/drawing/2014/main" id="{0000000D-000E-4000-8000-000000000000}"/>
              </a:ext>
            </a:extLst>
          </p:cNvPr>
          <p:cNvSpPr>
            <a:spLocks noGrp="1"/>
          </p:cNvSpPr>
          <p:nvPr/>
        </p:nvSpPr>
        <p:spPr>
          <a:xfrm>
            <a:off x="8305800" y="2952750"/>
            <a:ext cx="1352550" cy="685800"/>
          </a:xfrm>
          <a:prstGeom prst="rect">
            <a:avLst/>
          </a:prstGeom>
          <a:noFill/>
          <a:ln w="0">
            <a:noFill/>
            <a:prstDash val="solid"/>
          </a:ln>
        </p:spPr>
        <p:txBody>
          <a:bodyPr wrap="square" lIns="0" tIns="0" rIns="0" bIns="0" anchor="ctr">
            <a:normAutofit fontScale="96275"/>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Validation</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score</a:t>
            </a:r>
          </a:p>
        </p:txBody>
      </p:sp>
      <p:sp>
        <p:nvSpPr>
          <p:cNvPr id="15" name="Rectangle 14">
            <a:extLst>
              <a:ext uri="{FF2B5EF4-FFF2-40B4-BE49-F238E27FC236}">
                <a16:creationId xmlns:a16="http://schemas.microsoft.com/office/drawing/2014/main" id="{0000000D-000F-4000-8000-000000000000}"/>
              </a:ext>
            </a:extLst>
          </p:cNvPr>
          <p:cNvSpPr>
            <a:spLocks noGrp="1"/>
          </p:cNvSpPr>
          <p:nvPr/>
        </p:nvSpPr>
        <p:spPr>
          <a:xfrm>
            <a:off x="10096500" y="2857500"/>
            <a:ext cx="1619250" cy="876300"/>
          </a:xfrm>
          <a:prstGeom prst="rect">
            <a:avLst/>
          </a:prstGeom>
          <a:solidFill>
            <a:srgbClr val="D9F0EF"/>
          </a:solidFill>
          <a:ln w="19050">
            <a:solidFill>
              <a:srgbClr val="BCCCDC"/>
            </a:solidFill>
            <a:prstDash val="solid"/>
          </a:ln>
        </p:spPr>
        <p:txBody>
          <a:bodyPr/>
          <a:lstStyle/>
          <a:p>
            <a:endParaRPr lang="en-US"/>
          </a:p>
        </p:txBody>
      </p:sp>
      <p:sp>
        <p:nvSpPr>
          <p:cNvPr id="16" name="Rectangle 15">
            <a:extLst>
              <a:ext uri="{FF2B5EF4-FFF2-40B4-BE49-F238E27FC236}">
                <a16:creationId xmlns:a16="http://schemas.microsoft.com/office/drawing/2014/main" id="{0000000D-0010-4000-8000-000000000000}"/>
              </a:ext>
            </a:extLst>
          </p:cNvPr>
          <p:cNvSpPr>
            <a:spLocks noGrp="1"/>
          </p:cNvSpPr>
          <p:nvPr/>
        </p:nvSpPr>
        <p:spPr>
          <a:xfrm>
            <a:off x="10229850" y="2952750"/>
            <a:ext cx="1352550" cy="685800"/>
          </a:xfrm>
          <a:prstGeom prst="rect">
            <a:avLst/>
          </a:prstGeom>
          <a:noFill/>
          <a:ln w="0">
            <a:noFill/>
            <a:prstDash val="solid"/>
          </a:ln>
        </p:spPr>
        <p:txBody>
          <a:bodyPr wrap="square" lIns="0" tIns="0" rIns="0" bIns="0" anchor="ctr">
            <a:normAutofit fontScale="91923" lnSpcReduction="20000"/>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Qualified</a:t>
            </a:r>
          </a:p>
          <a:p>
            <a:pPr algn="ctr">
              <a:defRPr sz="1950" b="1" i="0">
                <a:solidFill>
                  <a:srgbClr val="102A43"/>
                </a:solidFill>
                <a:latin typeface="Arial"/>
                <a:ea typeface="Arial"/>
                <a:cs typeface="Arial"/>
              </a:defRPr>
            </a:pPr>
            <a:r>
              <a:rPr sz="1950" b="1" i="0">
                <a:solidFill>
                  <a:srgbClr val="102A43"/>
                </a:solidFill>
                <a:latin typeface="Arial"/>
                <a:ea typeface="Arial"/>
                <a:cs typeface="Arial"/>
              </a:rPr>
              <a:t>interpretation</a:t>
            </a:r>
          </a:p>
        </p:txBody>
      </p:sp>
      <p:cxnSp>
        <p:nvCxnSpPr>
          <p:cNvPr id="45" name="Straight Arrow Connector 44"/>
          <p:cNvCxnSpPr>
            <a:stCxn id="5" idx="3"/>
            <a:endCxn id="7" idx="1"/>
          </p:cNvCxnSpPr>
          <p:nvPr/>
        </p:nvCxnSpPr>
        <p:spPr>
          <a:xfrm>
            <a:off x="2095500" y="3295650"/>
            <a:ext cx="304800" cy="0"/>
          </a:xfrm>
          <a:prstGeom prst="straightConnector1">
            <a:avLst/>
          </a:prstGeom>
          <a:ln w="28575">
            <a:solidFill>
              <a:srgbClr val="007C83"/>
            </a:solidFill>
            <a:prstDash val="solid"/>
            <a:tailEnd type="arrow" w="sm" len="sm"/>
          </a:ln>
        </p:spPr>
      </p:cxnSp>
      <p:cxnSp>
        <p:nvCxnSpPr>
          <p:cNvPr id="46" name="Straight Arrow Connector 45"/>
          <p:cNvCxnSpPr>
            <a:stCxn id="7" idx="3"/>
            <a:endCxn id="9" idx="1"/>
          </p:cNvCxnSpPr>
          <p:nvPr/>
        </p:nvCxnSpPr>
        <p:spPr>
          <a:xfrm>
            <a:off x="4019550" y="3295650"/>
            <a:ext cx="304800" cy="0"/>
          </a:xfrm>
          <a:prstGeom prst="straightConnector1">
            <a:avLst/>
          </a:prstGeom>
          <a:ln w="28575">
            <a:solidFill>
              <a:srgbClr val="007C83"/>
            </a:solidFill>
            <a:prstDash val="solid"/>
            <a:tailEnd type="arrow" w="sm" len="sm"/>
          </a:ln>
        </p:spPr>
      </p:cxnSp>
      <p:cxnSp>
        <p:nvCxnSpPr>
          <p:cNvPr id="47" name="Straight Arrow Connector 46"/>
          <p:cNvCxnSpPr>
            <a:stCxn id="9" idx="3"/>
            <a:endCxn id="11" idx="1"/>
          </p:cNvCxnSpPr>
          <p:nvPr/>
        </p:nvCxnSpPr>
        <p:spPr>
          <a:xfrm>
            <a:off x="5943600" y="3295650"/>
            <a:ext cx="304800" cy="0"/>
          </a:xfrm>
          <a:prstGeom prst="straightConnector1">
            <a:avLst/>
          </a:prstGeom>
          <a:ln w="28575">
            <a:solidFill>
              <a:srgbClr val="007C83"/>
            </a:solidFill>
            <a:prstDash val="solid"/>
            <a:tailEnd type="arrow" w="sm" len="sm"/>
          </a:ln>
        </p:spPr>
      </p:cxnSp>
      <p:cxnSp>
        <p:nvCxnSpPr>
          <p:cNvPr id="48" name="Straight Arrow Connector 47"/>
          <p:cNvCxnSpPr>
            <a:stCxn id="11" idx="3"/>
            <a:endCxn id="13" idx="1"/>
          </p:cNvCxnSpPr>
          <p:nvPr/>
        </p:nvCxnSpPr>
        <p:spPr>
          <a:xfrm>
            <a:off x="7867650" y="3295650"/>
            <a:ext cx="304800" cy="0"/>
          </a:xfrm>
          <a:prstGeom prst="straightConnector1">
            <a:avLst/>
          </a:prstGeom>
          <a:ln w="28575">
            <a:solidFill>
              <a:srgbClr val="007C83"/>
            </a:solidFill>
            <a:prstDash val="solid"/>
            <a:tailEnd type="arrow" w="sm" len="sm"/>
          </a:ln>
        </p:spPr>
      </p:cxnSp>
      <p:cxnSp>
        <p:nvCxnSpPr>
          <p:cNvPr id="49" name="Straight Arrow Connector 48"/>
          <p:cNvCxnSpPr>
            <a:stCxn id="13" idx="3"/>
            <a:endCxn id="15" idx="1"/>
          </p:cNvCxnSpPr>
          <p:nvPr/>
        </p:nvCxnSpPr>
        <p:spPr>
          <a:xfrm>
            <a:off x="9791700" y="3295650"/>
            <a:ext cx="304800" cy="0"/>
          </a:xfrm>
          <a:prstGeom prst="straightConnector1">
            <a:avLst/>
          </a:prstGeom>
          <a:ln w="28575">
            <a:solidFill>
              <a:srgbClr val="007C83"/>
            </a:solidFill>
            <a:prstDash val="solid"/>
            <a:tailEnd type="arrow" w="sm" len="sm"/>
          </a:ln>
        </p:spPr>
      </p:cxnSp>
      <p:cxnSp>
        <p:nvCxnSpPr>
          <p:cNvPr id="50" name="Connector: Elbow 49"/>
          <p:cNvCxnSpPr>
            <a:stCxn id="13" idx="0"/>
            <a:endCxn id="7" idx="0"/>
          </p:cNvCxnSpPr>
          <p:nvPr/>
        </p:nvCxnSpPr>
        <p:spPr>
          <a:xfrm flipH="1">
            <a:off x="3209925" y="2628900"/>
            <a:ext cx="5772150" cy="228600"/>
          </a:xfrm>
          <a:prstGeom prst="bentConnector4">
            <a:avLst/>
          </a:prstGeom>
          <a:ln w="28575">
            <a:solidFill>
              <a:srgbClr val="C64B2D"/>
            </a:solidFill>
            <a:prstDash val="dash"/>
            <a:tailEnd type="arrow" w="sm" len="sm"/>
          </a:ln>
        </p:spPr>
      </p:cxnSp>
      <p:sp>
        <p:nvSpPr>
          <p:cNvPr id="23" name="Rectangle 22">
            <a:extLst>
              <a:ext uri="{FF2B5EF4-FFF2-40B4-BE49-F238E27FC236}">
                <a16:creationId xmlns:a16="http://schemas.microsoft.com/office/drawing/2014/main" id="{0000000D-0011-4000-8000-000000000000}"/>
              </a:ext>
            </a:extLst>
          </p:cNvPr>
          <p:cNvSpPr>
            <a:spLocks noGrp="1"/>
          </p:cNvSpPr>
          <p:nvPr/>
        </p:nvSpPr>
        <p:spPr>
          <a:xfrm>
            <a:off x="3714750" y="1952625"/>
            <a:ext cx="4953000" cy="342900"/>
          </a:xfrm>
          <a:prstGeom prst="rect">
            <a:avLst/>
          </a:prstGeom>
          <a:noFill/>
          <a:ln w="0">
            <a:noFill/>
            <a:prstDash val="solid"/>
          </a:ln>
        </p:spPr>
        <p:txBody>
          <a:bodyPr wrap="square" lIns="0" tIns="0" rIns="0" bIns="0" anchor="t">
            <a:normAutofit/>
          </a:bodyPr>
          <a:lstStyle/>
          <a:p>
            <a:pPr algn="ctr">
              <a:defRPr sz="1800" b="1" i="0">
                <a:solidFill>
                  <a:srgbClr val="C64B2D"/>
                </a:solidFill>
                <a:latin typeface="Arial"/>
                <a:ea typeface="Arial"/>
                <a:cs typeface="Arial"/>
              </a:defRPr>
            </a:pPr>
            <a:r>
              <a:rPr sz="1800" b="1" i="0">
                <a:solidFill>
                  <a:srgbClr val="C64B2D"/>
                </a:solidFill>
                <a:latin typeface="Arial"/>
                <a:ea typeface="Arial"/>
                <a:cs typeface="Arial"/>
              </a:rPr>
              <a:t>selection uses validation information</a:t>
            </a:r>
          </a:p>
        </p:txBody>
      </p:sp>
      <p:sp>
        <p:nvSpPr>
          <p:cNvPr id="24" name="Rectangle 23">
            <a:extLst>
              <a:ext uri="{FF2B5EF4-FFF2-40B4-BE49-F238E27FC236}">
                <a16:creationId xmlns:a16="http://schemas.microsoft.com/office/drawing/2014/main" id="{0000000D-0012-4000-8000-000000000000}"/>
              </a:ext>
            </a:extLst>
          </p:cNvPr>
          <p:cNvSpPr>
            <a:spLocks noGrp="1"/>
          </p:cNvSpPr>
          <p:nvPr/>
        </p:nvSpPr>
        <p:spPr>
          <a:xfrm>
            <a:off x="3238500" y="4286250"/>
            <a:ext cx="5715000" cy="419100"/>
          </a:xfrm>
          <a:prstGeom prst="rect">
            <a:avLst/>
          </a:prstGeom>
          <a:noFill/>
          <a:ln w="0">
            <a:noFill/>
            <a:prstDash val="solid"/>
          </a:ln>
        </p:spPr>
        <p:txBody>
          <a:bodyPr wrap="square" lIns="0" tIns="0" rIns="0" bIns="0" anchor="t">
            <a:normAutofit/>
          </a:bodyPr>
          <a:lstStyle/>
          <a:p>
            <a:pPr algn="ctr">
              <a:defRPr sz="2325" b="1" i="0">
                <a:solidFill>
                  <a:srgbClr val="102A43"/>
                </a:solidFill>
                <a:latin typeface="Arial"/>
                <a:ea typeface="Arial"/>
                <a:cs typeface="Arial"/>
              </a:defRPr>
            </a:pPr>
            <a:r>
              <a:rPr sz="2325" b="1" i="0">
                <a:solidFill>
                  <a:srgbClr val="102A43"/>
                </a:solidFill>
                <a:latin typeface="Arial"/>
                <a:ea typeface="Arial"/>
                <a:cs typeface="Arial"/>
              </a:rPr>
              <a:t>Define the split before fitting.</a:t>
            </a:r>
          </a:p>
        </p:txBody>
      </p:sp>
      <p:sp>
        <p:nvSpPr>
          <p:cNvPr id="25" name="Rectangle 24">
            <a:extLst>
              <a:ext uri="{FF2B5EF4-FFF2-40B4-BE49-F238E27FC236}">
                <a16:creationId xmlns:a16="http://schemas.microsoft.com/office/drawing/2014/main" id="{0000000D-0013-4000-8000-000000000000}"/>
              </a:ext>
            </a:extLst>
          </p:cNvPr>
          <p:cNvSpPr>
            <a:spLocks noGrp="1"/>
          </p:cNvSpPr>
          <p:nvPr/>
        </p:nvSpPr>
        <p:spPr>
          <a:xfrm>
            <a:off x="1809750" y="5000625"/>
            <a:ext cx="8572500" cy="666750"/>
          </a:xfrm>
          <a:prstGeom prst="rect">
            <a:avLst/>
          </a:prstGeom>
          <a:noFill/>
          <a:ln w="0">
            <a:noFill/>
            <a:prstDash val="solid"/>
          </a:ln>
        </p:spPr>
        <p:txBody>
          <a:bodyPr wrap="square" lIns="0" tIns="0" rIns="0" bIns="0" anchor="t">
            <a:normAutofit/>
          </a:bodyPr>
          <a:lstStyle/>
          <a:p>
            <a:pPr algn="ctr">
              <a:defRPr sz="2025" b="0" i="0">
                <a:solidFill>
                  <a:srgbClr val="52606D"/>
                </a:solidFill>
                <a:latin typeface="Arial"/>
                <a:ea typeface="Arial"/>
                <a:cs typeface="Arial"/>
              </a:defRPr>
            </a:pPr>
            <a:r>
              <a:rPr sz="2025" b="0" i="0">
                <a:solidFill>
                  <a:srgbClr val="52606D"/>
                </a:solidFill>
                <a:latin typeface="Arial"/>
                <a:ea typeface="Arial"/>
                <a:cs typeface="Arial"/>
              </a:rPr>
              <a:t>Validation is an estimate under a protocol—not a universal score.</a:t>
            </a:r>
          </a:p>
        </p:txBody>
      </p:sp>
      <p:sp>
        <p:nvSpPr>
          <p:cNvPr id="26" name="Rectangle 25">
            <a:extLst>
              <a:ext uri="{FF2B5EF4-FFF2-40B4-BE49-F238E27FC236}">
                <a16:creationId xmlns:a16="http://schemas.microsoft.com/office/drawing/2014/main" id="{0000000D-0014-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0000000D-0016-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SL13</a:t>
            </a:r>
          </a:p>
        </p:txBody>
      </p:sp>
    </p:spTree>
    <p:extLst>
      <p:ext uri="{BB962C8B-B14F-4D97-AF65-F5344CB8AC3E}">
        <p14:creationId xmlns:p14="http://schemas.microsoft.com/office/powerpoint/2010/main" val="1300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00000E-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SQUARED-ERROR BASELINE</a:t>
            </a:r>
          </a:p>
        </p:txBody>
      </p:sp>
      <p:sp>
        <p:nvSpPr>
          <p:cNvPr id="2" name="Rectangle 1">
            <a:extLst>
              <a:ext uri="{FF2B5EF4-FFF2-40B4-BE49-F238E27FC236}">
                <a16:creationId xmlns:a16="http://schemas.microsoft.com/office/drawing/2014/main" id="{0000000E-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14</a:t>
            </a:r>
          </a:p>
        </p:txBody>
      </p:sp>
      <p:sp>
        <p:nvSpPr>
          <p:cNvPr id="3" name="Rectangle 2">
            <a:extLst>
              <a:ext uri="{FF2B5EF4-FFF2-40B4-BE49-F238E27FC236}">
                <a16:creationId xmlns:a16="http://schemas.microsoft.com/office/drawing/2014/main" id="{0000000E-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fontScale="99395"/>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Training-only constant is a defensible baseline</a:t>
            </a:r>
          </a:p>
        </p:txBody>
      </p:sp>
      <p:sp>
        <p:nvSpPr>
          <p:cNvPr id="4" name="Rectangle 3">
            <a:extLst>
              <a:ext uri="{FF2B5EF4-FFF2-40B4-BE49-F238E27FC236}">
                <a16:creationId xmlns:a16="http://schemas.microsoft.com/office/drawing/2014/main" id="{0000000E-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E-0005-4000-8000-000000000000}"/>
              </a:ext>
            </a:extLst>
          </p:cNvPr>
          <p:cNvSpPr>
            <a:spLocks noGrp="1"/>
          </p:cNvSpPr>
          <p:nvPr/>
        </p:nvSpPr>
        <p:spPr>
          <a:xfrm>
            <a:off x="1047750" y="1809750"/>
            <a:ext cx="10096500" cy="666750"/>
          </a:xfrm>
          <a:prstGeom prst="rect">
            <a:avLst/>
          </a:prstGeom>
          <a:noFill/>
          <a:ln w="0">
            <a:noFill/>
            <a:prstDash val="solid"/>
          </a:ln>
        </p:spPr>
        <p:txBody>
          <a:bodyPr wrap="square" lIns="0" tIns="0" rIns="0" bIns="0" anchor="t">
            <a:normAutofit/>
          </a:bodyPr>
          <a:lstStyle/>
          <a:p>
            <a:pPr algn="ctr">
              <a:defRPr sz="3225" b="1" i="0">
                <a:solidFill>
                  <a:srgbClr val="102A43"/>
                </a:solidFill>
                <a:latin typeface="Arial"/>
                <a:ea typeface="Arial"/>
                <a:cs typeface="Arial"/>
              </a:defRPr>
            </a:pPr>
            <a:r>
              <a:rPr sz="3225" b="1" i="0">
                <a:solidFill>
                  <a:srgbClr val="102A43"/>
                </a:solidFill>
                <a:latin typeface="Arial"/>
                <a:ea typeface="Arial"/>
                <a:cs typeface="Arial"/>
              </a:rPr>
              <a:t>L(c) = Σᵢ∈T (yᵢ − c)²</a:t>
            </a:r>
          </a:p>
        </p:txBody>
      </p:sp>
      <p:sp>
        <p:nvSpPr>
          <p:cNvPr id="6" name="Rectangle 5">
            <a:extLst>
              <a:ext uri="{FF2B5EF4-FFF2-40B4-BE49-F238E27FC236}">
                <a16:creationId xmlns:a16="http://schemas.microsoft.com/office/drawing/2014/main" id="{0000000E-0006-4000-8000-000000000000}"/>
              </a:ext>
            </a:extLst>
          </p:cNvPr>
          <p:cNvSpPr>
            <a:spLocks noGrp="1"/>
          </p:cNvSpPr>
          <p:nvPr/>
        </p:nvSpPr>
        <p:spPr>
          <a:xfrm>
            <a:off x="2381250" y="2714625"/>
            <a:ext cx="7429500" cy="28575"/>
          </a:xfrm>
          <a:prstGeom prst="rect">
            <a:avLst/>
          </a:prstGeom>
          <a:solidFill>
            <a:srgbClr val="BCCCDC"/>
          </a:solidFill>
          <a:ln w="0">
            <a:noFill/>
            <a:prstDash val="solid"/>
          </a:ln>
        </p:spPr>
        <p:txBody>
          <a:bodyPr/>
          <a:lstStyle/>
          <a:p>
            <a:endParaRPr lang="en-US"/>
          </a:p>
        </p:txBody>
      </p:sp>
      <p:sp>
        <p:nvSpPr>
          <p:cNvPr id="7" name="Rectangle 6">
            <a:extLst>
              <a:ext uri="{FF2B5EF4-FFF2-40B4-BE49-F238E27FC236}">
                <a16:creationId xmlns:a16="http://schemas.microsoft.com/office/drawing/2014/main" id="{0000000E-0007-4000-8000-000000000000}"/>
              </a:ext>
            </a:extLst>
          </p:cNvPr>
          <p:cNvSpPr>
            <a:spLocks noGrp="1"/>
          </p:cNvSpPr>
          <p:nvPr/>
        </p:nvSpPr>
        <p:spPr>
          <a:xfrm>
            <a:off x="1047750" y="3048000"/>
            <a:ext cx="10096500" cy="628650"/>
          </a:xfrm>
          <a:prstGeom prst="rect">
            <a:avLst/>
          </a:prstGeom>
          <a:noFill/>
          <a:ln w="0">
            <a:noFill/>
            <a:prstDash val="solid"/>
          </a:ln>
        </p:spPr>
        <p:txBody>
          <a:bodyPr wrap="square" lIns="0" tIns="0" rIns="0" bIns="0" anchor="t">
            <a:normAutofit/>
          </a:bodyPr>
          <a:lstStyle/>
          <a:p>
            <a:pPr algn="ctr">
              <a:defRPr sz="2925" b="0" i="0">
                <a:solidFill>
                  <a:srgbClr val="102A43"/>
                </a:solidFill>
                <a:latin typeface="Arial"/>
                <a:ea typeface="Arial"/>
                <a:cs typeface="Arial"/>
              </a:defRPr>
            </a:pPr>
            <a:r>
              <a:rPr sz="2925" b="0" i="0">
                <a:solidFill>
                  <a:srgbClr val="102A43"/>
                </a:solidFill>
                <a:latin typeface="Arial"/>
                <a:ea typeface="Arial"/>
                <a:cs typeface="Arial"/>
              </a:rPr>
              <a:t>dL/dc = −2Σyᵢ + 2nc = 0</a:t>
            </a:r>
          </a:p>
        </p:txBody>
      </p:sp>
      <p:sp>
        <p:nvSpPr>
          <p:cNvPr id="8" name="Rectangle 7">
            <a:extLst>
              <a:ext uri="{FF2B5EF4-FFF2-40B4-BE49-F238E27FC236}">
                <a16:creationId xmlns:a16="http://schemas.microsoft.com/office/drawing/2014/main" id="{0000000E-0008-4000-8000-000000000000}"/>
              </a:ext>
            </a:extLst>
          </p:cNvPr>
          <p:cNvSpPr>
            <a:spLocks noGrp="1"/>
          </p:cNvSpPr>
          <p:nvPr/>
        </p:nvSpPr>
        <p:spPr>
          <a:xfrm>
            <a:off x="3238500" y="3905250"/>
            <a:ext cx="5715000" cy="742950"/>
          </a:xfrm>
          <a:prstGeom prst="rect">
            <a:avLst/>
          </a:prstGeom>
          <a:noFill/>
          <a:ln w="0">
            <a:noFill/>
            <a:prstDash val="solid"/>
          </a:ln>
        </p:spPr>
        <p:txBody>
          <a:bodyPr wrap="square" lIns="0" tIns="0" rIns="0" bIns="0" anchor="ctr">
            <a:normAutofit/>
          </a:bodyPr>
          <a:lstStyle/>
          <a:p>
            <a:pPr algn="ctr">
              <a:defRPr sz="3900" b="1" i="0">
                <a:solidFill>
                  <a:srgbClr val="007C83"/>
                </a:solidFill>
                <a:latin typeface="Arial"/>
                <a:ea typeface="Arial"/>
                <a:cs typeface="Arial"/>
              </a:defRPr>
            </a:pPr>
            <a:r>
              <a:rPr sz="3900" b="1" i="0">
                <a:solidFill>
                  <a:srgbClr val="007C83"/>
                </a:solidFill>
                <a:latin typeface="Arial"/>
                <a:ea typeface="Arial"/>
                <a:cs typeface="Arial"/>
              </a:rPr>
              <a:t>c = meanₜ(y)</a:t>
            </a:r>
          </a:p>
        </p:txBody>
      </p:sp>
      <p:sp>
        <p:nvSpPr>
          <p:cNvPr id="9" name="Rectangle 8">
            <a:extLst>
              <a:ext uri="{FF2B5EF4-FFF2-40B4-BE49-F238E27FC236}">
                <a16:creationId xmlns:a16="http://schemas.microsoft.com/office/drawing/2014/main" id="{0000000E-0009-4000-8000-000000000000}"/>
              </a:ext>
            </a:extLst>
          </p:cNvPr>
          <p:cNvSpPr>
            <a:spLocks noGrp="1"/>
          </p:cNvSpPr>
          <p:nvPr/>
        </p:nvSpPr>
        <p:spPr>
          <a:xfrm>
            <a:off x="4000500" y="4762500"/>
            <a:ext cx="4191000" cy="361950"/>
          </a:xfrm>
          <a:prstGeom prst="rect">
            <a:avLst/>
          </a:prstGeom>
          <a:noFill/>
          <a:ln w="0">
            <a:noFill/>
            <a:prstDash val="solid"/>
          </a:ln>
        </p:spPr>
        <p:txBody>
          <a:bodyPr wrap="square" lIns="0" tIns="0" rIns="0" bIns="0" anchor="t">
            <a:normAutofit/>
          </a:bodyPr>
          <a:lstStyle/>
          <a:p>
            <a:pPr algn="ctr">
              <a:defRPr sz="1875" b="0" i="0">
                <a:solidFill>
                  <a:srgbClr val="52606D"/>
                </a:solidFill>
                <a:latin typeface="Arial"/>
                <a:ea typeface="Arial"/>
                <a:cs typeface="Arial"/>
              </a:defRPr>
            </a:pPr>
            <a:r>
              <a:rPr sz="1875" b="0" i="0">
                <a:solidFill>
                  <a:srgbClr val="52606D"/>
                </a:solidFill>
                <a:latin typeface="Arial"/>
                <a:ea typeface="Arial"/>
                <a:cs typeface="Arial"/>
              </a:rPr>
              <a:t>d²L/dc² = 2n &gt; 0</a:t>
            </a:r>
          </a:p>
        </p:txBody>
      </p:sp>
      <p:sp>
        <p:nvSpPr>
          <p:cNvPr id="10" name="Rectangle 9">
            <a:extLst>
              <a:ext uri="{FF2B5EF4-FFF2-40B4-BE49-F238E27FC236}">
                <a16:creationId xmlns:a16="http://schemas.microsoft.com/office/drawing/2014/main" id="{0000000E-000A-4000-8000-000000000000}"/>
              </a:ext>
            </a:extLst>
          </p:cNvPr>
          <p:cNvSpPr>
            <a:spLocks noGrp="1"/>
          </p:cNvSpPr>
          <p:nvPr/>
        </p:nvSpPr>
        <p:spPr>
          <a:xfrm>
            <a:off x="1524000" y="5334000"/>
            <a:ext cx="9144000" cy="552450"/>
          </a:xfrm>
          <a:prstGeom prst="rect">
            <a:avLst/>
          </a:prstGeom>
          <a:solidFill>
            <a:srgbClr val="D9F0EF"/>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000000E-000B-4000-8000-000000000000}"/>
              </a:ext>
            </a:extLst>
          </p:cNvPr>
          <p:cNvSpPr>
            <a:spLocks noGrp="1"/>
          </p:cNvSpPr>
          <p:nvPr/>
        </p:nvSpPr>
        <p:spPr>
          <a:xfrm>
            <a:off x="1762125" y="5438775"/>
            <a:ext cx="8667750" cy="342900"/>
          </a:xfrm>
          <a:prstGeom prst="rect">
            <a:avLst/>
          </a:prstGeom>
          <a:noFill/>
          <a:ln w="0">
            <a:noFill/>
            <a:prstDash val="solid"/>
          </a:ln>
        </p:spPr>
        <p:txBody>
          <a:bodyPr wrap="square" lIns="0" tIns="0" rIns="0" bIns="0" anchor="ctr">
            <a:normAutofit fontScale="88750"/>
          </a:bodyPr>
          <a:lstStyle/>
          <a:p>
            <a:pPr algn="ctr">
              <a:defRPr sz="1875" b="1" i="0">
                <a:solidFill>
                  <a:srgbClr val="102A43"/>
                </a:solidFill>
                <a:latin typeface="Arial"/>
                <a:ea typeface="Arial"/>
                <a:cs typeface="Arial"/>
              </a:defRPr>
            </a:pPr>
            <a:r>
              <a:rPr sz="1875" b="1" i="0">
                <a:solidFill>
                  <a:srgbClr val="102A43"/>
                </a:solidFill>
                <a:latin typeface="Arial"/>
                <a:ea typeface="Arial"/>
                <a:cs typeface="Arial"/>
              </a:rPr>
              <a:t>Reference point—not a regression lesson. c has y units; loss has squared units.</a:t>
            </a:r>
          </a:p>
        </p:txBody>
      </p:sp>
      <p:sp>
        <p:nvSpPr>
          <p:cNvPr id="12" name="Rectangle 11">
            <a:extLst>
              <a:ext uri="{FF2B5EF4-FFF2-40B4-BE49-F238E27FC236}">
                <a16:creationId xmlns:a16="http://schemas.microsoft.com/office/drawing/2014/main" id="{0000000E-000C-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000000E-000E-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SL14</a:t>
            </a:r>
          </a:p>
        </p:txBody>
      </p:sp>
    </p:spTree>
    <p:extLst>
      <p:ext uri="{BB962C8B-B14F-4D97-AF65-F5344CB8AC3E}">
        <p14:creationId xmlns:p14="http://schemas.microsoft.com/office/powerpoint/2010/main" val="140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000000F-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WORKED EXAMPLE · NO INDEPENDENT-TASK RESULTS SHOWN</a:t>
            </a:r>
          </a:p>
        </p:txBody>
      </p:sp>
      <p:sp>
        <p:nvSpPr>
          <p:cNvPr id="2" name="Rectangle 1">
            <a:extLst>
              <a:ext uri="{FF2B5EF4-FFF2-40B4-BE49-F238E27FC236}">
                <a16:creationId xmlns:a16="http://schemas.microsoft.com/office/drawing/2014/main" id="{0000000F-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15</a:t>
            </a:r>
          </a:p>
        </p:txBody>
      </p:sp>
      <p:sp>
        <p:nvSpPr>
          <p:cNvPr id="3" name="Rectangle 2">
            <a:extLst>
              <a:ext uri="{FF2B5EF4-FFF2-40B4-BE49-F238E27FC236}">
                <a16:creationId xmlns:a16="http://schemas.microsoft.com/office/drawing/2014/main" id="{0000000F-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Reproduce the result, then question it</a:t>
            </a:r>
          </a:p>
        </p:txBody>
      </p:sp>
      <p:sp>
        <p:nvSpPr>
          <p:cNvPr id="4" name="Rectangle 3">
            <a:extLst>
              <a:ext uri="{FF2B5EF4-FFF2-40B4-BE49-F238E27FC236}">
                <a16:creationId xmlns:a16="http://schemas.microsoft.com/office/drawing/2014/main" id="{0000000F-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0F-0005-4000-8000-000000000000}"/>
              </a:ext>
            </a:extLst>
          </p:cNvPr>
          <p:cNvSpPr>
            <a:spLocks noGrp="1"/>
          </p:cNvSpPr>
          <p:nvPr/>
        </p:nvSpPr>
        <p:spPr>
          <a:xfrm>
            <a:off x="685800" y="1762125"/>
            <a:ext cx="2000250" cy="781050"/>
          </a:xfrm>
          <a:prstGeom prst="rect">
            <a:avLst/>
          </a:prstGeom>
          <a:noFill/>
          <a:ln w="0">
            <a:noFill/>
            <a:prstDash val="solid"/>
          </a:ln>
        </p:spPr>
        <p:txBody>
          <a:bodyPr wrap="square" lIns="0" tIns="0" rIns="0" bIns="0" anchor="t">
            <a:normAutofit/>
          </a:bodyPr>
          <a:lstStyle/>
          <a:p>
            <a:pPr algn="ctr">
              <a:defRPr sz="4500" b="1" i="0">
                <a:solidFill>
                  <a:srgbClr val="007C83"/>
                </a:solidFill>
                <a:latin typeface="Arial"/>
                <a:ea typeface="Arial"/>
                <a:cs typeface="Arial"/>
              </a:defRPr>
            </a:pPr>
            <a:r>
              <a:rPr sz="4500" b="1" i="0">
                <a:solidFill>
                  <a:srgbClr val="007C83"/>
                </a:solidFill>
                <a:latin typeface="Arial"/>
                <a:ea typeface="Arial"/>
                <a:cs typeface="Arial"/>
              </a:rPr>
              <a:t>24</a:t>
            </a:r>
          </a:p>
        </p:txBody>
      </p:sp>
      <p:sp>
        <p:nvSpPr>
          <p:cNvPr id="6" name="Rectangle 5">
            <a:extLst>
              <a:ext uri="{FF2B5EF4-FFF2-40B4-BE49-F238E27FC236}">
                <a16:creationId xmlns:a16="http://schemas.microsoft.com/office/drawing/2014/main" id="{0000000F-0006-4000-8000-000000000000}"/>
              </a:ext>
            </a:extLst>
          </p:cNvPr>
          <p:cNvSpPr>
            <a:spLocks noGrp="1"/>
          </p:cNvSpPr>
          <p:nvPr/>
        </p:nvSpPr>
        <p:spPr>
          <a:xfrm>
            <a:off x="685800" y="2571750"/>
            <a:ext cx="2000250" cy="323850"/>
          </a:xfrm>
          <a:prstGeom prst="rect">
            <a:avLst/>
          </a:prstGeom>
          <a:noFill/>
          <a:ln w="0">
            <a:noFill/>
            <a:prstDash val="solid"/>
          </a:ln>
        </p:spPr>
        <p:txBody>
          <a:bodyPr wrap="square" lIns="0" tIns="0" rIns="0" bIns="0" anchor="t">
            <a:normAutofit/>
          </a:bodyPr>
          <a:lstStyle/>
          <a:p>
            <a:pPr algn="ctr">
              <a:defRPr sz="1725" b="1" i="0">
                <a:solidFill>
                  <a:srgbClr val="102A43"/>
                </a:solidFill>
                <a:latin typeface="Arial"/>
                <a:ea typeface="Arial"/>
                <a:cs typeface="Arial"/>
              </a:defRPr>
            </a:pPr>
            <a:r>
              <a:rPr sz="1725" b="1" i="0">
                <a:solidFill>
                  <a:srgbClr val="102A43"/>
                </a:solidFill>
                <a:latin typeface="Arial"/>
                <a:ea typeface="Arial"/>
                <a:cs typeface="Arial"/>
              </a:rPr>
              <a:t>synthetic rows</a:t>
            </a:r>
          </a:p>
        </p:txBody>
      </p:sp>
      <p:sp>
        <p:nvSpPr>
          <p:cNvPr id="7" name="Rectangle 6">
            <a:extLst>
              <a:ext uri="{FF2B5EF4-FFF2-40B4-BE49-F238E27FC236}">
                <a16:creationId xmlns:a16="http://schemas.microsoft.com/office/drawing/2014/main" id="{0000000F-0007-4000-8000-000000000000}"/>
              </a:ext>
            </a:extLst>
          </p:cNvPr>
          <p:cNvSpPr>
            <a:spLocks noGrp="1"/>
          </p:cNvSpPr>
          <p:nvPr/>
        </p:nvSpPr>
        <p:spPr>
          <a:xfrm>
            <a:off x="3143250" y="1762125"/>
            <a:ext cx="2000250" cy="781050"/>
          </a:xfrm>
          <a:prstGeom prst="rect">
            <a:avLst/>
          </a:prstGeom>
          <a:noFill/>
          <a:ln w="0">
            <a:noFill/>
            <a:prstDash val="solid"/>
          </a:ln>
        </p:spPr>
        <p:txBody>
          <a:bodyPr wrap="square" lIns="0" tIns="0" rIns="0" bIns="0" anchor="t">
            <a:normAutofit/>
          </a:bodyPr>
          <a:lstStyle/>
          <a:p>
            <a:pPr algn="ctr">
              <a:defRPr sz="4500" b="1" i="0">
                <a:solidFill>
                  <a:srgbClr val="007C83"/>
                </a:solidFill>
                <a:latin typeface="Arial"/>
                <a:ea typeface="Arial"/>
                <a:cs typeface="Arial"/>
              </a:defRPr>
            </a:pPr>
            <a:r>
              <a:rPr sz="4500" b="1" i="0">
                <a:solidFill>
                  <a:srgbClr val="007C83"/>
                </a:solidFill>
                <a:latin typeface="Arial"/>
                <a:ea typeface="Arial"/>
                <a:cs typeface="Arial"/>
              </a:rPr>
              <a:t>42</a:t>
            </a:r>
          </a:p>
        </p:txBody>
      </p:sp>
      <p:sp>
        <p:nvSpPr>
          <p:cNvPr id="8" name="Rectangle 7">
            <a:extLst>
              <a:ext uri="{FF2B5EF4-FFF2-40B4-BE49-F238E27FC236}">
                <a16:creationId xmlns:a16="http://schemas.microsoft.com/office/drawing/2014/main" id="{0000000F-0008-4000-8000-000000000000}"/>
              </a:ext>
            </a:extLst>
          </p:cNvPr>
          <p:cNvSpPr>
            <a:spLocks noGrp="1"/>
          </p:cNvSpPr>
          <p:nvPr/>
        </p:nvSpPr>
        <p:spPr>
          <a:xfrm>
            <a:off x="3143250" y="2571750"/>
            <a:ext cx="2000250" cy="323850"/>
          </a:xfrm>
          <a:prstGeom prst="rect">
            <a:avLst/>
          </a:prstGeom>
          <a:noFill/>
          <a:ln w="0">
            <a:noFill/>
            <a:prstDash val="solid"/>
          </a:ln>
        </p:spPr>
        <p:txBody>
          <a:bodyPr wrap="square" lIns="0" tIns="0" rIns="0" bIns="0" anchor="t">
            <a:normAutofit/>
          </a:bodyPr>
          <a:lstStyle/>
          <a:p>
            <a:pPr algn="ctr">
              <a:defRPr sz="1725" b="1" i="0">
                <a:solidFill>
                  <a:srgbClr val="102A43"/>
                </a:solidFill>
                <a:latin typeface="Arial"/>
                <a:ea typeface="Arial"/>
                <a:cs typeface="Arial"/>
              </a:defRPr>
            </a:pPr>
            <a:r>
              <a:rPr sz="1725" b="1" i="0">
                <a:solidFill>
                  <a:srgbClr val="102A43"/>
                </a:solidFill>
                <a:latin typeface="Arial"/>
                <a:ea typeface="Arial"/>
                <a:cs typeface="Arial"/>
              </a:rPr>
              <a:t>seed</a:t>
            </a:r>
          </a:p>
        </p:txBody>
      </p:sp>
      <p:sp>
        <p:nvSpPr>
          <p:cNvPr id="9" name="Rectangle 8">
            <a:extLst>
              <a:ext uri="{FF2B5EF4-FFF2-40B4-BE49-F238E27FC236}">
                <a16:creationId xmlns:a16="http://schemas.microsoft.com/office/drawing/2014/main" id="{0000000F-0009-4000-8000-000000000000}"/>
              </a:ext>
            </a:extLst>
          </p:cNvPr>
          <p:cNvSpPr>
            <a:spLocks noGrp="1"/>
          </p:cNvSpPr>
          <p:nvPr/>
        </p:nvSpPr>
        <p:spPr>
          <a:xfrm>
            <a:off x="5600700" y="1762125"/>
            <a:ext cx="2000250" cy="781050"/>
          </a:xfrm>
          <a:prstGeom prst="rect">
            <a:avLst/>
          </a:prstGeom>
          <a:noFill/>
          <a:ln w="0">
            <a:noFill/>
            <a:prstDash val="solid"/>
          </a:ln>
        </p:spPr>
        <p:txBody>
          <a:bodyPr wrap="square" lIns="0" tIns="0" rIns="0" bIns="0" anchor="t">
            <a:normAutofit/>
          </a:bodyPr>
          <a:lstStyle/>
          <a:p>
            <a:pPr algn="ctr">
              <a:defRPr sz="4500" b="1" i="0">
                <a:solidFill>
                  <a:srgbClr val="007C83"/>
                </a:solidFill>
                <a:latin typeface="Arial"/>
                <a:ea typeface="Arial"/>
                <a:cs typeface="Arial"/>
              </a:defRPr>
            </a:pPr>
            <a:r>
              <a:rPr sz="4500" b="1" i="0">
                <a:solidFill>
                  <a:srgbClr val="007C83"/>
                </a:solidFill>
                <a:latin typeface="Arial"/>
                <a:ea typeface="Arial"/>
                <a:cs typeface="Arial"/>
              </a:rPr>
              <a:t>18 / 6</a:t>
            </a:r>
          </a:p>
        </p:txBody>
      </p:sp>
      <p:sp>
        <p:nvSpPr>
          <p:cNvPr id="10" name="Rectangle 9">
            <a:extLst>
              <a:ext uri="{FF2B5EF4-FFF2-40B4-BE49-F238E27FC236}">
                <a16:creationId xmlns:a16="http://schemas.microsoft.com/office/drawing/2014/main" id="{0000000F-000A-4000-8000-000000000000}"/>
              </a:ext>
            </a:extLst>
          </p:cNvPr>
          <p:cNvSpPr>
            <a:spLocks noGrp="1"/>
          </p:cNvSpPr>
          <p:nvPr/>
        </p:nvSpPr>
        <p:spPr>
          <a:xfrm>
            <a:off x="5600700" y="2571750"/>
            <a:ext cx="2000250" cy="323850"/>
          </a:xfrm>
          <a:prstGeom prst="rect">
            <a:avLst/>
          </a:prstGeom>
          <a:noFill/>
          <a:ln w="0">
            <a:noFill/>
            <a:prstDash val="solid"/>
          </a:ln>
        </p:spPr>
        <p:txBody>
          <a:bodyPr wrap="square" lIns="0" tIns="0" rIns="0" bIns="0" anchor="t">
            <a:normAutofit fontScale="97211"/>
          </a:bodyPr>
          <a:lstStyle/>
          <a:p>
            <a:pPr algn="ctr">
              <a:defRPr sz="1725" b="1" i="0">
                <a:solidFill>
                  <a:srgbClr val="102A43"/>
                </a:solidFill>
                <a:latin typeface="Arial"/>
                <a:ea typeface="Arial"/>
                <a:cs typeface="Arial"/>
              </a:defRPr>
            </a:pPr>
            <a:r>
              <a:rPr sz="1725" b="1" i="0">
                <a:solidFill>
                  <a:srgbClr val="102A43"/>
                </a:solidFill>
                <a:latin typeface="Arial"/>
                <a:ea typeface="Arial"/>
                <a:cs typeface="Arial"/>
              </a:rPr>
              <a:t>train / validation</a:t>
            </a:r>
          </a:p>
        </p:txBody>
      </p:sp>
      <p:sp>
        <p:nvSpPr>
          <p:cNvPr id="11" name="Rectangle 10">
            <a:extLst>
              <a:ext uri="{FF2B5EF4-FFF2-40B4-BE49-F238E27FC236}">
                <a16:creationId xmlns:a16="http://schemas.microsoft.com/office/drawing/2014/main" id="{0000000F-000B-4000-8000-000000000000}"/>
              </a:ext>
            </a:extLst>
          </p:cNvPr>
          <p:cNvSpPr>
            <a:spLocks noGrp="1"/>
          </p:cNvSpPr>
          <p:nvPr/>
        </p:nvSpPr>
        <p:spPr>
          <a:xfrm>
            <a:off x="8058150" y="1762125"/>
            <a:ext cx="2857500" cy="781050"/>
          </a:xfrm>
          <a:prstGeom prst="rect">
            <a:avLst/>
          </a:prstGeom>
          <a:noFill/>
          <a:ln w="0">
            <a:noFill/>
            <a:prstDash val="solid"/>
          </a:ln>
        </p:spPr>
        <p:txBody>
          <a:bodyPr wrap="square" lIns="0" tIns="0" rIns="0" bIns="0" anchor="t">
            <a:normAutofit/>
          </a:bodyPr>
          <a:lstStyle/>
          <a:p>
            <a:pPr algn="ctr">
              <a:defRPr sz="3600" b="1" i="0">
                <a:solidFill>
                  <a:srgbClr val="007C83"/>
                </a:solidFill>
                <a:latin typeface="Arial"/>
                <a:ea typeface="Arial"/>
                <a:cs typeface="Arial"/>
              </a:defRPr>
            </a:pPr>
            <a:r>
              <a:rPr sz="3600" b="1" i="0">
                <a:solidFill>
                  <a:srgbClr val="007C83"/>
                </a:solidFill>
                <a:latin typeface="Arial"/>
                <a:ea typeface="Arial"/>
                <a:cs typeface="Arial"/>
              </a:rPr>
              <a:t>SHA-256</a:t>
            </a:r>
          </a:p>
        </p:txBody>
      </p:sp>
      <p:sp>
        <p:nvSpPr>
          <p:cNvPr id="12" name="Rectangle 11">
            <a:extLst>
              <a:ext uri="{FF2B5EF4-FFF2-40B4-BE49-F238E27FC236}">
                <a16:creationId xmlns:a16="http://schemas.microsoft.com/office/drawing/2014/main" id="{0000000F-000C-4000-8000-000000000000}"/>
              </a:ext>
            </a:extLst>
          </p:cNvPr>
          <p:cNvSpPr>
            <a:spLocks noGrp="1"/>
          </p:cNvSpPr>
          <p:nvPr/>
        </p:nvSpPr>
        <p:spPr>
          <a:xfrm>
            <a:off x="8058150" y="2571750"/>
            <a:ext cx="2857500" cy="323850"/>
          </a:xfrm>
          <a:prstGeom prst="rect">
            <a:avLst/>
          </a:prstGeom>
          <a:noFill/>
          <a:ln w="0">
            <a:noFill/>
            <a:prstDash val="solid"/>
          </a:ln>
        </p:spPr>
        <p:txBody>
          <a:bodyPr wrap="square" lIns="0" tIns="0" rIns="0" bIns="0" anchor="t">
            <a:normAutofit/>
          </a:bodyPr>
          <a:lstStyle/>
          <a:p>
            <a:pPr algn="ctr">
              <a:defRPr sz="1725" b="1" i="0">
                <a:solidFill>
                  <a:srgbClr val="102A43"/>
                </a:solidFill>
                <a:latin typeface="Arial"/>
                <a:ea typeface="Arial"/>
                <a:cs typeface="Arial"/>
              </a:defRPr>
            </a:pPr>
            <a:r>
              <a:rPr sz="1725" b="1" i="0">
                <a:solidFill>
                  <a:srgbClr val="102A43"/>
                </a:solidFill>
                <a:latin typeface="Arial"/>
                <a:ea typeface="Arial"/>
                <a:cs typeface="Arial"/>
              </a:rPr>
              <a:t>data version</a:t>
            </a:r>
          </a:p>
        </p:txBody>
      </p:sp>
      <p:sp>
        <p:nvSpPr>
          <p:cNvPr id="13" name="Rectangle 12">
            <a:extLst>
              <a:ext uri="{FF2B5EF4-FFF2-40B4-BE49-F238E27FC236}">
                <a16:creationId xmlns:a16="http://schemas.microsoft.com/office/drawing/2014/main" id="{0000000F-000D-4000-8000-000000000000}"/>
              </a:ext>
            </a:extLst>
          </p:cNvPr>
          <p:cNvSpPr>
            <a:spLocks noGrp="1"/>
          </p:cNvSpPr>
          <p:nvPr/>
        </p:nvSpPr>
        <p:spPr>
          <a:xfrm>
            <a:off x="685800" y="3171825"/>
            <a:ext cx="10229850" cy="28575"/>
          </a:xfrm>
          <a:prstGeom prst="rect">
            <a:avLst/>
          </a:prstGeom>
          <a:solidFill>
            <a:srgbClr val="BCCCD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000000F-000E-4000-8000-000000000000}"/>
              </a:ext>
            </a:extLst>
          </p:cNvPr>
          <p:cNvSpPr>
            <a:spLocks noGrp="1"/>
          </p:cNvSpPr>
          <p:nvPr/>
        </p:nvSpPr>
        <p:spPr>
          <a:xfrm>
            <a:off x="685800" y="3524250"/>
            <a:ext cx="4095750" cy="323850"/>
          </a:xfrm>
          <a:prstGeom prst="rect">
            <a:avLst/>
          </a:prstGeom>
          <a:noFill/>
          <a:ln w="0">
            <a:noFill/>
            <a:prstDash val="solid"/>
          </a:ln>
        </p:spPr>
        <p:txBody>
          <a:bodyPr wrap="square" lIns="0" tIns="0" rIns="0" bIns="0" anchor="t">
            <a:normAutofit/>
          </a:bodyPr>
          <a:lstStyle/>
          <a:p>
            <a:pPr algn="l">
              <a:defRPr sz="1725" b="1" i="0">
                <a:solidFill>
                  <a:srgbClr val="007C83"/>
                </a:solidFill>
                <a:latin typeface="Arial"/>
                <a:ea typeface="Arial"/>
                <a:cs typeface="Arial"/>
              </a:defRPr>
            </a:pPr>
            <a:r>
              <a:rPr sz="1725" b="1" i="0">
                <a:solidFill>
                  <a:srgbClr val="007C83"/>
                </a:solidFill>
                <a:latin typeface="Arial"/>
                <a:ea typeface="Arial"/>
                <a:cs typeface="Arial"/>
              </a:rPr>
              <a:t>REPRODUCIBILITY RECORD</a:t>
            </a:r>
          </a:p>
        </p:txBody>
      </p:sp>
      <p:sp>
        <p:nvSpPr>
          <p:cNvPr id="15" name="Rectangle 14">
            <a:extLst>
              <a:ext uri="{FF2B5EF4-FFF2-40B4-BE49-F238E27FC236}">
                <a16:creationId xmlns:a16="http://schemas.microsoft.com/office/drawing/2014/main" id="{0000000F-000F-4000-8000-000000000000}"/>
              </a:ext>
            </a:extLst>
          </p:cNvPr>
          <p:cNvSpPr>
            <a:spLocks noGrp="1"/>
          </p:cNvSpPr>
          <p:nvPr/>
        </p:nvSpPr>
        <p:spPr>
          <a:xfrm>
            <a:off x="838200" y="4000500"/>
            <a:ext cx="285750" cy="30480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a:t>
            </a:r>
          </a:p>
        </p:txBody>
      </p:sp>
      <p:sp>
        <p:nvSpPr>
          <p:cNvPr id="16" name="Rectangle 15">
            <a:extLst>
              <a:ext uri="{FF2B5EF4-FFF2-40B4-BE49-F238E27FC236}">
                <a16:creationId xmlns:a16="http://schemas.microsoft.com/office/drawing/2014/main" id="{0000000F-0010-4000-8000-000000000000}"/>
              </a:ext>
            </a:extLst>
          </p:cNvPr>
          <p:cNvSpPr>
            <a:spLocks noGrp="1"/>
          </p:cNvSpPr>
          <p:nvPr/>
        </p:nvSpPr>
        <p:spPr>
          <a:xfrm>
            <a:off x="1190625" y="4000500"/>
            <a:ext cx="3333750" cy="304800"/>
          </a:xfrm>
          <a:prstGeom prst="rect">
            <a:avLst/>
          </a:prstGeom>
          <a:noFill/>
          <a:ln w="0">
            <a:noFill/>
            <a:prstDash val="solid"/>
          </a:ln>
        </p:spPr>
        <p:txBody>
          <a:bodyPr wrap="square" lIns="0" tIns="0" rIns="0" bIns="0" anchor="t">
            <a:normAutofit/>
          </a:bodyPr>
          <a:lstStyle/>
          <a:p>
            <a:pPr algn="l">
              <a:defRPr sz="1875" b="0" i="0">
                <a:solidFill>
                  <a:srgbClr val="102A43"/>
                </a:solidFill>
                <a:latin typeface="Arial"/>
                <a:ea typeface="Arial"/>
                <a:cs typeface="Arial"/>
              </a:defRPr>
            </a:pPr>
            <a:r>
              <a:rPr sz="1875" b="0" i="0">
                <a:solidFill>
                  <a:srgbClr val="102A43"/>
                </a:solidFill>
                <a:latin typeface="Arial"/>
                <a:ea typeface="Arial"/>
                <a:cs typeface="Arial"/>
              </a:rPr>
              <a:t>Python version</a:t>
            </a:r>
          </a:p>
        </p:txBody>
      </p:sp>
      <p:sp>
        <p:nvSpPr>
          <p:cNvPr id="17" name="Rectangle 16">
            <a:extLst>
              <a:ext uri="{FF2B5EF4-FFF2-40B4-BE49-F238E27FC236}">
                <a16:creationId xmlns:a16="http://schemas.microsoft.com/office/drawing/2014/main" id="{0000000F-0011-4000-8000-000000000000}"/>
              </a:ext>
            </a:extLst>
          </p:cNvPr>
          <p:cNvSpPr>
            <a:spLocks noGrp="1"/>
          </p:cNvSpPr>
          <p:nvPr/>
        </p:nvSpPr>
        <p:spPr>
          <a:xfrm>
            <a:off x="838200" y="4400550"/>
            <a:ext cx="285750" cy="30480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a:t>
            </a:r>
          </a:p>
        </p:txBody>
      </p:sp>
      <p:sp>
        <p:nvSpPr>
          <p:cNvPr id="18" name="Rectangle 17">
            <a:extLst>
              <a:ext uri="{FF2B5EF4-FFF2-40B4-BE49-F238E27FC236}">
                <a16:creationId xmlns:a16="http://schemas.microsoft.com/office/drawing/2014/main" id="{0000000F-0012-4000-8000-000000000000}"/>
              </a:ext>
            </a:extLst>
          </p:cNvPr>
          <p:cNvSpPr>
            <a:spLocks noGrp="1"/>
          </p:cNvSpPr>
          <p:nvPr/>
        </p:nvSpPr>
        <p:spPr>
          <a:xfrm>
            <a:off x="1190625" y="4400550"/>
            <a:ext cx="3333750" cy="304800"/>
          </a:xfrm>
          <a:prstGeom prst="rect">
            <a:avLst/>
          </a:prstGeom>
          <a:noFill/>
          <a:ln w="0">
            <a:noFill/>
            <a:prstDash val="solid"/>
          </a:ln>
        </p:spPr>
        <p:txBody>
          <a:bodyPr wrap="square" lIns="0" tIns="0" rIns="0" bIns="0" anchor="t">
            <a:normAutofit/>
          </a:bodyPr>
          <a:lstStyle/>
          <a:p>
            <a:pPr algn="l">
              <a:defRPr sz="1875" b="0" i="0">
                <a:solidFill>
                  <a:srgbClr val="102A43"/>
                </a:solidFill>
                <a:latin typeface="Arial"/>
                <a:ea typeface="Arial"/>
                <a:cs typeface="Arial"/>
              </a:defRPr>
            </a:pPr>
            <a:r>
              <a:rPr sz="1875" b="0" i="0">
                <a:solidFill>
                  <a:srgbClr val="102A43"/>
                </a:solidFill>
                <a:latin typeface="Arial"/>
                <a:ea typeface="Arial"/>
                <a:cs typeface="Arial"/>
              </a:rPr>
              <a:t>Data hash</a:t>
            </a:r>
          </a:p>
        </p:txBody>
      </p:sp>
      <p:sp>
        <p:nvSpPr>
          <p:cNvPr id="19" name="Rectangle 18">
            <a:extLst>
              <a:ext uri="{FF2B5EF4-FFF2-40B4-BE49-F238E27FC236}">
                <a16:creationId xmlns:a16="http://schemas.microsoft.com/office/drawing/2014/main" id="{0000000F-0013-4000-8000-000000000000}"/>
              </a:ext>
            </a:extLst>
          </p:cNvPr>
          <p:cNvSpPr>
            <a:spLocks noGrp="1"/>
          </p:cNvSpPr>
          <p:nvPr/>
        </p:nvSpPr>
        <p:spPr>
          <a:xfrm>
            <a:off x="838200" y="4800600"/>
            <a:ext cx="285750" cy="30480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a:t>
            </a:r>
          </a:p>
        </p:txBody>
      </p:sp>
      <p:sp>
        <p:nvSpPr>
          <p:cNvPr id="20" name="Rectangle 19">
            <a:extLst>
              <a:ext uri="{FF2B5EF4-FFF2-40B4-BE49-F238E27FC236}">
                <a16:creationId xmlns:a16="http://schemas.microsoft.com/office/drawing/2014/main" id="{0000000F-0014-4000-8000-000000000000}"/>
              </a:ext>
            </a:extLst>
          </p:cNvPr>
          <p:cNvSpPr>
            <a:spLocks noGrp="1"/>
          </p:cNvSpPr>
          <p:nvPr/>
        </p:nvSpPr>
        <p:spPr>
          <a:xfrm>
            <a:off x="1190625" y="4800600"/>
            <a:ext cx="3333750" cy="304800"/>
          </a:xfrm>
          <a:prstGeom prst="rect">
            <a:avLst/>
          </a:prstGeom>
          <a:noFill/>
          <a:ln w="0">
            <a:noFill/>
            <a:prstDash val="solid"/>
          </a:ln>
        </p:spPr>
        <p:txBody>
          <a:bodyPr wrap="square" lIns="0" tIns="0" rIns="0" bIns="0" anchor="t">
            <a:normAutofit/>
          </a:bodyPr>
          <a:lstStyle/>
          <a:p>
            <a:pPr algn="l">
              <a:defRPr sz="1875" b="0" i="0">
                <a:solidFill>
                  <a:srgbClr val="102A43"/>
                </a:solidFill>
                <a:latin typeface="Arial"/>
                <a:ea typeface="Arial"/>
                <a:cs typeface="Arial"/>
              </a:defRPr>
            </a:pPr>
            <a:r>
              <a:rPr sz="1875" b="0" i="0">
                <a:solidFill>
                  <a:srgbClr val="102A43"/>
                </a:solidFill>
                <a:latin typeface="Arial"/>
                <a:ea typeface="Arial"/>
                <a:cs typeface="Arial"/>
              </a:rPr>
              <a:t>Partition IDs</a:t>
            </a:r>
          </a:p>
        </p:txBody>
      </p:sp>
      <p:sp>
        <p:nvSpPr>
          <p:cNvPr id="21" name="Rectangle 20">
            <a:extLst>
              <a:ext uri="{FF2B5EF4-FFF2-40B4-BE49-F238E27FC236}">
                <a16:creationId xmlns:a16="http://schemas.microsoft.com/office/drawing/2014/main" id="{0000000F-0015-4000-8000-000000000000}"/>
              </a:ext>
            </a:extLst>
          </p:cNvPr>
          <p:cNvSpPr>
            <a:spLocks noGrp="1"/>
          </p:cNvSpPr>
          <p:nvPr/>
        </p:nvSpPr>
        <p:spPr>
          <a:xfrm>
            <a:off x="838200" y="5200650"/>
            <a:ext cx="285750" cy="30480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a:t>
            </a:r>
          </a:p>
        </p:txBody>
      </p:sp>
      <p:sp>
        <p:nvSpPr>
          <p:cNvPr id="22" name="Rectangle 21">
            <a:extLst>
              <a:ext uri="{FF2B5EF4-FFF2-40B4-BE49-F238E27FC236}">
                <a16:creationId xmlns:a16="http://schemas.microsoft.com/office/drawing/2014/main" id="{0000000F-0016-4000-8000-000000000000}"/>
              </a:ext>
            </a:extLst>
          </p:cNvPr>
          <p:cNvSpPr>
            <a:spLocks noGrp="1"/>
          </p:cNvSpPr>
          <p:nvPr/>
        </p:nvSpPr>
        <p:spPr>
          <a:xfrm>
            <a:off x="1190625" y="5200650"/>
            <a:ext cx="3333750" cy="304800"/>
          </a:xfrm>
          <a:prstGeom prst="rect">
            <a:avLst/>
          </a:prstGeom>
          <a:noFill/>
          <a:ln w="0">
            <a:noFill/>
            <a:prstDash val="solid"/>
          </a:ln>
        </p:spPr>
        <p:txBody>
          <a:bodyPr wrap="square" lIns="0" tIns="0" rIns="0" bIns="0" anchor="t">
            <a:normAutofit/>
          </a:bodyPr>
          <a:lstStyle/>
          <a:p>
            <a:pPr algn="l">
              <a:defRPr sz="1875" b="0" i="0">
                <a:solidFill>
                  <a:srgbClr val="102A43"/>
                </a:solidFill>
                <a:latin typeface="Arial"/>
                <a:ea typeface="Arial"/>
                <a:cs typeface="Arial"/>
              </a:defRPr>
            </a:pPr>
            <a:r>
              <a:rPr sz="1875" b="0" i="0">
                <a:solidFill>
                  <a:srgbClr val="102A43"/>
                </a:solidFill>
                <a:latin typeface="Arial"/>
                <a:ea typeface="Arial"/>
                <a:cs typeface="Arial"/>
              </a:rPr>
              <a:t>Rational c</a:t>
            </a:r>
          </a:p>
        </p:txBody>
      </p:sp>
      <p:sp>
        <p:nvSpPr>
          <p:cNvPr id="23" name="Rectangle 22">
            <a:extLst>
              <a:ext uri="{FF2B5EF4-FFF2-40B4-BE49-F238E27FC236}">
                <a16:creationId xmlns:a16="http://schemas.microsoft.com/office/drawing/2014/main" id="{0000000F-0017-4000-8000-000000000000}"/>
              </a:ext>
            </a:extLst>
          </p:cNvPr>
          <p:cNvSpPr>
            <a:spLocks noGrp="1"/>
          </p:cNvSpPr>
          <p:nvPr/>
        </p:nvSpPr>
        <p:spPr>
          <a:xfrm>
            <a:off x="838200" y="5600700"/>
            <a:ext cx="285750" cy="304800"/>
          </a:xfrm>
          <a:prstGeom prst="rect">
            <a:avLst/>
          </a:prstGeom>
          <a:noFill/>
          <a:ln w="0">
            <a:noFill/>
            <a:prstDash val="solid"/>
          </a:ln>
        </p:spPr>
        <p:txBody>
          <a:bodyPr wrap="square" lIns="0" tIns="0" rIns="0" bIns="0" anchor="t">
            <a:normAutofit/>
          </a:bodyPr>
          <a:lstStyle/>
          <a:p>
            <a:pPr algn="l">
              <a:defRPr sz="1800" b="1" i="0">
                <a:solidFill>
                  <a:srgbClr val="007C83"/>
                </a:solidFill>
                <a:latin typeface="Arial"/>
                <a:ea typeface="Arial"/>
                <a:cs typeface="Arial"/>
              </a:defRPr>
            </a:pPr>
            <a:r>
              <a:rPr sz="1800" b="1" i="0">
                <a:solidFill>
                  <a:srgbClr val="007C83"/>
                </a:solidFill>
                <a:latin typeface="Arial"/>
                <a:ea typeface="Arial"/>
                <a:cs typeface="Arial"/>
              </a:rPr>
              <a:t>•</a:t>
            </a:r>
          </a:p>
        </p:txBody>
      </p:sp>
      <p:sp>
        <p:nvSpPr>
          <p:cNvPr id="24" name="Rectangle 23">
            <a:extLst>
              <a:ext uri="{FF2B5EF4-FFF2-40B4-BE49-F238E27FC236}">
                <a16:creationId xmlns:a16="http://schemas.microsoft.com/office/drawing/2014/main" id="{0000000F-0018-4000-8000-000000000000}"/>
              </a:ext>
            </a:extLst>
          </p:cNvPr>
          <p:cNvSpPr>
            <a:spLocks noGrp="1"/>
          </p:cNvSpPr>
          <p:nvPr/>
        </p:nvSpPr>
        <p:spPr>
          <a:xfrm>
            <a:off x="1190625" y="5600700"/>
            <a:ext cx="3333750" cy="304800"/>
          </a:xfrm>
          <a:prstGeom prst="rect">
            <a:avLst/>
          </a:prstGeom>
          <a:noFill/>
          <a:ln w="0">
            <a:noFill/>
            <a:prstDash val="solid"/>
          </a:ln>
        </p:spPr>
        <p:txBody>
          <a:bodyPr wrap="square" lIns="0" tIns="0" rIns="0" bIns="0" anchor="t">
            <a:normAutofit/>
          </a:bodyPr>
          <a:lstStyle/>
          <a:p>
            <a:pPr algn="l">
              <a:defRPr sz="1875" b="0" i="0">
                <a:solidFill>
                  <a:srgbClr val="102A43"/>
                </a:solidFill>
                <a:latin typeface="Arial"/>
                <a:ea typeface="Arial"/>
                <a:cs typeface="Arial"/>
              </a:defRPr>
            </a:pPr>
            <a:r>
              <a:rPr sz="1875" b="0" i="0">
                <a:solidFill>
                  <a:srgbClr val="102A43"/>
                </a:solidFill>
                <a:latin typeface="Arial"/>
                <a:ea typeface="Arial"/>
                <a:cs typeface="Arial"/>
              </a:rPr>
              <a:t>MSE</a:t>
            </a:r>
          </a:p>
        </p:txBody>
      </p:sp>
      <p:sp>
        <p:nvSpPr>
          <p:cNvPr id="25" name="Rectangle 24">
            <a:extLst>
              <a:ext uri="{FF2B5EF4-FFF2-40B4-BE49-F238E27FC236}">
                <a16:creationId xmlns:a16="http://schemas.microsoft.com/office/drawing/2014/main" id="{0000000F-0019-4000-8000-000000000000}"/>
              </a:ext>
            </a:extLst>
          </p:cNvPr>
          <p:cNvSpPr>
            <a:spLocks noGrp="1"/>
          </p:cNvSpPr>
          <p:nvPr/>
        </p:nvSpPr>
        <p:spPr>
          <a:xfrm>
            <a:off x="5810250" y="3714750"/>
            <a:ext cx="5105400" cy="1619250"/>
          </a:xfrm>
          <a:prstGeom prst="rect">
            <a:avLst/>
          </a:prstGeom>
          <a:solidFill>
            <a:srgbClr val="FFF3E8"/>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0000000F-001A-4000-8000-000000000000}"/>
              </a:ext>
            </a:extLst>
          </p:cNvPr>
          <p:cNvSpPr>
            <a:spLocks noGrp="1"/>
          </p:cNvSpPr>
          <p:nvPr/>
        </p:nvSpPr>
        <p:spPr>
          <a:xfrm>
            <a:off x="6096000" y="4000500"/>
            <a:ext cx="4533900" cy="457200"/>
          </a:xfrm>
          <a:prstGeom prst="rect">
            <a:avLst/>
          </a:prstGeom>
          <a:noFill/>
          <a:ln w="0">
            <a:noFill/>
            <a:prstDash val="solid"/>
          </a:ln>
        </p:spPr>
        <p:txBody>
          <a:bodyPr wrap="square" lIns="0" tIns="0" rIns="0" bIns="0" anchor="t">
            <a:normAutofit fontScale="83438" lnSpcReduction="10000"/>
          </a:bodyPr>
          <a:lstStyle/>
          <a:p>
            <a:pPr algn="ctr">
              <a:defRPr sz="2250" b="1" i="0">
                <a:solidFill>
                  <a:srgbClr val="102A43"/>
                </a:solidFill>
                <a:latin typeface="Arial"/>
                <a:ea typeface="Arial"/>
                <a:cs typeface="Arial"/>
              </a:defRPr>
            </a:pPr>
            <a:r>
              <a:rPr sz="2250" b="1" i="0">
                <a:solidFill>
                  <a:srgbClr val="102A43"/>
                </a:solidFill>
                <a:latin typeface="Arial"/>
                <a:ea typeface="Arial"/>
                <a:cs typeface="Arial"/>
              </a:rPr>
              <a:t>Same hash and score show repeatability.</a:t>
            </a:r>
          </a:p>
        </p:txBody>
      </p:sp>
      <p:sp>
        <p:nvSpPr>
          <p:cNvPr id="27" name="Rectangle 26">
            <a:extLst>
              <a:ext uri="{FF2B5EF4-FFF2-40B4-BE49-F238E27FC236}">
                <a16:creationId xmlns:a16="http://schemas.microsoft.com/office/drawing/2014/main" id="{0000000F-001B-4000-8000-000000000000}"/>
              </a:ext>
            </a:extLst>
          </p:cNvPr>
          <p:cNvSpPr>
            <a:spLocks noGrp="1"/>
          </p:cNvSpPr>
          <p:nvPr/>
        </p:nvSpPr>
        <p:spPr>
          <a:xfrm>
            <a:off x="6096000" y="4619625"/>
            <a:ext cx="4533900" cy="533400"/>
          </a:xfrm>
          <a:prstGeom prst="rect">
            <a:avLst/>
          </a:prstGeom>
          <a:noFill/>
          <a:ln w="0">
            <a:noFill/>
            <a:prstDash val="solid"/>
          </a:ln>
        </p:spPr>
        <p:txBody>
          <a:bodyPr wrap="square" lIns="0" tIns="0" rIns="0" bIns="0" anchor="t">
            <a:normAutofit fontScale="93333"/>
          </a:bodyPr>
          <a:lstStyle/>
          <a:p>
            <a:pPr algn="ctr">
              <a:defRPr sz="1875" b="0" i="0">
                <a:solidFill>
                  <a:srgbClr val="C64B2D"/>
                </a:solidFill>
                <a:latin typeface="Arial"/>
                <a:ea typeface="Arial"/>
                <a:cs typeface="Arial"/>
              </a:defRPr>
            </a:pPr>
            <a:r>
              <a:rPr sz="1875" b="0" i="0">
                <a:solidFill>
                  <a:srgbClr val="C64B2D"/>
                </a:solidFill>
                <a:latin typeface="Arial"/>
                <a:ea typeface="Arial"/>
                <a:cs typeface="Arial"/>
              </a:rPr>
              <a:t>They do not establish population validity or fairness.</a:t>
            </a:r>
          </a:p>
        </p:txBody>
      </p:sp>
      <p:sp>
        <p:nvSpPr>
          <p:cNvPr id="28" name="Rectangle 27">
            <a:extLst>
              <a:ext uri="{FF2B5EF4-FFF2-40B4-BE49-F238E27FC236}">
                <a16:creationId xmlns:a16="http://schemas.microsoft.com/office/drawing/2014/main" id="{0000000F-001C-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0000000F-001E-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SL15</a:t>
            </a:r>
          </a:p>
        </p:txBody>
      </p:sp>
    </p:spTree>
    <p:extLst>
      <p:ext uri="{BB962C8B-B14F-4D97-AF65-F5344CB8AC3E}">
        <p14:creationId xmlns:p14="http://schemas.microsoft.com/office/powerpoint/2010/main" val="1500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0000010-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INDEPENDENT INVESTIGATION</a:t>
            </a:r>
          </a:p>
        </p:txBody>
      </p:sp>
      <p:sp>
        <p:nvSpPr>
          <p:cNvPr id="2" name="Rectangle 1">
            <a:extLst>
              <a:ext uri="{FF2B5EF4-FFF2-40B4-BE49-F238E27FC236}">
                <a16:creationId xmlns:a16="http://schemas.microsoft.com/office/drawing/2014/main" id="{00000010-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16</a:t>
            </a:r>
          </a:p>
        </p:txBody>
      </p:sp>
      <p:sp>
        <p:nvSpPr>
          <p:cNvPr id="3" name="Rectangle 2">
            <a:extLst>
              <a:ext uri="{FF2B5EF4-FFF2-40B4-BE49-F238E27FC236}">
                <a16:creationId xmlns:a16="http://schemas.microsoft.com/office/drawing/2014/main" id="{00000010-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What changes when a partition changes?</a:t>
            </a:r>
          </a:p>
        </p:txBody>
      </p:sp>
      <p:sp>
        <p:nvSpPr>
          <p:cNvPr id="4" name="Rectangle 3">
            <a:extLst>
              <a:ext uri="{FF2B5EF4-FFF2-40B4-BE49-F238E27FC236}">
                <a16:creationId xmlns:a16="http://schemas.microsoft.com/office/drawing/2014/main" id="{00000010-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10-0005-4000-8000-000000000000}"/>
              </a:ext>
            </a:extLst>
          </p:cNvPr>
          <p:cNvSpPr>
            <a:spLocks noGrp="1"/>
          </p:cNvSpPr>
          <p:nvPr/>
        </p:nvSpPr>
        <p:spPr>
          <a:xfrm>
            <a:off x="628650" y="2381250"/>
            <a:ext cx="2362200" cy="1104900"/>
          </a:xfrm>
          <a:prstGeom prst="rect">
            <a:avLst/>
          </a:prstGeom>
          <a:solidFill>
            <a:srgbClr val="EAF2F8"/>
          </a:solidFill>
          <a:ln w="19050">
            <a:solidFill>
              <a:srgbClr val="BCCCDC"/>
            </a:solidFill>
            <a:prstDash val="solid"/>
          </a:ln>
        </p:spPr>
        <p:txBody>
          <a:bodyPr/>
          <a:lstStyle/>
          <a:p>
            <a:endParaRPr lang="en-US"/>
          </a:p>
        </p:txBody>
      </p:sp>
      <p:sp>
        <p:nvSpPr>
          <p:cNvPr id="6" name="Rectangle 5">
            <a:extLst>
              <a:ext uri="{FF2B5EF4-FFF2-40B4-BE49-F238E27FC236}">
                <a16:creationId xmlns:a16="http://schemas.microsoft.com/office/drawing/2014/main" id="{00000010-0006-4000-8000-000000000000}"/>
              </a:ext>
            </a:extLst>
          </p:cNvPr>
          <p:cNvSpPr>
            <a:spLocks noGrp="1"/>
          </p:cNvSpPr>
          <p:nvPr/>
        </p:nvSpPr>
        <p:spPr>
          <a:xfrm>
            <a:off x="762000" y="2476500"/>
            <a:ext cx="2095500" cy="9144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Plan finite seeds before code</a:t>
            </a:r>
          </a:p>
        </p:txBody>
      </p:sp>
      <p:sp>
        <p:nvSpPr>
          <p:cNvPr id="7" name="Rectangle 6">
            <a:extLst>
              <a:ext uri="{FF2B5EF4-FFF2-40B4-BE49-F238E27FC236}">
                <a16:creationId xmlns:a16="http://schemas.microsoft.com/office/drawing/2014/main" id="{00000010-0007-4000-8000-000000000000}"/>
              </a:ext>
            </a:extLst>
          </p:cNvPr>
          <p:cNvSpPr>
            <a:spLocks noGrp="1"/>
          </p:cNvSpPr>
          <p:nvPr/>
        </p:nvSpPr>
        <p:spPr>
          <a:xfrm>
            <a:off x="3486150" y="2381250"/>
            <a:ext cx="2362200" cy="1104900"/>
          </a:xfrm>
          <a:prstGeom prst="rect">
            <a:avLst/>
          </a:prstGeom>
          <a:solidFill>
            <a:srgbClr val="D9F0EF"/>
          </a:solidFill>
          <a:ln w="19050">
            <a:solidFill>
              <a:srgbClr val="BCCCDC"/>
            </a:solidFill>
            <a:prstDash val="solid"/>
          </a:ln>
        </p:spPr>
        <p:txBody>
          <a:bodyPr/>
          <a:lstStyle/>
          <a:p>
            <a:endParaRPr lang="en-US"/>
          </a:p>
        </p:txBody>
      </p:sp>
      <p:sp>
        <p:nvSpPr>
          <p:cNvPr id="8" name="Rectangle 7">
            <a:extLst>
              <a:ext uri="{FF2B5EF4-FFF2-40B4-BE49-F238E27FC236}">
                <a16:creationId xmlns:a16="http://schemas.microsoft.com/office/drawing/2014/main" id="{00000010-0008-4000-8000-000000000000}"/>
              </a:ext>
            </a:extLst>
          </p:cNvPr>
          <p:cNvSpPr>
            <a:spLocks noGrp="1"/>
          </p:cNvSpPr>
          <p:nvPr/>
        </p:nvSpPr>
        <p:spPr>
          <a:xfrm>
            <a:off x="3619500" y="2476500"/>
            <a:ext cx="2095500" cy="9144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Preserve the original run</a:t>
            </a:r>
          </a:p>
        </p:txBody>
      </p:sp>
      <p:sp>
        <p:nvSpPr>
          <p:cNvPr id="9" name="Rectangle 8">
            <a:extLst>
              <a:ext uri="{FF2B5EF4-FFF2-40B4-BE49-F238E27FC236}">
                <a16:creationId xmlns:a16="http://schemas.microsoft.com/office/drawing/2014/main" id="{00000010-0009-4000-8000-000000000000}"/>
              </a:ext>
            </a:extLst>
          </p:cNvPr>
          <p:cNvSpPr>
            <a:spLocks noGrp="1"/>
          </p:cNvSpPr>
          <p:nvPr/>
        </p:nvSpPr>
        <p:spPr>
          <a:xfrm>
            <a:off x="6343650" y="2381250"/>
            <a:ext cx="2362200" cy="1104900"/>
          </a:xfrm>
          <a:prstGeom prst="rect">
            <a:avLst/>
          </a:prstGeom>
          <a:solidFill>
            <a:srgbClr val="EAF2F8"/>
          </a:solidFill>
          <a:ln w="19050">
            <a:solidFill>
              <a:srgbClr val="BCCCDC"/>
            </a:solidFill>
            <a:prstDash val="solid"/>
          </a:ln>
        </p:spPr>
        <p:txBody>
          <a:bodyPr/>
          <a:lstStyle/>
          <a:p>
            <a:endParaRPr lang="en-US"/>
          </a:p>
        </p:txBody>
      </p:sp>
      <p:sp>
        <p:nvSpPr>
          <p:cNvPr id="10" name="Rectangle 9">
            <a:extLst>
              <a:ext uri="{FF2B5EF4-FFF2-40B4-BE49-F238E27FC236}">
                <a16:creationId xmlns:a16="http://schemas.microsoft.com/office/drawing/2014/main" id="{00000010-000A-4000-8000-000000000000}"/>
              </a:ext>
            </a:extLst>
          </p:cNvPr>
          <p:cNvSpPr>
            <a:spLocks noGrp="1"/>
          </p:cNvSpPr>
          <p:nvPr/>
        </p:nvSpPr>
        <p:spPr>
          <a:xfrm>
            <a:off x="6477000" y="2476500"/>
            <a:ext cx="2095500" cy="9144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Record design + scores</a:t>
            </a:r>
          </a:p>
        </p:txBody>
      </p:sp>
      <p:sp>
        <p:nvSpPr>
          <p:cNvPr id="11" name="Rectangle 10">
            <a:extLst>
              <a:ext uri="{FF2B5EF4-FFF2-40B4-BE49-F238E27FC236}">
                <a16:creationId xmlns:a16="http://schemas.microsoft.com/office/drawing/2014/main" id="{00000010-000B-4000-8000-000000000000}"/>
              </a:ext>
            </a:extLst>
          </p:cNvPr>
          <p:cNvSpPr>
            <a:spLocks noGrp="1"/>
          </p:cNvSpPr>
          <p:nvPr/>
        </p:nvSpPr>
        <p:spPr>
          <a:xfrm>
            <a:off x="9201150" y="2381250"/>
            <a:ext cx="2362200" cy="1104900"/>
          </a:xfrm>
          <a:prstGeom prst="rect">
            <a:avLst/>
          </a:prstGeom>
          <a:solidFill>
            <a:srgbClr val="D9F0EF"/>
          </a:solidFill>
          <a:ln w="19050">
            <a:solidFill>
              <a:srgbClr val="BCCCDC"/>
            </a:solidFill>
            <a:prstDash val="solid"/>
          </a:ln>
        </p:spPr>
        <p:txBody>
          <a:bodyPr/>
          <a:lstStyle/>
          <a:p>
            <a:endParaRPr lang="en-US"/>
          </a:p>
        </p:txBody>
      </p:sp>
      <p:sp>
        <p:nvSpPr>
          <p:cNvPr id="12" name="Rectangle 11">
            <a:extLst>
              <a:ext uri="{FF2B5EF4-FFF2-40B4-BE49-F238E27FC236}">
                <a16:creationId xmlns:a16="http://schemas.microsoft.com/office/drawing/2014/main" id="{00000010-000C-4000-8000-000000000000}"/>
              </a:ext>
            </a:extLst>
          </p:cNvPr>
          <p:cNvSpPr>
            <a:spLocks noGrp="1"/>
          </p:cNvSpPr>
          <p:nvPr/>
        </p:nvSpPr>
        <p:spPr>
          <a:xfrm>
            <a:off x="9334500" y="2476500"/>
            <a:ext cx="2095500" cy="914400"/>
          </a:xfrm>
          <a:prstGeom prst="rect">
            <a:avLst/>
          </a:prstGeom>
          <a:noFill/>
          <a:ln w="0">
            <a:noFill/>
            <a:prstDash val="solid"/>
          </a:ln>
        </p:spPr>
        <p:txBody>
          <a:bodyPr wrap="square" lIns="0" tIns="0" rIns="0" bIns="0" anchor="ctr">
            <a:normAutofit/>
          </a:bodyPr>
          <a:lstStyle/>
          <a:p>
            <a:pPr algn="ctr">
              <a:defRPr sz="1950" b="1" i="0">
                <a:solidFill>
                  <a:srgbClr val="102A43"/>
                </a:solidFill>
                <a:latin typeface="Arial"/>
                <a:ea typeface="Arial"/>
                <a:cs typeface="Arial"/>
              </a:defRPr>
            </a:pPr>
            <a:r>
              <a:rPr sz="1950" b="1" i="0">
                <a:solidFill>
                  <a:srgbClr val="102A43"/>
                </a:solidFill>
                <a:latin typeface="Arial"/>
                <a:ea typeface="Arial"/>
                <a:cs typeface="Arial"/>
              </a:rPr>
              <a:t>Interpret with limits</a:t>
            </a:r>
          </a:p>
        </p:txBody>
      </p:sp>
      <p:cxnSp>
        <p:nvCxnSpPr>
          <p:cNvPr id="35" name="Straight Arrow Connector 34"/>
          <p:cNvCxnSpPr>
            <a:stCxn id="5" idx="3"/>
            <a:endCxn id="7" idx="1"/>
          </p:cNvCxnSpPr>
          <p:nvPr/>
        </p:nvCxnSpPr>
        <p:spPr>
          <a:xfrm>
            <a:off x="2990850" y="2933700"/>
            <a:ext cx="495300" cy="0"/>
          </a:xfrm>
          <a:prstGeom prst="straightConnector1">
            <a:avLst/>
          </a:prstGeom>
          <a:ln w="28575">
            <a:solidFill>
              <a:srgbClr val="007C83"/>
            </a:solidFill>
            <a:prstDash val="solid"/>
            <a:tailEnd type="arrow" w="sm" len="sm"/>
          </a:ln>
        </p:spPr>
      </p:cxnSp>
      <p:cxnSp>
        <p:nvCxnSpPr>
          <p:cNvPr id="36" name="Straight Arrow Connector 35"/>
          <p:cNvCxnSpPr>
            <a:stCxn id="7" idx="3"/>
            <a:endCxn id="9" idx="1"/>
          </p:cNvCxnSpPr>
          <p:nvPr/>
        </p:nvCxnSpPr>
        <p:spPr>
          <a:xfrm>
            <a:off x="5848350" y="2933700"/>
            <a:ext cx="495300" cy="0"/>
          </a:xfrm>
          <a:prstGeom prst="straightConnector1">
            <a:avLst/>
          </a:prstGeom>
          <a:ln w="28575">
            <a:solidFill>
              <a:srgbClr val="007C83"/>
            </a:solidFill>
            <a:prstDash val="solid"/>
            <a:tailEnd type="arrow" w="sm" len="sm"/>
          </a:ln>
        </p:spPr>
      </p:cxnSp>
      <p:cxnSp>
        <p:nvCxnSpPr>
          <p:cNvPr id="37" name="Straight Arrow Connector 36"/>
          <p:cNvCxnSpPr>
            <a:stCxn id="9" idx="3"/>
            <a:endCxn id="11" idx="1"/>
          </p:cNvCxnSpPr>
          <p:nvPr/>
        </p:nvCxnSpPr>
        <p:spPr>
          <a:xfrm>
            <a:off x="8705850" y="2933700"/>
            <a:ext cx="495300" cy="0"/>
          </a:xfrm>
          <a:prstGeom prst="straightConnector1">
            <a:avLst/>
          </a:prstGeom>
          <a:ln w="28575">
            <a:solidFill>
              <a:srgbClr val="007C83"/>
            </a:solidFill>
            <a:prstDash val="solid"/>
            <a:tailEnd type="arrow" w="sm" len="sm"/>
          </a:ln>
        </p:spPr>
      </p:cxnSp>
      <p:sp>
        <p:nvSpPr>
          <p:cNvPr id="16" name="Rectangle 15">
            <a:extLst>
              <a:ext uri="{FF2B5EF4-FFF2-40B4-BE49-F238E27FC236}">
                <a16:creationId xmlns:a16="http://schemas.microsoft.com/office/drawing/2014/main" id="{00000010-000D-4000-8000-000000000000}"/>
              </a:ext>
            </a:extLst>
          </p:cNvPr>
          <p:cNvSpPr>
            <a:spLocks noGrp="1"/>
          </p:cNvSpPr>
          <p:nvPr/>
        </p:nvSpPr>
        <p:spPr>
          <a:xfrm>
            <a:off x="1381125" y="3857625"/>
            <a:ext cx="9429750" cy="419100"/>
          </a:xfrm>
          <a:prstGeom prst="rect">
            <a:avLst/>
          </a:prstGeom>
          <a:noFill/>
          <a:ln w="0">
            <a:noFill/>
            <a:prstDash val="solid"/>
          </a:ln>
        </p:spPr>
        <p:txBody>
          <a:bodyPr wrap="square" lIns="0" tIns="0" rIns="0" bIns="0" anchor="t">
            <a:normAutofit/>
          </a:bodyPr>
          <a:lstStyle/>
          <a:p>
            <a:pPr algn="ctr">
              <a:defRPr sz="2250" b="1" i="0">
                <a:solidFill>
                  <a:srgbClr val="102A43"/>
                </a:solidFill>
                <a:latin typeface="Arial"/>
                <a:ea typeface="Arial"/>
                <a:cs typeface="Arial"/>
              </a:defRPr>
            </a:pPr>
            <a:r>
              <a:rPr sz="2250" b="1" i="0">
                <a:solidFill>
                  <a:srgbClr val="102A43"/>
                </a:solidFill>
                <a:latin typeface="Arial"/>
                <a:ea typeface="Arial"/>
                <a:cs typeface="Arial"/>
              </a:rPr>
              <a:t>Before coding: state a hypothesis and one limitation.</a:t>
            </a:r>
          </a:p>
        </p:txBody>
      </p:sp>
      <p:sp>
        <p:nvSpPr>
          <p:cNvPr id="17" name="Rectangle 16">
            <a:extLst>
              <a:ext uri="{FF2B5EF4-FFF2-40B4-BE49-F238E27FC236}">
                <a16:creationId xmlns:a16="http://schemas.microsoft.com/office/drawing/2014/main" id="{00000010-000E-4000-8000-000000000000}"/>
              </a:ext>
            </a:extLst>
          </p:cNvPr>
          <p:cNvSpPr>
            <a:spLocks noGrp="1"/>
          </p:cNvSpPr>
          <p:nvPr/>
        </p:nvSpPr>
        <p:spPr>
          <a:xfrm>
            <a:off x="1381125" y="4476750"/>
            <a:ext cx="9429750" cy="381000"/>
          </a:xfrm>
          <a:prstGeom prst="rect">
            <a:avLst/>
          </a:prstGeom>
          <a:noFill/>
          <a:ln w="0">
            <a:noFill/>
            <a:prstDash val="solid"/>
          </a:ln>
        </p:spPr>
        <p:txBody>
          <a:bodyPr wrap="square" lIns="0" tIns="0" rIns="0" bIns="0" anchor="t">
            <a:normAutofit/>
          </a:bodyPr>
          <a:lstStyle/>
          <a:p>
            <a:pPr algn="ctr">
              <a:defRPr sz="1950" b="0" i="0">
                <a:solidFill>
                  <a:srgbClr val="C64B2D"/>
                </a:solidFill>
                <a:latin typeface="Arial"/>
                <a:ea typeface="Arial"/>
                <a:cs typeface="Arial"/>
              </a:defRPr>
            </a:pPr>
            <a:r>
              <a:rPr sz="1950" b="0" i="0">
                <a:solidFill>
                  <a:srgbClr val="C64B2D"/>
                </a:solidFill>
                <a:latin typeface="Arial"/>
                <a:ea typeface="Arial"/>
                <a:cs typeface="Arial"/>
              </a:rPr>
              <a:t>Do not overwrite the original run.</a:t>
            </a:r>
          </a:p>
        </p:txBody>
      </p:sp>
      <p:sp>
        <p:nvSpPr>
          <p:cNvPr id="18" name="Rectangle 17">
            <a:extLst>
              <a:ext uri="{FF2B5EF4-FFF2-40B4-BE49-F238E27FC236}">
                <a16:creationId xmlns:a16="http://schemas.microsoft.com/office/drawing/2014/main" id="{00000010-000F-4000-8000-000000000000}"/>
              </a:ext>
            </a:extLst>
          </p:cNvPr>
          <p:cNvSpPr>
            <a:spLocks noGrp="1"/>
          </p:cNvSpPr>
          <p:nvPr/>
        </p:nvSpPr>
        <p:spPr>
          <a:xfrm>
            <a:off x="1428750" y="5143500"/>
            <a:ext cx="9334500" cy="609600"/>
          </a:xfrm>
          <a:prstGeom prst="rect">
            <a:avLst/>
          </a:prstGeom>
          <a:solidFill>
            <a:srgbClr val="D9F0E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00000010-0010-4000-8000-000000000000}"/>
              </a:ext>
            </a:extLst>
          </p:cNvPr>
          <p:cNvSpPr>
            <a:spLocks noGrp="1"/>
          </p:cNvSpPr>
          <p:nvPr/>
        </p:nvSpPr>
        <p:spPr>
          <a:xfrm>
            <a:off x="1714500" y="5257800"/>
            <a:ext cx="8763000" cy="381000"/>
          </a:xfrm>
          <a:prstGeom prst="rect">
            <a:avLst/>
          </a:prstGeom>
          <a:noFill/>
          <a:ln w="0">
            <a:noFill/>
            <a:prstDash val="solid"/>
          </a:ln>
        </p:spPr>
        <p:txBody>
          <a:bodyPr wrap="square" lIns="0" tIns="0" rIns="0" bIns="0" anchor="ctr">
            <a:normAutofit fontScale="95313"/>
          </a:bodyPr>
          <a:lstStyle/>
          <a:p>
            <a:pPr algn="ctr">
              <a:defRPr sz="2025" b="1" i="0">
                <a:solidFill>
                  <a:srgbClr val="102A43"/>
                </a:solidFill>
                <a:latin typeface="Arial"/>
                <a:ea typeface="Arial"/>
                <a:cs typeface="Arial"/>
              </a:defRPr>
            </a:pPr>
            <a:r>
              <a:rPr sz="2025" b="1" i="0">
                <a:solidFill>
                  <a:srgbClr val="102A43"/>
                </a:solidFill>
                <a:latin typeface="Arial"/>
                <a:ea typeface="Arial"/>
                <a:cs typeface="Arial"/>
              </a:rPr>
              <a:t>Variation across overlapping splits is not a confidence interval.</a:t>
            </a:r>
          </a:p>
        </p:txBody>
      </p:sp>
      <p:sp>
        <p:nvSpPr>
          <p:cNvPr id="20" name="Rectangle 19">
            <a:extLst>
              <a:ext uri="{FF2B5EF4-FFF2-40B4-BE49-F238E27FC236}">
                <a16:creationId xmlns:a16="http://schemas.microsoft.com/office/drawing/2014/main" id="{00000010-0011-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00000010-0013-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SL16</a:t>
            </a:r>
          </a:p>
        </p:txBody>
      </p:sp>
    </p:spTree>
    <p:extLst>
      <p:ext uri="{BB962C8B-B14F-4D97-AF65-F5344CB8AC3E}">
        <p14:creationId xmlns:p14="http://schemas.microsoft.com/office/powerpoint/2010/main" val="160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0000011-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SYNTHESIS</a:t>
            </a:r>
          </a:p>
        </p:txBody>
      </p:sp>
      <p:sp>
        <p:nvSpPr>
          <p:cNvPr id="2" name="Rectangle 1">
            <a:extLst>
              <a:ext uri="{FF2B5EF4-FFF2-40B4-BE49-F238E27FC236}">
                <a16:creationId xmlns:a16="http://schemas.microsoft.com/office/drawing/2014/main" id="{00000011-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17</a:t>
            </a:r>
          </a:p>
        </p:txBody>
      </p:sp>
      <p:sp>
        <p:nvSpPr>
          <p:cNvPr id="3" name="Rectangle 2">
            <a:extLst>
              <a:ext uri="{FF2B5EF4-FFF2-40B4-BE49-F238E27FC236}">
                <a16:creationId xmlns:a16="http://schemas.microsoft.com/office/drawing/2014/main" id="{00000011-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A model choice is conditional</a:t>
            </a:r>
          </a:p>
        </p:txBody>
      </p:sp>
      <p:sp>
        <p:nvSpPr>
          <p:cNvPr id="4" name="Rectangle 3">
            <a:extLst>
              <a:ext uri="{FF2B5EF4-FFF2-40B4-BE49-F238E27FC236}">
                <a16:creationId xmlns:a16="http://schemas.microsoft.com/office/drawing/2014/main" id="{00000011-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11-0005-4000-8000-000000000000}"/>
              </a:ext>
            </a:extLst>
          </p:cNvPr>
          <p:cNvSpPr>
            <a:spLocks noGrp="1"/>
          </p:cNvSpPr>
          <p:nvPr/>
        </p:nvSpPr>
        <p:spPr>
          <a:xfrm>
            <a:off x="1733550" y="1905000"/>
            <a:ext cx="47625" cy="3143250"/>
          </a:xfrm>
          <a:prstGeom prst="rect">
            <a:avLst/>
          </a:prstGeom>
          <a:solidFill>
            <a:srgbClr val="007C83"/>
          </a:solidFill>
          <a:ln w="0">
            <a:noFill/>
            <a:prstDash val="solid"/>
          </a:ln>
        </p:spPr>
        <p:txBody>
          <a:bodyPr/>
          <a:lstStyle/>
          <a:p>
            <a:endParaRPr lang="en-US"/>
          </a:p>
        </p:txBody>
      </p:sp>
      <p:sp>
        <p:nvSpPr>
          <p:cNvPr id="6" name="Oval 5">
            <a:extLst>
              <a:ext uri="{FF2B5EF4-FFF2-40B4-BE49-F238E27FC236}">
                <a16:creationId xmlns:a16="http://schemas.microsoft.com/office/drawing/2014/main" id="{00000011-0006-4000-8000-000000000000}"/>
              </a:ext>
            </a:extLst>
          </p:cNvPr>
          <p:cNvSpPr>
            <a:spLocks noGrp="1"/>
          </p:cNvSpPr>
          <p:nvPr/>
        </p:nvSpPr>
        <p:spPr>
          <a:xfrm>
            <a:off x="1562100" y="1847850"/>
            <a:ext cx="381000" cy="381000"/>
          </a:xfrm>
          <a:prstGeom prst="ellipse">
            <a:avLst/>
          </a:prstGeom>
          <a:solidFill>
            <a:srgbClr val="007C83"/>
          </a:solidFill>
          <a:ln w="28575">
            <a:solidFill>
              <a:srgbClr val="FFFFFF"/>
            </a:solidFill>
            <a:prstDash val="solid"/>
          </a:ln>
        </p:spPr>
        <p:txBody>
          <a:bodyPr/>
          <a:lstStyle/>
          <a:p>
            <a:endParaRPr lang="en-US"/>
          </a:p>
        </p:txBody>
      </p:sp>
      <p:sp>
        <p:nvSpPr>
          <p:cNvPr id="7" name="Rectangle 6">
            <a:extLst>
              <a:ext uri="{FF2B5EF4-FFF2-40B4-BE49-F238E27FC236}">
                <a16:creationId xmlns:a16="http://schemas.microsoft.com/office/drawing/2014/main" id="{00000011-0007-4000-8000-000000000000}"/>
              </a:ext>
            </a:extLst>
          </p:cNvPr>
          <p:cNvSpPr>
            <a:spLocks noGrp="1"/>
          </p:cNvSpPr>
          <p:nvPr/>
        </p:nvSpPr>
        <p:spPr>
          <a:xfrm>
            <a:off x="2238375" y="1809750"/>
            <a:ext cx="6191250" cy="4762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Signal?</a:t>
            </a:r>
          </a:p>
        </p:txBody>
      </p:sp>
      <p:sp>
        <p:nvSpPr>
          <p:cNvPr id="8" name="Oval 7">
            <a:extLst>
              <a:ext uri="{FF2B5EF4-FFF2-40B4-BE49-F238E27FC236}">
                <a16:creationId xmlns:a16="http://schemas.microsoft.com/office/drawing/2014/main" id="{00000011-0008-4000-8000-000000000000}"/>
              </a:ext>
            </a:extLst>
          </p:cNvPr>
          <p:cNvSpPr>
            <a:spLocks noGrp="1"/>
          </p:cNvSpPr>
          <p:nvPr/>
        </p:nvSpPr>
        <p:spPr>
          <a:xfrm>
            <a:off x="1562100" y="2533650"/>
            <a:ext cx="381000" cy="381000"/>
          </a:xfrm>
          <a:prstGeom prst="ellipse">
            <a:avLst/>
          </a:prstGeom>
          <a:solidFill>
            <a:srgbClr val="007C83"/>
          </a:solidFill>
          <a:ln w="28575">
            <a:solidFill>
              <a:srgbClr val="FFFFFF"/>
            </a:solidFill>
            <a:prstDash val="solid"/>
          </a:ln>
        </p:spPr>
        <p:txBody>
          <a:bodyPr/>
          <a:lstStyle/>
          <a:p>
            <a:endParaRPr lang="en-US"/>
          </a:p>
        </p:txBody>
      </p:sp>
      <p:sp>
        <p:nvSpPr>
          <p:cNvPr id="9" name="Rectangle 8">
            <a:extLst>
              <a:ext uri="{FF2B5EF4-FFF2-40B4-BE49-F238E27FC236}">
                <a16:creationId xmlns:a16="http://schemas.microsoft.com/office/drawing/2014/main" id="{00000011-0009-4000-8000-000000000000}"/>
              </a:ext>
            </a:extLst>
          </p:cNvPr>
          <p:cNvSpPr>
            <a:spLocks noGrp="1"/>
          </p:cNvSpPr>
          <p:nvPr/>
        </p:nvSpPr>
        <p:spPr>
          <a:xfrm>
            <a:off x="2238375" y="2495550"/>
            <a:ext cx="6191250" cy="4762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Objective?</a:t>
            </a:r>
          </a:p>
        </p:txBody>
      </p:sp>
      <p:sp>
        <p:nvSpPr>
          <p:cNvPr id="10" name="Oval 9">
            <a:extLst>
              <a:ext uri="{FF2B5EF4-FFF2-40B4-BE49-F238E27FC236}">
                <a16:creationId xmlns:a16="http://schemas.microsoft.com/office/drawing/2014/main" id="{00000011-000A-4000-8000-000000000000}"/>
              </a:ext>
            </a:extLst>
          </p:cNvPr>
          <p:cNvSpPr>
            <a:spLocks noGrp="1"/>
          </p:cNvSpPr>
          <p:nvPr/>
        </p:nvSpPr>
        <p:spPr>
          <a:xfrm>
            <a:off x="1562100" y="3219450"/>
            <a:ext cx="381000" cy="381000"/>
          </a:xfrm>
          <a:prstGeom prst="ellipse">
            <a:avLst/>
          </a:prstGeom>
          <a:solidFill>
            <a:srgbClr val="007C83"/>
          </a:solidFill>
          <a:ln w="28575">
            <a:solidFill>
              <a:srgbClr val="FFFFFF"/>
            </a:solidFill>
            <a:prstDash val="solid"/>
          </a:ln>
        </p:spPr>
        <p:txBody>
          <a:bodyPr/>
          <a:lstStyle/>
          <a:p>
            <a:endParaRPr lang="en-US"/>
          </a:p>
        </p:txBody>
      </p:sp>
      <p:sp>
        <p:nvSpPr>
          <p:cNvPr id="11" name="Rectangle 10">
            <a:extLst>
              <a:ext uri="{FF2B5EF4-FFF2-40B4-BE49-F238E27FC236}">
                <a16:creationId xmlns:a16="http://schemas.microsoft.com/office/drawing/2014/main" id="{00000011-000B-4000-8000-000000000000}"/>
              </a:ext>
            </a:extLst>
          </p:cNvPr>
          <p:cNvSpPr>
            <a:spLocks noGrp="1"/>
          </p:cNvSpPr>
          <p:nvPr/>
        </p:nvSpPr>
        <p:spPr>
          <a:xfrm>
            <a:off x="2238375" y="3181350"/>
            <a:ext cx="6191250" cy="4762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Baseline?</a:t>
            </a:r>
          </a:p>
        </p:txBody>
      </p:sp>
      <p:sp>
        <p:nvSpPr>
          <p:cNvPr id="12" name="Oval 11">
            <a:extLst>
              <a:ext uri="{FF2B5EF4-FFF2-40B4-BE49-F238E27FC236}">
                <a16:creationId xmlns:a16="http://schemas.microsoft.com/office/drawing/2014/main" id="{00000011-000C-4000-8000-000000000000}"/>
              </a:ext>
            </a:extLst>
          </p:cNvPr>
          <p:cNvSpPr>
            <a:spLocks noGrp="1"/>
          </p:cNvSpPr>
          <p:nvPr/>
        </p:nvSpPr>
        <p:spPr>
          <a:xfrm>
            <a:off x="1562100" y="3905250"/>
            <a:ext cx="381000" cy="381000"/>
          </a:xfrm>
          <a:prstGeom prst="ellipse">
            <a:avLst/>
          </a:prstGeom>
          <a:solidFill>
            <a:srgbClr val="007C83"/>
          </a:solidFill>
          <a:ln w="28575">
            <a:solidFill>
              <a:srgbClr val="FFFFFF"/>
            </a:solidFill>
            <a:prstDash val="solid"/>
          </a:ln>
        </p:spPr>
        <p:txBody>
          <a:bodyPr/>
          <a:lstStyle/>
          <a:p>
            <a:endParaRPr lang="en-US"/>
          </a:p>
        </p:txBody>
      </p:sp>
      <p:sp>
        <p:nvSpPr>
          <p:cNvPr id="13" name="Rectangle 12">
            <a:extLst>
              <a:ext uri="{FF2B5EF4-FFF2-40B4-BE49-F238E27FC236}">
                <a16:creationId xmlns:a16="http://schemas.microsoft.com/office/drawing/2014/main" id="{00000011-000D-4000-8000-000000000000}"/>
              </a:ext>
            </a:extLst>
          </p:cNvPr>
          <p:cNvSpPr>
            <a:spLocks noGrp="1"/>
          </p:cNvSpPr>
          <p:nvPr/>
        </p:nvSpPr>
        <p:spPr>
          <a:xfrm>
            <a:off x="2238375" y="3867150"/>
            <a:ext cx="6191250" cy="4762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Evaluation protocol?</a:t>
            </a:r>
          </a:p>
        </p:txBody>
      </p:sp>
      <p:sp>
        <p:nvSpPr>
          <p:cNvPr id="14" name="Oval 13">
            <a:extLst>
              <a:ext uri="{FF2B5EF4-FFF2-40B4-BE49-F238E27FC236}">
                <a16:creationId xmlns:a16="http://schemas.microsoft.com/office/drawing/2014/main" id="{00000011-000E-4000-8000-000000000000}"/>
              </a:ext>
            </a:extLst>
          </p:cNvPr>
          <p:cNvSpPr>
            <a:spLocks noGrp="1"/>
          </p:cNvSpPr>
          <p:nvPr/>
        </p:nvSpPr>
        <p:spPr>
          <a:xfrm>
            <a:off x="1562100" y="4591050"/>
            <a:ext cx="381000" cy="381000"/>
          </a:xfrm>
          <a:prstGeom prst="ellipse">
            <a:avLst/>
          </a:prstGeom>
          <a:solidFill>
            <a:srgbClr val="C64B2D"/>
          </a:solidFill>
          <a:ln w="28575">
            <a:solidFill>
              <a:srgbClr val="FFFFFF"/>
            </a:solidFill>
            <a:prstDash val="solid"/>
          </a:ln>
        </p:spPr>
        <p:txBody>
          <a:bodyPr/>
          <a:lstStyle/>
          <a:p>
            <a:endParaRPr lang="en-US"/>
          </a:p>
        </p:txBody>
      </p:sp>
      <p:sp>
        <p:nvSpPr>
          <p:cNvPr id="15" name="Rectangle 14">
            <a:extLst>
              <a:ext uri="{FF2B5EF4-FFF2-40B4-BE49-F238E27FC236}">
                <a16:creationId xmlns:a16="http://schemas.microsoft.com/office/drawing/2014/main" id="{00000011-000F-4000-8000-000000000000}"/>
              </a:ext>
            </a:extLst>
          </p:cNvPr>
          <p:cNvSpPr>
            <a:spLocks noGrp="1"/>
          </p:cNvSpPr>
          <p:nvPr/>
        </p:nvSpPr>
        <p:spPr>
          <a:xfrm>
            <a:off x="2238375" y="4552950"/>
            <a:ext cx="6191250" cy="476250"/>
          </a:xfrm>
          <a:prstGeom prst="rect">
            <a:avLst/>
          </a:prstGeom>
          <a:noFill/>
          <a:ln w="0">
            <a:noFill/>
            <a:prstDash val="solid"/>
          </a:ln>
        </p:spPr>
        <p:txBody>
          <a:bodyPr wrap="square" lIns="0" tIns="0" rIns="0" bIns="0" anchor="ctr">
            <a:normAutofit/>
          </a:bodyPr>
          <a:lstStyle/>
          <a:p>
            <a:pPr algn="l">
              <a:defRPr sz="2400" b="1" i="0">
                <a:solidFill>
                  <a:srgbClr val="102A43"/>
                </a:solidFill>
                <a:latin typeface="Arial"/>
                <a:ea typeface="Arial"/>
                <a:cs typeface="Arial"/>
              </a:defRPr>
            </a:pPr>
            <a:r>
              <a:rPr sz="2400" b="1" i="0">
                <a:solidFill>
                  <a:srgbClr val="102A43"/>
                </a:solidFill>
                <a:latin typeface="Arial"/>
                <a:ea typeface="Arial"/>
                <a:cs typeface="Arial"/>
              </a:rPr>
              <a:t>Affected people?</a:t>
            </a:r>
          </a:p>
        </p:txBody>
      </p:sp>
      <p:sp>
        <p:nvSpPr>
          <p:cNvPr id="16" name="Rectangle 15">
            <a:extLst>
              <a:ext uri="{FF2B5EF4-FFF2-40B4-BE49-F238E27FC236}">
                <a16:creationId xmlns:a16="http://schemas.microsoft.com/office/drawing/2014/main" id="{00000011-0010-4000-8000-000000000000}"/>
              </a:ext>
            </a:extLst>
          </p:cNvPr>
          <p:cNvSpPr>
            <a:spLocks noGrp="1"/>
          </p:cNvSpPr>
          <p:nvPr/>
        </p:nvSpPr>
        <p:spPr>
          <a:xfrm>
            <a:off x="7334250" y="2076450"/>
            <a:ext cx="3810000" cy="762000"/>
          </a:xfrm>
          <a:prstGeom prst="rect">
            <a:avLst/>
          </a:prstGeom>
          <a:noFill/>
          <a:ln w="0">
            <a:noFill/>
            <a:prstDash val="solid"/>
          </a:ln>
        </p:spPr>
        <p:txBody>
          <a:bodyPr wrap="square" lIns="0" tIns="0" rIns="0" bIns="0" anchor="ctr">
            <a:normAutofit fontScale="95219" lnSpcReduction="10000"/>
          </a:bodyPr>
          <a:lstStyle/>
          <a:p>
            <a:pPr algn="ctr">
              <a:defRPr sz="2850" b="1" i="0">
                <a:solidFill>
                  <a:srgbClr val="102A43"/>
                </a:solidFill>
                <a:latin typeface="Arial"/>
                <a:ea typeface="Arial"/>
                <a:cs typeface="Arial"/>
              </a:defRPr>
            </a:pPr>
            <a:r>
              <a:rPr sz="2850" b="1" i="0">
                <a:solidFill>
                  <a:srgbClr val="102A43"/>
                </a:solidFill>
                <a:latin typeface="Arial"/>
                <a:ea typeface="Arial"/>
                <a:cs typeface="Arial"/>
              </a:rPr>
              <a:t>Three paradigms can coexist</a:t>
            </a:r>
          </a:p>
        </p:txBody>
      </p:sp>
      <p:sp>
        <p:nvSpPr>
          <p:cNvPr id="17" name="Rectangle 16">
            <a:extLst>
              <a:ext uri="{FF2B5EF4-FFF2-40B4-BE49-F238E27FC236}">
                <a16:creationId xmlns:a16="http://schemas.microsoft.com/office/drawing/2014/main" id="{00000011-0011-4000-8000-000000000000}"/>
              </a:ext>
            </a:extLst>
          </p:cNvPr>
          <p:cNvSpPr>
            <a:spLocks noGrp="1"/>
          </p:cNvSpPr>
          <p:nvPr/>
        </p:nvSpPr>
        <p:spPr>
          <a:xfrm>
            <a:off x="7524750" y="3143250"/>
            <a:ext cx="3429000" cy="552450"/>
          </a:xfrm>
          <a:prstGeom prst="rect">
            <a:avLst/>
          </a:prstGeom>
          <a:solidFill>
            <a:srgbClr val="EAF2F8"/>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0000011-0012-4000-8000-000000000000}"/>
              </a:ext>
            </a:extLst>
          </p:cNvPr>
          <p:cNvSpPr>
            <a:spLocks noGrp="1"/>
          </p:cNvSpPr>
          <p:nvPr/>
        </p:nvSpPr>
        <p:spPr>
          <a:xfrm>
            <a:off x="7639050" y="3219450"/>
            <a:ext cx="3200400" cy="400050"/>
          </a:xfrm>
          <a:prstGeom prst="rect">
            <a:avLst/>
          </a:prstGeom>
          <a:noFill/>
          <a:ln w="0">
            <a:noFill/>
            <a:prstDash val="solid"/>
          </a:ln>
        </p:spPr>
        <p:txBody>
          <a:bodyPr wrap="square" lIns="0" tIns="0" rIns="0" bIns="0" anchor="ctr">
            <a:normAutofit/>
          </a:bodyPr>
          <a:lstStyle/>
          <a:p>
            <a:pPr algn="ctr">
              <a:defRPr sz="1650" b="1" i="0">
                <a:solidFill>
                  <a:srgbClr val="102A43"/>
                </a:solidFill>
                <a:latin typeface="Arial"/>
                <a:ea typeface="Arial"/>
                <a:cs typeface="Arial"/>
              </a:defRPr>
            </a:pPr>
            <a:r>
              <a:rPr sz="1650" b="1" i="0">
                <a:solidFill>
                  <a:srgbClr val="102A43"/>
                </a:solidFill>
                <a:latin typeface="Arial"/>
                <a:ea typeface="Arial"/>
                <a:cs typeface="Arial"/>
              </a:rPr>
              <a:t>SUPERVISED</a:t>
            </a:r>
          </a:p>
        </p:txBody>
      </p:sp>
      <p:sp>
        <p:nvSpPr>
          <p:cNvPr id="19" name="Rectangle 18">
            <a:extLst>
              <a:ext uri="{FF2B5EF4-FFF2-40B4-BE49-F238E27FC236}">
                <a16:creationId xmlns:a16="http://schemas.microsoft.com/office/drawing/2014/main" id="{00000011-0013-4000-8000-000000000000}"/>
              </a:ext>
            </a:extLst>
          </p:cNvPr>
          <p:cNvSpPr>
            <a:spLocks noGrp="1"/>
          </p:cNvSpPr>
          <p:nvPr/>
        </p:nvSpPr>
        <p:spPr>
          <a:xfrm>
            <a:off x="7524750" y="3905250"/>
            <a:ext cx="3429000" cy="552450"/>
          </a:xfrm>
          <a:prstGeom prst="rect">
            <a:avLst/>
          </a:prstGeom>
          <a:solidFill>
            <a:srgbClr val="D9F0EF"/>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00000011-0014-4000-8000-000000000000}"/>
              </a:ext>
            </a:extLst>
          </p:cNvPr>
          <p:cNvSpPr>
            <a:spLocks noGrp="1"/>
          </p:cNvSpPr>
          <p:nvPr/>
        </p:nvSpPr>
        <p:spPr>
          <a:xfrm>
            <a:off x="7639050" y="3981450"/>
            <a:ext cx="3200400" cy="400050"/>
          </a:xfrm>
          <a:prstGeom prst="rect">
            <a:avLst/>
          </a:prstGeom>
          <a:noFill/>
          <a:ln w="0">
            <a:noFill/>
            <a:prstDash val="solid"/>
          </a:ln>
        </p:spPr>
        <p:txBody>
          <a:bodyPr wrap="square" lIns="0" tIns="0" rIns="0" bIns="0" anchor="ctr">
            <a:normAutofit/>
          </a:bodyPr>
          <a:lstStyle/>
          <a:p>
            <a:pPr algn="ctr">
              <a:defRPr sz="1650" b="1" i="0">
                <a:solidFill>
                  <a:srgbClr val="102A43"/>
                </a:solidFill>
                <a:latin typeface="Arial"/>
                <a:ea typeface="Arial"/>
                <a:cs typeface="Arial"/>
              </a:defRPr>
            </a:pPr>
            <a:r>
              <a:rPr sz="1650" b="1" i="0">
                <a:solidFill>
                  <a:srgbClr val="102A43"/>
                </a:solidFill>
                <a:latin typeface="Arial"/>
                <a:ea typeface="Arial"/>
                <a:cs typeface="Arial"/>
              </a:rPr>
              <a:t>UNSUPERVISED</a:t>
            </a:r>
          </a:p>
        </p:txBody>
      </p:sp>
      <p:sp>
        <p:nvSpPr>
          <p:cNvPr id="21" name="Rectangle 20">
            <a:extLst>
              <a:ext uri="{FF2B5EF4-FFF2-40B4-BE49-F238E27FC236}">
                <a16:creationId xmlns:a16="http://schemas.microsoft.com/office/drawing/2014/main" id="{00000011-0015-4000-8000-000000000000}"/>
              </a:ext>
            </a:extLst>
          </p:cNvPr>
          <p:cNvSpPr>
            <a:spLocks noGrp="1"/>
          </p:cNvSpPr>
          <p:nvPr/>
        </p:nvSpPr>
        <p:spPr>
          <a:xfrm>
            <a:off x="7524750" y="4667250"/>
            <a:ext cx="3429000" cy="552450"/>
          </a:xfrm>
          <a:prstGeom prst="rect">
            <a:avLst/>
          </a:prstGeom>
          <a:solidFill>
            <a:srgbClr val="FFF3E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00000011-0016-4000-8000-000000000000}"/>
              </a:ext>
            </a:extLst>
          </p:cNvPr>
          <p:cNvSpPr>
            <a:spLocks noGrp="1"/>
          </p:cNvSpPr>
          <p:nvPr/>
        </p:nvSpPr>
        <p:spPr>
          <a:xfrm>
            <a:off x="7639050" y="4743450"/>
            <a:ext cx="3200400" cy="400050"/>
          </a:xfrm>
          <a:prstGeom prst="rect">
            <a:avLst/>
          </a:prstGeom>
          <a:noFill/>
          <a:ln w="0">
            <a:noFill/>
            <a:prstDash val="solid"/>
          </a:ln>
        </p:spPr>
        <p:txBody>
          <a:bodyPr wrap="square" lIns="0" tIns="0" rIns="0" bIns="0" anchor="ctr">
            <a:normAutofit/>
          </a:bodyPr>
          <a:lstStyle/>
          <a:p>
            <a:pPr algn="ctr">
              <a:defRPr sz="1650" b="1" i="0">
                <a:solidFill>
                  <a:srgbClr val="C64B2D"/>
                </a:solidFill>
                <a:latin typeface="Arial"/>
                <a:ea typeface="Arial"/>
                <a:cs typeface="Arial"/>
              </a:defRPr>
            </a:pPr>
            <a:r>
              <a:rPr sz="1650" b="1" i="0">
                <a:solidFill>
                  <a:srgbClr val="C64B2D"/>
                </a:solidFill>
                <a:latin typeface="Arial"/>
                <a:ea typeface="Arial"/>
                <a:cs typeface="Arial"/>
              </a:rPr>
              <a:t>REINFORCEMENT</a:t>
            </a:r>
          </a:p>
        </p:txBody>
      </p:sp>
      <p:sp>
        <p:nvSpPr>
          <p:cNvPr id="23" name="Rectangle 22">
            <a:extLst>
              <a:ext uri="{FF2B5EF4-FFF2-40B4-BE49-F238E27FC236}">
                <a16:creationId xmlns:a16="http://schemas.microsoft.com/office/drawing/2014/main" id="{00000011-0017-4000-8000-000000000000}"/>
              </a:ext>
            </a:extLst>
          </p:cNvPr>
          <p:cNvSpPr>
            <a:spLocks noGrp="1"/>
          </p:cNvSpPr>
          <p:nvPr/>
        </p:nvSpPr>
        <p:spPr>
          <a:xfrm>
            <a:off x="1619250" y="5572125"/>
            <a:ext cx="8953500" cy="323850"/>
          </a:xfrm>
          <a:prstGeom prst="rect">
            <a:avLst/>
          </a:prstGeom>
          <a:noFill/>
          <a:ln w="0">
            <a:noFill/>
            <a:prstDash val="solid"/>
          </a:ln>
        </p:spPr>
        <p:txBody>
          <a:bodyPr wrap="square" lIns="0" tIns="0" rIns="0" bIns="0" anchor="t">
            <a:normAutofit/>
          </a:bodyPr>
          <a:lstStyle/>
          <a:p>
            <a:pPr algn="ctr">
              <a:defRPr sz="1800" b="0" i="1">
                <a:solidFill>
                  <a:srgbClr val="52606D"/>
                </a:solidFill>
                <a:latin typeface="Arial"/>
                <a:ea typeface="Arial"/>
                <a:cs typeface="Arial"/>
              </a:defRPr>
            </a:pPr>
            <a:r>
              <a:rPr sz="1800" b="0" i="1">
                <a:solidFill>
                  <a:srgbClr val="52606D"/>
                </a:solidFill>
                <a:latin typeface="Arial"/>
                <a:ea typeface="Arial"/>
                <a:cs typeface="Arial"/>
              </a:rPr>
              <a:t>Distinguish estimator bias/variance from societal fairness.</a:t>
            </a:r>
          </a:p>
        </p:txBody>
      </p:sp>
      <p:sp>
        <p:nvSpPr>
          <p:cNvPr id="24" name="Rectangle 23">
            <a:extLst>
              <a:ext uri="{FF2B5EF4-FFF2-40B4-BE49-F238E27FC236}">
                <a16:creationId xmlns:a16="http://schemas.microsoft.com/office/drawing/2014/main" id="{00000011-0018-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00000011-001A-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SL17</a:t>
            </a:r>
          </a:p>
        </p:txBody>
      </p:sp>
    </p:spTree>
    <p:extLst>
      <p:ext uri="{BB962C8B-B14F-4D97-AF65-F5344CB8AC3E}">
        <p14:creationId xmlns:p14="http://schemas.microsoft.com/office/powerpoint/2010/main" val="1700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0000012-0001-4000-8000-000000000000}"/>
              </a:ext>
            </a:extLst>
          </p:cNvPr>
          <p:cNvSpPr>
            <a:spLocks noGrp="1"/>
          </p:cNvSpPr>
          <p:nvPr/>
        </p:nvSpPr>
        <p:spPr>
          <a:xfrm>
            <a:off x="457200" y="323850"/>
            <a:ext cx="8572500" cy="228600"/>
          </a:xfrm>
          <a:prstGeom prst="rect">
            <a:avLst/>
          </a:prstGeom>
          <a:noFill/>
          <a:ln w="0">
            <a:noFill/>
            <a:prstDash val="solid"/>
          </a:ln>
        </p:spPr>
        <p:txBody>
          <a:bodyPr wrap="square" lIns="0" tIns="0" rIns="0" bIns="0" anchor="t">
            <a:normAutofit/>
          </a:bodyPr>
          <a:lstStyle/>
          <a:p>
            <a:pPr algn="l">
              <a:defRPr sz="1350" b="1" i="0">
                <a:solidFill>
                  <a:srgbClr val="007C83"/>
                </a:solidFill>
                <a:latin typeface="Arial"/>
                <a:ea typeface="Arial"/>
                <a:cs typeface="Arial"/>
              </a:defRPr>
            </a:pPr>
            <a:r>
              <a:rPr sz="1350" b="1" i="0">
                <a:solidFill>
                  <a:srgbClr val="007C83"/>
                </a:solidFill>
                <a:latin typeface="Arial"/>
                <a:ea typeface="Arial"/>
                <a:cs typeface="Arial"/>
              </a:rPr>
              <a:t>REFERENCES AND S02 PREVIEW</a:t>
            </a:r>
          </a:p>
        </p:txBody>
      </p:sp>
      <p:sp>
        <p:nvSpPr>
          <p:cNvPr id="2" name="Rectangle 1">
            <a:extLst>
              <a:ext uri="{FF2B5EF4-FFF2-40B4-BE49-F238E27FC236}">
                <a16:creationId xmlns:a16="http://schemas.microsoft.com/office/drawing/2014/main" id="{00000012-0002-4000-8000-000000000000}"/>
              </a:ext>
            </a:extLst>
          </p:cNvPr>
          <p:cNvSpPr>
            <a:spLocks noGrp="1"/>
          </p:cNvSpPr>
          <p:nvPr/>
        </p:nvSpPr>
        <p:spPr>
          <a:xfrm>
            <a:off x="11096625" y="285750"/>
            <a:ext cx="628650" cy="323850"/>
          </a:xfrm>
          <a:prstGeom prst="rect">
            <a:avLst/>
          </a:prstGeom>
          <a:noFill/>
          <a:ln w="0">
            <a:noFill/>
            <a:prstDash val="solid"/>
          </a:ln>
        </p:spPr>
        <p:txBody>
          <a:bodyPr wrap="square" lIns="0" tIns="0" rIns="0" bIns="0" anchor="t">
            <a:normAutofit/>
          </a:bodyPr>
          <a:lstStyle/>
          <a:p>
            <a:pPr algn="r">
              <a:defRPr sz="1650" b="1" i="0">
                <a:solidFill>
                  <a:srgbClr val="7B8794"/>
                </a:solidFill>
                <a:latin typeface="Arial"/>
                <a:ea typeface="Arial"/>
                <a:cs typeface="Arial"/>
              </a:defRPr>
            </a:pPr>
            <a:r>
              <a:rPr sz="1650" b="1" i="0">
                <a:solidFill>
                  <a:srgbClr val="7B8794"/>
                </a:solidFill>
                <a:latin typeface="Arial"/>
                <a:ea typeface="Arial"/>
                <a:cs typeface="Arial"/>
              </a:rPr>
              <a:t>18</a:t>
            </a:r>
          </a:p>
        </p:txBody>
      </p:sp>
      <p:sp>
        <p:nvSpPr>
          <p:cNvPr id="3" name="Rectangle 2">
            <a:extLst>
              <a:ext uri="{FF2B5EF4-FFF2-40B4-BE49-F238E27FC236}">
                <a16:creationId xmlns:a16="http://schemas.microsoft.com/office/drawing/2014/main" id="{00000012-0003-4000-8000-000000000000}"/>
              </a:ext>
            </a:extLst>
          </p:cNvPr>
          <p:cNvSpPr>
            <a:spLocks noGrp="1"/>
          </p:cNvSpPr>
          <p:nvPr/>
        </p:nvSpPr>
        <p:spPr>
          <a:xfrm>
            <a:off x="457200" y="666750"/>
            <a:ext cx="11049000" cy="609600"/>
          </a:xfrm>
          <a:prstGeom prst="rect">
            <a:avLst/>
          </a:prstGeom>
          <a:noFill/>
          <a:ln w="0">
            <a:noFill/>
            <a:prstDash val="solid"/>
          </a:ln>
        </p:spPr>
        <p:txBody>
          <a:bodyPr wrap="square" lIns="0" tIns="0" rIns="0" bIns="0" anchor="t">
            <a:normAutofit/>
          </a:bodyPr>
          <a:lstStyle/>
          <a:p>
            <a:pPr algn="l">
              <a:defRPr sz="3600" b="1" i="0">
                <a:solidFill>
                  <a:srgbClr val="102A43"/>
                </a:solidFill>
                <a:latin typeface="Arial"/>
                <a:ea typeface="Arial"/>
                <a:cs typeface="Arial"/>
              </a:defRPr>
            </a:pPr>
            <a:r>
              <a:rPr sz="3600" b="1" i="0">
                <a:solidFill>
                  <a:srgbClr val="102A43"/>
                </a:solidFill>
                <a:latin typeface="Arial"/>
                <a:ea typeface="Arial"/>
                <a:cs typeface="Arial"/>
              </a:rPr>
              <a:t>Read, test, prepare</a:t>
            </a:r>
          </a:p>
        </p:txBody>
      </p:sp>
      <p:sp>
        <p:nvSpPr>
          <p:cNvPr id="4" name="Rectangle 3">
            <a:extLst>
              <a:ext uri="{FF2B5EF4-FFF2-40B4-BE49-F238E27FC236}">
                <a16:creationId xmlns:a16="http://schemas.microsoft.com/office/drawing/2014/main" id="{00000012-0004-4000-8000-000000000000}"/>
              </a:ext>
            </a:extLst>
          </p:cNvPr>
          <p:cNvSpPr>
            <a:spLocks noGrp="1"/>
          </p:cNvSpPr>
          <p:nvPr/>
        </p:nvSpPr>
        <p:spPr>
          <a:xfrm>
            <a:off x="457200" y="1381125"/>
            <a:ext cx="11277600" cy="28575"/>
          </a:xfrm>
          <a:prstGeom prst="rect">
            <a:avLst/>
          </a:prstGeom>
          <a:solidFill>
            <a:srgbClr val="007C83"/>
          </a:solidFill>
          <a:ln w="0">
            <a:noFill/>
            <a:prstDash val="solid"/>
          </a:ln>
        </p:spPr>
        <p:txBody>
          <a:bodyPr/>
          <a:lstStyle/>
          <a:p>
            <a:endParaRPr lang="en-US"/>
          </a:p>
        </p:txBody>
      </p:sp>
      <p:sp>
        <p:nvSpPr>
          <p:cNvPr id="5" name="Rectangle 4">
            <a:extLst>
              <a:ext uri="{FF2B5EF4-FFF2-40B4-BE49-F238E27FC236}">
                <a16:creationId xmlns:a16="http://schemas.microsoft.com/office/drawing/2014/main" id="{00000012-0005-4000-8000-000000000000}"/>
              </a:ext>
            </a:extLst>
          </p:cNvPr>
          <p:cNvSpPr>
            <a:spLocks noGrp="1"/>
          </p:cNvSpPr>
          <p:nvPr/>
        </p:nvSpPr>
        <p:spPr>
          <a:xfrm>
            <a:off x="685800" y="1733550"/>
            <a:ext cx="2286000" cy="323850"/>
          </a:xfrm>
          <a:prstGeom prst="rect">
            <a:avLst/>
          </a:prstGeom>
          <a:noFill/>
          <a:ln w="0">
            <a:noFill/>
            <a:prstDash val="solid"/>
          </a:ln>
        </p:spPr>
        <p:txBody>
          <a:bodyPr wrap="square" lIns="0" tIns="0" rIns="0" bIns="0" anchor="t">
            <a:normAutofit/>
          </a:bodyPr>
          <a:lstStyle/>
          <a:p>
            <a:pPr algn="l">
              <a:defRPr sz="1725" b="1" i="0">
                <a:solidFill>
                  <a:srgbClr val="007C83"/>
                </a:solidFill>
                <a:latin typeface="Arial"/>
                <a:ea typeface="Arial"/>
                <a:cs typeface="Arial"/>
              </a:defRPr>
            </a:pPr>
            <a:r>
              <a:rPr sz="1725" b="1" i="0">
                <a:solidFill>
                  <a:srgbClr val="007C83"/>
                </a:solidFill>
                <a:latin typeface="Arial"/>
                <a:ea typeface="Arial"/>
                <a:cs typeface="Arial"/>
              </a:rPr>
              <a:t>Géron (2022)</a:t>
            </a:r>
          </a:p>
        </p:txBody>
      </p:sp>
      <p:sp>
        <p:nvSpPr>
          <p:cNvPr id="6" name="Rectangle 5">
            <a:extLst>
              <a:ext uri="{FF2B5EF4-FFF2-40B4-BE49-F238E27FC236}">
                <a16:creationId xmlns:a16="http://schemas.microsoft.com/office/drawing/2014/main" id="{00000012-0006-4000-8000-000000000000}"/>
              </a:ext>
            </a:extLst>
          </p:cNvPr>
          <p:cNvSpPr>
            <a:spLocks noGrp="1"/>
          </p:cNvSpPr>
          <p:nvPr/>
        </p:nvSpPr>
        <p:spPr>
          <a:xfrm>
            <a:off x="3048000" y="1695450"/>
            <a:ext cx="8286750" cy="685800"/>
          </a:xfrm>
          <a:prstGeom prst="rect">
            <a:avLst/>
          </a:prstGeom>
          <a:noFill/>
          <a:ln w="0">
            <a:noFill/>
            <a:prstDash val="solid"/>
          </a:ln>
        </p:spPr>
        <p:txBody>
          <a:bodyPr wrap="square" lIns="0" tIns="0" rIns="0" bIns="0" anchor="t">
            <a:normAutofit/>
          </a:bodyPr>
          <a:lstStyle/>
          <a:p>
            <a:pPr algn="l">
              <a:defRPr sz="1575" b="0" i="0">
                <a:solidFill>
                  <a:srgbClr val="102A43"/>
                </a:solidFill>
                <a:latin typeface="Arial"/>
                <a:ea typeface="Arial"/>
                <a:cs typeface="Arial"/>
              </a:defRPr>
            </a:pPr>
            <a:r>
              <a:rPr sz="1575" b="0" i="0">
                <a:solidFill>
                  <a:srgbClr val="102A43"/>
                </a:solidFill>
                <a:latin typeface="Arial"/>
                <a:ea typeface="Arial"/>
                <a:cs typeface="Arial"/>
              </a:rPr>
              <a:t>Hands-On Machine Learning with Scikit-Learn, Keras, and TensorFlow, 3rd ed.</a:t>
            </a:r>
          </a:p>
          <a:p>
            <a:pPr algn="l">
              <a:defRPr sz="1575" b="0" i="0">
                <a:solidFill>
                  <a:srgbClr val="102A43"/>
                </a:solidFill>
                <a:latin typeface="Arial"/>
                <a:ea typeface="Arial"/>
                <a:cs typeface="Arial"/>
              </a:defRPr>
            </a:pPr>
            <a:r>
              <a:rPr sz="1575" b="0" i="0">
                <a:solidFill>
                  <a:srgbClr val="102A43"/>
                </a:solidFill>
                <a:latin typeface="Arial"/>
                <a:ea typeface="Arial"/>
                <a:cs typeface="Arial"/>
              </a:rPr>
              <a:t>oreilly.com/library/view/hands-on-machine-learning/9781098125967/</a:t>
            </a:r>
          </a:p>
        </p:txBody>
      </p:sp>
      <p:sp>
        <p:nvSpPr>
          <p:cNvPr id="7" name="Rectangle 6">
            <a:extLst>
              <a:ext uri="{FF2B5EF4-FFF2-40B4-BE49-F238E27FC236}">
                <a16:creationId xmlns:a16="http://schemas.microsoft.com/office/drawing/2014/main" id="{00000012-0007-4000-8000-000000000000}"/>
              </a:ext>
            </a:extLst>
          </p:cNvPr>
          <p:cNvSpPr>
            <a:spLocks noGrp="1"/>
          </p:cNvSpPr>
          <p:nvPr/>
        </p:nvSpPr>
        <p:spPr>
          <a:xfrm>
            <a:off x="685800" y="2647950"/>
            <a:ext cx="2286000" cy="647700"/>
          </a:xfrm>
          <a:prstGeom prst="rect">
            <a:avLst/>
          </a:prstGeom>
          <a:noFill/>
          <a:ln w="0">
            <a:noFill/>
            <a:prstDash val="solid"/>
          </a:ln>
        </p:spPr>
        <p:txBody>
          <a:bodyPr wrap="square" lIns="0" tIns="0" rIns="0" bIns="0" anchor="t">
            <a:normAutofit/>
          </a:bodyPr>
          <a:lstStyle/>
          <a:p>
            <a:pPr algn="l">
              <a:defRPr sz="1650" b="1" i="0">
                <a:solidFill>
                  <a:srgbClr val="007C83"/>
                </a:solidFill>
                <a:latin typeface="Arial"/>
                <a:ea typeface="Arial"/>
                <a:cs typeface="Arial"/>
              </a:defRPr>
            </a:pPr>
            <a:r>
              <a:rPr sz="1650" b="1" i="0">
                <a:solidFill>
                  <a:srgbClr val="007C83"/>
                </a:solidFill>
                <a:latin typeface="Arial"/>
                <a:ea typeface="Arial"/>
                <a:cs typeface="Arial"/>
              </a:rPr>
              <a:t>Goodfellow, Bengio &amp; Courville (2016)</a:t>
            </a:r>
          </a:p>
        </p:txBody>
      </p:sp>
      <p:sp>
        <p:nvSpPr>
          <p:cNvPr id="8" name="Rectangle 7">
            <a:extLst>
              <a:ext uri="{FF2B5EF4-FFF2-40B4-BE49-F238E27FC236}">
                <a16:creationId xmlns:a16="http://schemas.microsoft.com/office/drawing/2014/main" id="{00000012-0008-4000-8000-000000000000}"/>
              </a:ext>
            </a:extLst>
          </p:cNvPr>
          <p:cNvSpPr>
            <a:spLocks noGrp="1"/>
          </p:cNvSpPr>
          <p:nvPr/>
        </p:nvSpPr>
        <p:spPr>
          <a:xfrm>
            <a:off x="3048000" y="2647950"/>
            <a:ext cx="8286750" cy="590550"/>
          </a:xfrm>
          <a:prstGeom prst="rect">
            <a:avLst/>
          </a:prstGeom>
          <a:noFill/>
          <a:ln w="0">
            <a:noFill/>
            <a:prstDash val="solid"/>
          </a:ln>
        </p:spPr>
        <p:txBody>
          <a:bodyPr wrap="square" lIns="0" tIns="0" rIns="0" bIns="0" anchor="t">
            <a:normAutofit/>
          </a:bodyPr>
          <a:lstStyle/>
          <a:p>
            <a:pPr algn="l">
              <a:defRPr sz="1575" b="0" i="0">
                <a:solidFill>
                  <a:srgbClr val="102A43"/>
                </a:solidFill>
                <a:latin typeface="Arial"/>
                <a:ea typeface="Arial"/>
                <a:cs typeface="Arial"/>
              </a:defRPr>
            </a:pPr>
            <a:r>
              <a:rPr sz="1575" b="0" i="0">
                <a:solidFill>
                  <a:srgbClr val="102A43"/>
                </a:solidFill>
                <a:latin typeface="Arial"/>
                <a:ea typeface="Arial"/>
                <a:cs typeface="Arial"/>
              </a:rPr>
              <a:t>Deep Learning · §5 Machine Learning Basics</a:t>
            </a:r>
          </a:p>
          <a:p>
            <a:pPr algn="l">
              <a:defRPr sz="1575" b="0" i="0">
                <a:solidFill>
                  <a:srgbClr val="102A43"/>
                </a:solidFill>
                <a:latin typeface="Arial"/>
                <a:ea typeface="Arial"/>
                <a:cs typeface="Arial"/>
              </a:defRPr>
            </a:pPr>
            <a:r>
              <a:rPr sz="1575" b="0" i="0">
                <a:solidFill>
                  <a:srgbClr val="102A43"/>
                </a:solidFill>
                <a:latin typeface="Arial"/>
                <a:ea typeface="Arial"/>
                <a:cs typeface="Arial"/>
              </a:rPr>
              <a:t>deeplearningbook.org</a:t>
            </a:r>
          </a:p>
        </p:txBody>
      </p:sp>
      <p:sp>
        <p:nvSpPr>
          <p:cNvPr id="9" name="Rectangle 8">
            <a:extLst>
              <a:ext uri="{FF2B5EF4-FFF2-40B4-BE49-F238E27FC236}">
                <a16:creationId xmlns:a16="http://schemas.microsoft.com/office/drawing/2014/main" id="{00000012-0009-4000-8000-000000000000}"/>
              </a:ext>
            </a:extLst>
          </p:cNvPr>
          <p:cNvSpPr>
            <a:spLocks noGrp="1"/>
          </p:cNvSpPr>
          <p:nvPr/>
        </p:nvSpPr>
        <p:spPr>
          <a:xfrm>
            <a:off x="685800" y="3638550"/>
            <a:ext cx="2286000" cy="647700"/>
          </a:xfrm>
          <a:prstGeom prst="rect">
            <a:avLst/>
          </a:prstGeom>
          <a:noFill/>
          <a:ln w="0">
            <a:noFill/>
            <a:prstDash val="solid"/>
          </a:ln>
        </p:spPr>
        <p:txBody>
          <a:bodyPr wrap="square" lIns="0" tIns="0" rIns="0" bIns="0" anchor="t">
            <a:normAutofit/>
          </a:bodyPr>
          <a:lstStyle/>
          <a:p>
            <a:pPr algn="l">
              <a:defRPr sz="1650" b="1" i="0">
                <a:solidFill>
                  <a:srgbClr val="007C83"/>
                </a:solidFill>
                <a:latin typeface="Arial"/>
                <a:ea typeface="Arial"/>
                <a:cs typeface="Arial"/>
              </a:defRPr>
            </a:pPr>
            <a:r>
              <a:rPr sz="1650" b="1" i="0">
                <a:solidFill>
                  <a:srgbClr val="007C83"/>
                </a:solidFill>
                <a:latin typeface="Arial"/>
                <a:ea typeface="Arial"/>
                <a:cs typeface="Arial"/>
              </a:rPr>
              <a:t>Hastie, Tibshirani &amp; Friedman (2009)</a:t>
            </a:r>
          </a:p>
        </p:txBody>
      </p:sp>
      <p:sp>
        <p:nvSpPr>
          <p:cNvPr id="10" name="Rectangle 9">
            <a:extLst>
              <a:ext uri="{FF2B5EF4-FFF2-40B4-BE49-F238E27FC236}">
                <a16:creationId xmlns:a16="http://schemas.microsoft.com/office/drawing/2014/main" id="{00000012-000A-4000-8000-000000000000}"/>
              </a:ext>
            </a:extLst>
          </p:cNvPr>
          <p:cNvSpPr>
            <a:spLocks noGrp="1"/>
          </p:cNvSpPr>
          <p:nvPr/>
        </p:nvSpPr>
        <p:spPr>
          <a:xfrm>
            <a:off x="3048000" y="3638550"/>
            <a:ext cx="8286750" cy="590550"/>
          </a:xfrm>
          <a:prstGeom prst="rect">
            <a:avLst/>
          </a:prstGeom>
          <a:noFill/>
          <a:ln w="0">
            <a:noFill/>
            <a:prstDash val="solid"/>
          </a:ln>
        </p:spPr>
        <p:txBody>
          <a:bodyPr wrap="square" lIns="0" tIns="0" rIns="0" bIns="0" anchor="t">
            <a:normAutofit/>
          </a:bodyPr>
          <a:lstStyle/>
          <a:p>
            <a:pPr algn="l">
              <a:defRPr sz="1575" b="0" i="0">
                <a:solidFill>
                  <a:srgbClr val="102A43"/>
                </a:solidFill>
                <a:latin typeface="Arial"/>
                <a:ea typeface="Arial"/>
                <a:cs typeface="Arial"/>
              </a:defRPr>
            </a:pPr>
            <a:r>
              <a:rPr sz="1575" b="0" i="0">
                <a:solidFill>
                  <a:srgbClr val="102A43"/>
                </a:solidFill>
                <a:latin typeface="Arial"/>
                <a:ea typeface="Arial"/>
                <a:cs typeface="Arial"/>
              </a:rPr>
              <a:t>The Elements of Statistical Learning, 2nd ed.</a:t>
            </a:r>
          </a:p>
          <a:p>
            <a:pPr algn="l">
              <a:defRPr sz="1575" b="0" i="0">
                <a:solidFill>
                  <a:srgbClr val="102A43"/>
                </a:solidFill>
                <a:latin typeface="Arial"/>
                <a:ea typeface="Arial"/>
                <a:cs typeface="Arial"/>
              </a:defRPr>
            </a:pPr>
            <a:r>
              <a:rPr sz="1575" b="0" i="0">
                <a:solidFill>
                  <a:srgbClr val="102A43"/>
                </a:solidFill>
                <a:latin typeface="Arial"/>
                <a:ea typeface="Arial"/>
                <a:cs typeface="Arial"/>
              </a:rPr>
              <a:t>doi.org/10.1007/978-0-387-84858-7</a:t>
            </a:r>
          </a:p>
        </p:txBody>
      </p:sp>
      <p:sp>
        <p:nvSpPr>
          <p:cNvPr id="11" name="Rectangle 10">
            <a:extLst>
              <a:ext uri="{FF2B5EF4-FFF2-40B4-BE49-F238E27FC236}">
                <a16:creationId xmlns:a16="http://schemas.microsoft.com/office/drawing/2014/main" id="{00000012-000B-4000-8000-000000000000}"/>
              </a:ext>
            </a:extLst>
          </p:cNvPr>
          <p:cNvSpPr>
            <a:spLocks noGrp="1"/>
          </p:cNvSpPr>
          <p:nvPr/>
        </p:nvSpPr>
        <p:spPr>
          <a:xfrm>
            <a:off x="685800" y="4619625"/>
            <a:ext cx="10648950" cy="28575"/>
          </a:xfrm>
          <a:prstGeom prst="rect">
            <a:avLst/>
          </a:prstGeom>
          <a:solidFill>
            <a:srgbClr val="BCCCD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0000012-000C-4000-8000-000000000000}"/>
              </a:ext>
            </a:extLst>
          </p:cNvPr>
          <p:cNvSpPr>
            <a:spLocks noGrp="1"/>
          </p:cNvSpPr>
          <p:nvPr/>
        </p:nvSpPr>
        <p:spPr>
          <a:xfrm>
            <a:off x="685800" y="4953000"/>
            <a:ext cx="1143000" cy="438150"/>
          </a:xfrm>
          <a:prstGeom prst="rect">
            <a:avLst/>
          </a:prstGeom>
          <a:noFill/>
          <a:ln w="0">
            <a:noFill/>
            <a:prstDash val="solid"/>
          </a:ln>
        </p:spPr>
        <p:txBody>
          <a:bodyPr wrap="square" lIns="0" tIns="0" rIns="0" bIns="0" anchor="t">
            <a:normAutofit/>
          </a:bodyPr>
          <a:lstStyle/>
          <a:p>
            <a:pPr algn="l">
              <a:defRPr sz="2550" b="1" i="0">
                <a:solidFill>
                  <a:srgbClr val="C64B2D"/>
                </a:solidFill>
                <a:latin typeface="Arial"/>
                <a:ea typeface="Arial"/>
                <a:cs typeface="Arial"/>
              </a:defRPr>
            </a:pPr>
            <a:r>
              <a:rPr sz="2550" b="1" i="0">
                <a:solidFill>
                  <a:srgbClr val="C64B2D"/>
                </a:solidFill>
                <a:latin typeface="Arial"/>
                <a:ea typeface="Arial"/>
                <a:cs typeface="Arial"/>
              </a:rPr>
              <a:t>S02</a:t>
            </a:r>
          </a:p>
        </p:txBody>
      </p:sp>
      <p:sp>
        <p:nvSpPr>
          <p:cNvPr id="13" name="Rectangle 12">
            <a:extLst>
              <a:ext uri="{FF2B5EF4-FFF2-40B4-BE49-F238E27FC236}">
                <a16:creationId xmlns:a16="http://schemas.microsoft.com/office/drawing/2014/main" id="{00000012-000D-4000-8000-000000000000}"/>
              </a:ext>
            </a:extLst>
          </p:cNvPr>
          <p:cNvSpPr>
            <a:spLocks noGrp="1"/>
          </p:cNvSpPr>
          <p:nvPr/>
        </p:nvSpPr>
        <p:spPr>
          <a:xfrm>
            <a:off x="2000250" y="4914900"/>
            <a:ext cx="9334500" cy="495300"/>
          </a:xfrm>
          <a:prstGeom prst="rect">
            <a:avLst/>
          </a:prstGeom>
          <a:noFill/>
          <a:ln w="0">
            <a:noFill/>
            <a:prstDash val="solid"/>
          </a:ln>
        </p:spPr>
        <p:txBody>
          <a:bodyPr wrap="square" lIns="0" tIns="0" rIns="0" bIns="0" anchor="t">
            <a:normAutofit/>
          </a:bodyPr>
          <a:lstStyle/>
          <a:p>
            <a:pPr algn="l">
              <a:defRPr sz="2325" b="1" i="0">
                <a:solidFill>
                  <a:srgbClr val="102A43"/>
                </a:solidFill>
                <a:latin typeface="Arial"/>
                <a:ea typeface="Arial"/>
                <a:cs typeface="Arial"/>
              </a:defRPr>
            </a:pPr>
            <a:r>
              <a:rPr sz="2325" b="1" i="0">
                <a:solidFill>
                  <a:srgbClr val="102A43"/>
                </a:solidFill>
                <a:latin typeface="Arial"/>
                <a:ea typeface="Arial"/>
                <a:cs typeface="Arial"/>
              </a:rPr>
              <a:t>Cleaning, encoding and EDA with pandas / scikit-learn</a:t>
            </a:r>
          </a:p>
        </p:txBody>
      </p:sp>
      <p:sp>
        <p:nvSpPr>
          <p:cNvPr id="14" name="Rectangle 13">
            <a:extLst>
              <a:ext uri="{FF2B5EF4-FFF2-40B4-BE49-F238E27FC236}">
                <a16:creationId xmlns:a16="http://schemas.microsoft.com/office/drawing/2014/main" id="{00000012-000E-4000-8000-000000000000}"/>
              </a:ext>
            </a:extLst>
          </p:cNvPr>
          <p:cNvSpPr>
            <a:spLocks noGrp="1"/>
          </p:cNvSpPr>
          <p:nvPr/>
        </p:nvSpPr>
        <p:spPr>
          <a:xfrm>
            <a:off x="2000250" y="5572125"/>
            <a:ext cx="8382000" cy="342900"/>
          </a:xfrm>
          <a:prstGeom prst="rect">
            <a:avLst/>
          </a:prstGeom>
          <a:noFill/>
          <a:ln w="0">
            <a:noFill/>
            <a:prstDash val="solid"/>
          </a:ln>
        </p:spPr>
        <p:txBody>
          <a:bodyPr wrap="square" lIns="0" tIns="0" rIns="0" bIns="0" anchor="t">
            <a:normAutofit/>
          </a:bodyPr>
          <a:lstStyle/>
          <a:p>
            <a:pPr algn="l">
              <a:defRPr sz="1875" b="0" i="1">
                <a:solidFill>
                  <a:srgbClr val="52606D"/>
                </a:solidFill>
                <a:latin typeface="Arial"/>
                <a:ea typeface="Arial"/>
                <a:cs typeface="Arial"/>
              </a:defRPr>
            </a:pPr>
            <a:r>
              <a:rPr sz="1875" b="0" i="1">
                <a:solidFill>
                  <a:srgbClr val="52606D"/>
                </a:solidFill>
                <a:latin typeface="Arial"/>
                <a:ea typeface="Arial"/>
                <a:cs typeface="Arial"/>
              </a:rPr>
              <a:t>Exit: choose a paradigm—and state one caveat.</a:t>
            </a:r>
          </a:p>
        </p:txBody>
      </p:sp>
      <p:sp>
        <p:nvSpPr>
          <p:cNvPr id="15" name="Rectangle 14">
            <a:extLst>
              <a:ext uri="{FF2B5EF4-FFF2-40B4-BE49-F238E27FC236}">
                <a16:creationId xmlns:a16="http://schemas.microsoft.com/office/drawing/2014/main" id="{00000012-000F-4000-8000-000000000000}"/>
              </a:ext>
            </a:extLst>
          </p:cNvPr>
          <p:cNvSpPr>
            <a:spLocks noGrp="1"/>
          </p:cNvSpPr>
          <p:nvPr/>
        </p:nvSpPr>
        <p:spPr>
          <a:xfrm>
            <a:off x="457200" y="6324600"/>
            <a:ext cx="11277600" cy="19050"/>
          </a:xfrm>
          <a:prstGeom prst="rect">
            <a:avLst/>
          </a:prstGeom>
          <a:solidFill>
            <a:srgbClr val="BCCCDC"/>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00000012-0011-4000-8000-000000000000}"/>
              </a:ext>
            </a:extLst>
          </p:cNvPr>
          <p:cNvSpPr>
            <a:spLocks noGrp="1"/>
          </p:cNvSpPr>
          <p:nvPr/>
        </p:nvSpPr>
        <p:spPr>
          <a:xfrm>
            <a:off x="10782300" y="6419850"/>
            <a:ext cx="952500" cy="228600"/>
          </a:xfrm>
          <a:prstGeom prst="rect">
            <a:avLst/>
          </a:prstGeom>
          <a:noFill/>
          <a:ln w="0">
            <a:noFill/>
            <a:prstDash val="solid"/>
          </a:ln>
        </p:spPr>
        <p:txBody>
          <a:bodyPr wrap="square" lIns="0" tIns="0" rIns="0" bIns="0" anchor="t">
            <a:normAutofit/>
          </a:bodyPr>
          <a:lstStyle/>
          <a:p>
            <a:pPr algn="r">
              <a:defRPr sz="1275" b="1" i="0">
                <a:solidFill>
                  <a:srgbClr val="7B8794"/>
                </a:solidFill>
                <a:latin typeface="Arial"/>
                <a:ea typeface="Arial"/>
                <a:cs typeface="Arial"/>
              </a:defRPr>
            </a:pPr>
            <a:r>
              <a:rPr sz="1275" b="1" i="0">
                <a:solidFill>
                  <a:srgbClr val="7B8794"/>
                </a:solidFill>
                <a:latin typeface="Arial"/>
                <a:ea typeface="Arial"/>
                <a:cs typeface="Arial"/>
              </a:rPr>
              <a:t>SL18</a:t>
            </a:r>
          </a:p>
        </p:txBody>
      </p:sp>
    </p:spTree>
    <p:extLst>
      <p:ext uri="{BB962C8B-B14F-4D97-AF65-F5344CB8AC3E}">
        <p14:creationId xmlns:p14="http://schemas.microsoft.com/office/powerpoint/2010/main" val="18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979</TotalTime>
  <Words>6081</Words>
  <Application>Microsoft Office PowerPoint</Application>
  <PresentationFormat>Widescreen</PresentationFormat>
  <Paragraphs>407</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Yamil Emmanuel Fajouri</dc:creator>
  <cp:lastModifiedBy>Yamil Emmanuel Fajouri</cp:lastModifiedBy>
  <cp:revision>1</cp:revision>
  <dcterms:created xsi:type="dcterms:W3CDTF">2026-10-21T16:14:14Z</dcterms:created>
  <dcterms:modified xsi:type="dcterms:W3CDTF">2026-10-22T08:46:37Z</dcterms:modified>
</cp:coreProperties>
</file>